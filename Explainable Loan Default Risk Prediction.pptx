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6858000" cy="9144000"/>
  <p:embeddedFontLst>
    <p:embeddedFont>
      <p:font typeface="Poppins" panose="00000500000000000000" pitchFamily="2" charset="0"/>
      <p:regular r:id="rId25"/>
    </p:embeddedFont>
    <p:embeddedFont>
      <p:font typeface="Poppins Bold" panose="020B0604020202020204" charset="0"/>
      <p:regular r:id="rId26"/>
    </p:embeddedFont>
    <p:embeddedFont>
      <p:font typeface="Poppins Italics" panose="020B0604020202020204" charset="0"/>
      <p:regular r:id="rId27"/>
    </p:embeddedFont>
    <p:embeddedFont>
      <p:font typeface="Poppins Semi-Bold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38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76500" y="1809750"/>
            <a:ext cx="13335000" cy="1574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60"/>
              </a:lnSpc>
              <a:spcBef>
                <a:spcPct val="0"/>
              </a:spcBef>
            </a:pPr>
            <a:r>
              <a:rPr lang="en-US" sz="4400" b="1" u="none" strike="noStrike">
                <a:solidFill>
                  <a:srgbClr val="C9902A"/>
                </a:solidFill>
                <a:latin typeface="Poppins Bold"/>
                <a:ea typeface="Poppins Bold"/>
                <a:cs typeface="Poppins Bold"/>
                <a:sym typeface="Poppins Bold"/>
              </a:rPr>
              <a:t>Explainable Loan Default Risk Prediction</a:t>
            </a:r>
          </a:p>
          <a:p>
            <a:pPr marL="0" lvl="0" indent="0" algn="ctr">
              <a:lnSpc>
                <a:spcPts val="6160"/>
              </a:lnSpc>
              <a:spcBef>
                <a:spcPct val="0"/>
              </a:spcBef>
            </a:pPr>
            <a:r>
              <a:rPr lang="en-US" sz="4400" b="1" u="none" strike="noStrike">
                <a:solidFill>
                  <a:srgbClr val="C9902A"/>
                </a:solidFill>
                <a:latin typeface="Poppins Bold"/>
                <a:ea typeface="Poppins Bold"/>
                <a:cs typeface="Poppins Bold"/>
                <a:sym typeface="Poppins Bold"/>
              </a:rPr>
              <a:t>Using Machine Learning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429000" y="3371850"/>
            <a:ext cx="11430000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Data Science Solution for Kenyan Digital Lending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34000" y="3990975"/>
            <a:ext cx="7620000" cy="305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 dirty="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Kimutai Kevine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429000" y="4953000"/>
            <a:ext cx="3429000" cy="1333500"/>
            <a:chOff x="0" y="0"/>
            <a:chExt cx="4572000" cy="1778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72000" cy="1778000"/>
            </a:xfrm>
            <a:custGeom>
              <a:avLst/>
              <a:gdLst/>
              <a:ahLst/>
              <a:cxnLst/>
              <a:rect l="l" t="t" r="r" b="b"/>
              <a:pathLst>
                <a:path w="4572000" h="1778000">
                  <a:moveTo>
                    <a:pt x="177800" y="0"/>
                  </a:moveTo>
                  <a:lnTo>
                    <a:pt x="4394200" y="0"/>
                  </a:lnTo>
                  <a:cubicBezTo>
                    <a:pt x="4492396" y="0"/>
                    <a:pt x="4572000" y="79604"/>
                    <a:pt x="4572000" y="177800"/>
                  </a:cubicBezTo>
                  <a:lnTo>
                    <a:pt x="4572000" y="1600200"/>
                  </a:lnTo>
                  <a:cubicBezTo>
                    <a:pt x="4572000" y="1698396"/>
                    <a:pt x="4492396" y="1778000"/>
                    <a:pt x="4394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0D7B6A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572000" cy="181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619500" y="5000625"/>
            <a:ext cx="3048000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  <a:spcBef>
                <a:spcPct val="0"/>
              </a:spcBef>
            </a:pPr>
            <a:r>
              <a:rPr lang="en-US" sz="360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307,511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19500" y="5743575"/>
            <a:ext cx="3048000" cy="25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FFFFFF">
                    <a:alpha val="8980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Loan Applicants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429500" y="4953000"/>
            <a:ext cx="3429000" cy="1333500"/>
            <a:chOff x="0" y="0"/>
            <a:chExt cx="4572000" cy="1778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572000" cy="1778000"/>
            </a:xfrm>
            <a:custGeom>
              <a:avLst/>
              <a:gdLst/>
              <a:ahLst/>
              <a:cxnLst/>
              <a:rect l="l" t="t" r="r" b="b"/>
              <a:pathLst>
                <a:path w="4572000" h="1778000">
                  <a:moveTo>
                    <a:pt x="177800" y="0"/>
                  </a:moveTo>
                  <a:lnTo>
                    <a:pt x="4394200" y="0"/>
                  </a:lnTo>
                  <a:cubicBezTo>
                    <a:pt x="4492396" y="0"/>
                    <a:pt x="4572000" y="79604"/>
                    <a:pt x="4572000" y="177800"/>
                  </a:cubicBezTo>
                  <a:lnTo>
                    <a:pt x="4572000" y="1600200"/>
                  </a:lnTo>
                  <a:cubicBezTo>
                    <a:pt x="4572000" y="1698396"/>
                    <a:pt x="4492396" y="1778000"/>
                    <a:pt x="4394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C0431A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572000" cy="181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620000" y="5000625"/>
            <a:ext cx="3048000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  <a:spcBef>
                <a:spcPct val="0"/>
              </a:spcBef>
            </a:pPr>
            <a:r>
              <a:rPr lang="en-US" sz="360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8%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20000" y="5743575"/>
            <a:ext cx="3048000" cy="25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FFFFFF">
                    <a:alpha val="8980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Default Rate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430000" y="4953000"/>
            <a:ext cx="3429000" cy="1333500"/>
            <a:chOff x="0" y="0"/>
            <a:chExt cx="4572000" cy="1778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572000" cy="1778000"/>
            </a:xfrm>
            <a:custGeom>
              <a:avLst/>
              <a:gdLst/>
              <a:ahLst/>
              <a:cxnLst/>
              <a:rect l="l" t="t" r="r" b="b"/>
              <a:pathLst>
                <a:path w="4572000" h="1778000">
                  <a:moveTo>
                    <a:pt x="177800" y="0"/>
                  </a:moveTo>
                  <a:lnTo>
                    <a:pt x="4394200" y="0"/>
                  </a:lnTo>
                  <a:cubicBezTo>
                    <a:pt x="4492396" y="0"/>
                    <a:pt x="4572000" y="79604"/>
                    <a:pt x="4572000" y="177800"/>
                  </a:cubicBezTo>
                  <a:lnTo>
                    <a:pt x="4572000" y="1600200"/>
                  </a:lnTo>
                  <a:cubicBezTo>
                    <a:pt x="4572000" y="1698396"/>
                    <a:pt x="4492396" y="1778000"/>
                    <a:pt x="4394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0D7B6A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572000" cy="181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620500" y="5000625"/>
            <a:ext cx="3048000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  <a:spcBef>
                <a:spcPct val="0"/>
              </a:spcBef>
            </a:pPr>
            <a:r>
              <a:rPr lang="en-US" sz="360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0.7609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620500" y="5743575"/>
            <a:ext cx="3048000" cy="25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FFFFFF">
                    <a:alpha val="8980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Champion ROC-AUC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29000" y="6943725"/>
            <a:ext cx="114300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i="1" u="none" strike="noStrike">
                <a:solidFill>
                  <a:srgbClr val="FFFFFF">
                    <a:alpha val="80000"/>
                  </a:srgbClr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"Every loan approval is a financial decision. This model makes it data-driven."</a:t>
            </a:r>
          </a:p>
        </p:txBody>
      </p:sp>
      <p:sp>
        <p:nvSpPr>
          <p:cNvPr id="21" name="AutoShape 21"/>
          <p:cNvSpPr/>
          <p:nvPr/>
        </p:nvSpPr>
        <p:spPr>
          <a:xfrm>
            <a:off x="7239000" y="1524000"/>
            <a:ext cx="3810000" cy="0"/>
          </a:xfrm>
          <a:prstGeom prst="line">
            <a:avLst/>
          </a:prstGeom>
          <a:ln w="19050" cap="flat">
            <a:solidFill>
              <a:srgbClr val="C9902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81500" y="714375"/>
            <a:ext cx="952500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FFFFFF">
                    <a:alpha val="6980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BUSINESS PROBLEM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476500" y="942975"/>
            <a:ext cx="13335000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  <a:spcBef>
                <a:spcPct val="0"/>
              </a:spcBef>
            </a:pPr>
            <a:r>
              <a:rPr lang="en-US" sz="3600" b="1" u="none" strike="noStrike">
                <a:solidFill>
                  <a:srgbClr val="C9902A"/>
                </a:solidFill>
                <a:latin typeface="Poppins Bold"/>
                <a:ea typeface="Poppins Bold"/>
                <a:cs typeface="Poppins Bold"/>
                <a:sym typeface="Poppins Bold"/>
              </a:rPr>
              <a:t>The Problem Kenyan Lenders Face Every Day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809750"/>
            <a:ext cx="7143750" cy="6477000"/>
            <a:chOff x="0" y="0"/>
            <a:chExt cx="9525000" cy="863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525000" cy="8636000"/>
            </a:xfrm>
            <a:custGeom>
              <a:avLst/>
              <a:gdLst/>
              <a:ahLst/>
              <a:cxnLst/>
              <a:rect l="l" t="t" r="r" b="b"/>
              <a:pathLst>
                <a:path w="9525000" h="8636000">
                  <a:moveTo>
                    <a:pt x="406400" y="0"/>
                  </a:moveTo>
                  <a:lnTo>
                    <a:pt x="9118600" y="0"/>
                  </a:lnTo>
                  <a:cubicBezTo>
                    <a:pt x="9343048" y="0"/>
                    <a:pt x="9525000" y="386647"/>
                    <a:pt x="9525000" y="863600"/>
                  </a:cubicBezTo>
                  <a:lnTo>
                    <a:pt x="9525000" y="7772400"/>
                  </a:lnTo>
                  <a:cubicBezTo>
                    <a:pt x="9525000" y="8249354"/>
                    <a:pt x="9343048" y="8636000"/>
                    <a:pt x="9118600" y="8636000"/>
                  </a:cubicBezTo>
                  <a:lnTo>
                    <a:pt x="406400" y="8636000"/>
                  </a:lnTo>
                  <a:cubicBezTo>
                    <a:pt x="181951" y="8636000"/>
                    <a:pt x="0" y="8249354"/>
                    <a:pt x="0" y="7772400"/>
                  </a:cubicBezTo>
                  <a:lnTo>
                    <a:pt x="0" y="863600"/>
                  </a:lnTo>
                  <a:cubicBezTo>
                    <a:pt x="0" y="386647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1B3A6B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525000" cy="867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295400" y="1990725"/>
            <a:ext cx="638175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>
                <a:solidFill>
                  <a:srgbClr val="C9902A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Challenges Without a Model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5400" y="2381250"/>
            <a:ext cx="6381750" cy="4519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8"/>
              </a:lnSpc>
              <a:spcBef>
                <a:spcPct val="0"/>
              </a:spcBef>
            </a:pPr>
            <a:r>
              <a:rPr lang="en-US" sz="2915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Approve too many risky borrowers</a:t>
            </a:r>
          </a:p>
          <a:p>
            <a:pPr marL="0" lvl="0" indent="0" algn="l">
              <a:lnSpc>
                <a:spcPts val="7288"/>
              </a:lnSpc>
              <a:spcBef>
                <a:spcPct val="0"/>
              </a:spcBef>
            </a:pPr>
            <a:r>
              <a:rPr lang="en-US" sz="2915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Reject good borrowers unfairly</a:t>
            </a:r>
          </a:p>
          <a:p>
            <a:pPr marL="0" lvl="0" indent="0" algn="l">
              <a:lnSpc>
                <a:spcPts val="7288"/>
              </a:lnSpc>
              <a:spcBef>
                <a:spcPct val="0"/>
              </a:spcBef>
            </a:pPr>
            <a:r>
              <a:rPr lang="en-US" sz="2915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Inconsistent credit decisions</a:t>
            </a:r>
          </a:p>
          <a:p>
            <a:pPr marL="0" lvl="0" indent="0" algn="l">
              <a:lnSpc>
                <a:spcPts val="7288"/>
              </a:lnSpc>
              <a:spcBef>
                <a:spcPct val="0"/>
              </a:spcBef>
            </a:pPr>
            <a:r>
              <a:rPr lang="en-US" sz="2915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Dependence on officer judgment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439150" y="1809750"/>
            <a:ext cx="8934450" cy="6477000"/>
            <a:chOff x="0" y="0"/>
            <a:chExt cx="11912600" cy="8636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912600" cy="8636000"/>
            </a:xfrm>
            <a:custGeom>
              <a:avLst/>
              <a:gdLst/>
              <a:ahLst/>
              <a:cxnLst/>
              <a:rect l="l" t="t" r="r" b="b"/>
              <a:pathLst>
                <a:path w="11912600" h="8636000">
                  <a:moveTo>
                    <a:pt x="406400" y="0"/>
                  </a:moveTo>
                  <a:lnTo>
                    <a:pt x="11506200" y="0"/>
                  </a:lnTo>
                  <a:cubicBezTo>
                    <a:pt x="11730648" y="0"/>
                    <a:pt x="11912600" y="386647"/>
                    <a:pt x="11912600" y="863600"/>
                  </a:cubicBezTo>
                  <a:lnTo>
                    <a:pt x="11912600" y="7772400"/>
                  </a:lnTo>
                  <a:cubicBezTo>
                    <a:pt x="11912600" y="8249354"/>
                    <a:pt x="11730648" y="8636000"/>
                    <a:pt x="11506200" y="8636000"/>
                  </a:cubicBezTo>
                  <a:lnTo>
                    <a:pt x="406400" y="8636000"/>
                  </a:lnTo>
                  <a:cubicBezTo>
                    <a:pt x="181951" y="8636000"/>
                    <a:pt x="0" y="8249354"/>
                    <a:pt x="0" y="7772400"/>
                  </a:cubicBezTo>
                  <a:lnTo>
                    <a:pt x="0" y="863600"/>
                  </a:lnTo>
                  <a:cubicBezTo>
                    <a:pt x="0" y="386647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1B3A6B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912600" cy="867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8820150" y="1990725"/>
            <a:ext cx="817245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>
                <a:solidFill>
                  <a:srgbClr val="C9902A"/>
                </a:solidFill>
                <a:latin typeface="Poppins Bold"/>
                <a:ea typeface="Poppins Bold"/>
                <a:cs typeface="Poppins Bold"/>
                <a:sym typeface="Poppins Bold"/>
              </a:rPr>
              <a:t>Without Model  vs  With This Model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20150" y="2447925"/>
            <a:ext cx="8172450" cy="4396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12"/>
              </a:lnSpc>
              <a:spcBef>
                <a:spcPct val="0"/>
              </a:spcBef>
            </a:pPr>
            <a:r>
              <a:rPr lang="en-US" sz="2463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Manual subjective checks  →  Data-driven scoring</a:t>
            </a:r>
          </a:p>
          <a:p>
            <a:pPr marL="0" lvl="0" indent="0" algn="l">
              <a:lnSpc>
                <a:spcPts val="5912"/>
              </a:lnSpc>
              <a:spcBef>
                <a:spcPct val="0"/>
              </a:spcBef>
            </a:pPr>
            <a:r>
              <a:rPr lang="en-US" sz="2463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Inconsistent decisions  →  Consistent thresholds</a:t>
            </a:r>
          </a:p>
          <a:p>
            <a:pPr marL="0" lvl="0" indent="0" algn="l">
              <a:lnSpc>
                <a:spcPts val="5912"/>
              </a:lnSpc>
              <a:spcBef>
                <a:spcPct val="0"/>
              </a:spcBef>
            </a:pPr>
            <a:r>
              <a:rPr lang="en-US" sz="2463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High missed default rate  →  76.5% defaulters caught</a:t>
            </a:r>
          </a:p>
          <a:p>
            <a:pPr marL="0" lvl="0" indent="0" algn="l">
              <a:lnSpc>
                <a:spcPts val="5912"/>
              </a:lnSpc>
              <a:spcBef>
                <a:spcPct val="0"/>
              </a:spcBef>
            </a:pPr>
            <a:r>
              <a:rPr lang="en-US" sz="2463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Slow approval process  →  Automated risk flagging</a:t>
            </a:r>
          </a:p>
          <a:p>
            <a:pPr marL="0" lvl="0" indent="0" algn="l">
              <a:lnSpc>
                <a:spcPts val="5912"/>
              </a:lnSpc>
              <a:spcBef>
                <a:spcPct val="0"/>
              </a:spcBef>
            </a:pPr>
            <a:r>
              <a:rPr lang="en-US" sz="2463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No explainability  →  SHAP explanations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34000" y="9477375"/>
            <a:ext cx="762000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FFFFFF">
                    <a:alpha val="6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Stakeholder: Credit Risk Manager, M-KOPA Kenya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81500" y="714375"/>
            <a:ext cx="952500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FFFFFF">
                    <a:alpha val="6980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DATA SOURCES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476500" y="942975"/>
            <a:ext cx="13335000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  <a:spcBef>
                <a:spcPct val="0"/>
              </a:spcBef>
            </a:pPr>
            <a:r>
              <a:rPr lang="en-US" sz="3600" b="1" u="none" strike="noStrike">
                <a:solidFill>
                  <a:srgbClr val="C9902A"/>
                </a:solidFill>
                <a:latin typeface="Poppins Bold"/>
                <a:ea typeface="Poppins Bold"/>
                <a:cs typeface="Poppins Bold"/>
                <a:sym typeface="Poppins Bold"/>
              </a:rPr>
              <a:t>Building a Complete Picture of Every Borrower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790700"/>
            <a:ext cx="16459200" cy="4000500"/>
            <a:chOff x="0" y="0"/>
            <a:chExt cx="21945600" cy="533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5334000"/>
            </a:xfrm>
            <a:custGeom>
              <a:avLst/>
              <a:gdLst/>
              <a:ahLst/>
              <a:cxnLst/>
              <a:rect l="l" t="t" r="r" b="b"/>
              <a:pathLst>
                <a:path w="21945600" h="5334000">
                  <a:moveTo>
                    <a:pt x="431800" y="0"/>
                  </a:moveTo>
                  <a:lnTo>
                    <a:pt x="21513800" y="0"/>
                  </a:lnTo>
                  <a:cubicBezTo>
                    <a:pt x="21752277" y="0"/>
                    <a:pt x="21945600" y="238811"/>
                    <a:pt x="21945600" y="533400"/>
                  </a:cubicBezTo>
                  <a:lnTo>
                    <a:pt x="21945600" y="4800600"/>
                  </a:lnTo>
                  <a:cubicBezTo>
                    <a:pt x="21945600" y="5095189"/>
                    <a:pt x="21752277" y="5334000"/>
                    <a:pt x="21513800" y="5334000"/>
                  </a:cubicBezTo>
                  <a:lnTo>
                    <a:pt x="431800" y="5334000"/>
                  </a:lnTo>
                  <a:cubicBezTo>
                    <a:pt x="193323" y="5334000"/>
                    <a:pt x="0" y="5095189"/>
                    <a:pt x="0" y="4800600"/>
                  </a:cubicBezTo>
                  <a:lnTo>
                    <a:pt x="0" y="533400"/>
                  </a:lnTo>
                  <a:cubicBezTo>
                    <a:pt x="0" y="238811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1B3A6B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537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295400" y="1990725"/>
            <a:ext cx="15697200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 dirty="0">
                <a:solidFill>
                  <a:srgbClr val="C9902A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                                  	 Rows             	 Cols   		  Purpose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5400" y="2450465"/>
            <a:ext cx="15697200" cy="2501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60"/>
              </a:lnSpc>
              <a:spcBef>
                <a:spcPct val="0"/>
              </a:spcBef>
            </a:pPr>
            <a:r>
              <a:rPr lang="en-US" sz="1800" u="none" strike="noStrik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application_train.csv          	307,511         	 122       		Applicant demographics and finances</a:t>
            </a:r>
          </a:p>
          <a:p>
            <a:pPr marL="0" lvl="0" indent="0" algn="l">
              <a:lnSpc>
                <a:spcPts val="3960"/>
              </a:lnSpc>
              <a:spcBef>
                <a:spcPct val="0"/>
              </a:spcBef>
            </a:pPr>
            <a:r>
              <a:rPr lang="en-US" sz="1800" u="none" strike="noStrik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bureau.csv                          	1,716,428      	 17        		External banking history</a:t>
            </a:r>
          </a:p>
          <a:p>
            <a:pPr marL="0" lvl="0" indent="0" algn="l">
              <a:lnSpc>
                <a:spcPts val="3960"/>
              </a:lnSpc>
              <a:spcBef>
                <a:spcPct val="0"/>
              </a:spcBef>
            </a:pPr>
            <a:r>
              <a:rPr lang="en-US" sz="1800" u="none" strike="noStrik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previous_application.csv      	1,670,214       	37        		Previous applications</a:t>
            </a:r>
          </a:p>
          <a:p>
            <a:pPr marL="0" lvl="0" indent="0" algn="l">
              <a:lnSpc>
                <a:spcPts val="3960"/>
              </a:lnSpc>
              <a:spcBef>
                <a:spcPct val="0"/>
              </a:spcBef>
            </a:pPr>
            <a:r>
              <a:rPr lang="en-US" sz="1800" u="none" strike="noStrik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installments_payments.csv   	13,605,401     	8          		Payment behavior</a:t>
            </a:r>
          </a:p>
          <a:p>
            <a:pPr marL="0" lvl="0" indent="0" algn="l">
              <a:lnSpc>
                <a:spcPts val="3960"/>
              </a:lnSpc>
              <a:spcBef>
                <a:spcPct val="0"/>
              </a:spcBef>
            </a:pPr>
            <a:r>
              <a:rPr lang="en-US" sz="1800" u="none" strike="noStrik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credit_card_balance.csv         	3,840,312       	23        		Credit card history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14400" y="6096000"/>
            <a:ext cx="16459200" cy="2286000"/>
            <a:chOff x="0" y="0"/>
            <a:chExt cx="21945600" cy="3048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0" cy="3048000"/>
            </a:xfrm>
            <a:custGeom>
              <a:avLst/>
              <a:gdLst/>
              <a:ahLst/>
              <a:cxnLst/>
              <a:rect l="l" t="t" r="r" b="b"/>
              <a:pathLst>
                <a:path w="21945600" h="3048000">
                  <a:moveTo>
                    <a:pt x="254000" y="0"/>
                  </a:moveTo>
                  <a:lnTo>
                    <a:pt x="21691600" y="0"/>
                  </a:lnTo>
                  <a:cubicBezTo>
                    <a:pt x="21831880" y="0"/>
                    <a:pt x="21945600" y="136464"/>
                    <a:pt x="21945600" y="304800"/>
                  </a:cubicBezTo>
                  <a:lnTo>
                    <a:pt x="21945600" y="2743200"/>
                  </a:lnTo>
                  <a:cubicBezTo>
                    <a:pt x="21945600" y="2911536"/>
                    <a:pt x="21831880" y="3048000"/>
                    <a:pt x="21691600" y="3048000"/>
                  </a:cubicBezTo>
                  <a:lnTo>
                    <a:pt x="254000" y="3048000"/>
                  </a:lnTo>
                  <a:cubicBezTo>
                    <a:pt x="113720" y="3048000"/>
                    <a:pt x="0" y="2911536"/>
                    <a:pt x="0" y="2743200"/>
                  </a:cubicBezTo>
                  <a:lnTo>
                    <a:pt x="0" y="304800"/>
                  </a:lnTo>
                  <a:cubicBezTo>
                    <a:pt x="0" y="136464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1B3A6B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1945600" cy="308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286500" y="6172200"/>
            <a:ext cx="5715000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  <a:spcBef>
                <a:spcPct val="0"/>
              </a:spcBef>
            </a:pPr>
            <a:r>
              <a:rPr lang="en-US" sz="2199" b="1" u="none" strike="noStrike">
                <a:solidFill>
                  <a:srgbClr val="C9902A"/>
                </a:solidFill>
                <a:latin typeface="Poppins Bold"/>
                <a:ea typeface="Poppins Bold"/>
                <a:cs typeface="Poppins Bold"/>
                <a:sym typeface="Poppins Bold"/>
              </a:rPr>
              <a:t>Data Merge Flow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29000" y="6677025"/>
            <a:ext cx="114300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bureau + previous_application + installments_payments + credit_card_balance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86500" y="7419975"/>
            <a:ext cx="5715000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application_train.csv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762750" y="8667750"/>
            <a:ext cx="4762500" cy="952500"/>
            <a:chOff x="0" y="0"/>
            <a:chExt cx="6350000" cy="127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1270000"/>
            </a:xfrm>
            <a:custGeom>
              <a:avLst/>
              <a:gdLst/>
              <a:ahLst/>
              <a:cxnLst/>
              <a:rect l="l" t="t" r="r" b="b"/>
              <a:pathLst>
                <a:path w="6350000" h="1270000">
                  <a:moveTo>
                    <a:pt x="101600" y="0"/>
                  </a:moveTo>
                  <a:lnTo>
                    <a:pt x="6248400" y="0"/>
                  </a:lnTo>
                  <a:cubicBezTo>
                    <a:pt x="6304512" y="0"/>
                    <a:pt x="6350000" y="56860"/>
                    <a:pt x="6350000" y="127000"/>
                  </a:cubicBezTo>
                  <a:lnTo>
                    <a:pt x="6350000" y="1143000"/>
                  </a:lnTo>
                  <a:cubicBezTo>
                    <a:pt x="6350000" y="1213140"/>
                    <a:pt x="6304512" y="1270000"/>
                    <a:pt x="6248400" y="1270000"/>
                  </a:cubicBezTo>
                  <a:lnTo>
                    <a:pt x="101600" y="1270000"/>
                  </a:lnTo>
                  <a:cubicBezTo>
                    <a:pt x="45488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0D7B6A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6350000" cy="130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953250" y="8696325"/>
            <a:ext cx="4381500" cy="826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97"/>
              </a:lnSpc>
              <a:spcBef>
                <a:spcPct val="0"/>
              </a:spcBef>
            </a:pPr>
            <a:r>
              <a:rPr lang="en-US" sz="2355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307,511 Applicants × 147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1238250"/>
            <a:ext cx="7035148" cy="800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381500" y="714375"/>
            <a:ext cx="9525000" cy="287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b="1" u="none" strike="noStrik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CLASS IMBALANCE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76500" y="942975"/>
            <a:ext cx="13335000" cy="652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  <a:spcBef>
                <a:spcPct val="0"/>
              </a:spcBef>
            </a:pPr>
            <a:r>
              <a:rPr lang="en-US" sz="3600" b="1" u="none" strike="noStrike">
                <a:solidFill>
                  <a:srgbClr val="C990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THE CORE CHALLENGE — A 92/8 CLASS SPLIT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144000" y="3048000"/>
            <a:ext cx="8191500" cy="2095500"/>
            <a:chOff x="0" y="0"/>
            <a:chExt cx="10922000" cy="2794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922000" cy="2794000"/>
            </a:xfrm>
            <a:custGeom>
              <a:avLst/>
              <a:gdLst/>
              <a:ahLst/>
              <a:cxnLst/>
              <a:rect l="l" t="t" r="r" b="b"/>
              <a:pathLst>
                <a:path w="10922000" h="2794000">
                  <a:moveTo>
                    <a:pt x="254000" y="0"/>
                  </a:moveTo>
                  <a:lnTo>
                    <a:pt x="10668000" y="0"/>
                  </a:lnTo>
                  <a:cubicBezTo>
                    <a:pt x="10808281" y="0"/>
                    <a:pt x="10922000" y="125092"/>
                    <a:pt x="10922000" y="279400"/>
                  </a:cubicBezTo>
                  <a:lnTo>
                    <a:pt x="10922000" y="2514600"/>
                  </a:lnTo>
                  <a:cubicBezTo>
                    <a:pt x="10922000" y="2668908"/>
                    <a:pt x="10808281" y="2794000"/>
                    <a:pt x="10668000" y="2794000"/>
                  </a:cubicBezTo>
                  <a:lnTo>
                    <a:pt x="254000" y="2794000"/>
                  </a:lnTo>
                  <a:cubicBezTo>
                    <a:pt x="113720" y="2794000"/>
                    <a:pt x="0" y="2668908"/>
                    <a:pt x="0" y="2514600"/>
                  </a:cubicBezTo>
                  <a:lnTo>
                    <a:pt x="0" y="279400"/>
                  </a:lnTo>
                  <a:cubicBezTo>
                    <a:pt x="0" y="125092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1B3A6B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922000" cy="283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0" y="5524500"/>
            <a:ext cx="8191500" cy="2476500"/>
            <a:chOff x="0" y="0"/>
            <a:chExt cx="10922000" cy="3302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922000" cy="3302000"/>
            </a:xfrm>
            <a:custGeom>
              <a:avLst/>
              <a:gdLst/>
              <a:ahLst/>
              <a:cxnLst/>
              <a:rect l="l" t="t" r="r" b="b"/>
              <a:pathLst>
                <a:path w="10922000" h="3302000">
                  <a:moveTo>
                    <a:pt x="127000" y="0"/>
                  </a:moveTo>
                  <a:lnTo>
                    <a:pt x="10795000" y="0"/>
                  </a:lnTo>
                  <a:cubicBezTo>
                    <a:pt x="10865140" y="0"/>
                    <a:pt x="10922000" y="147836"/>
                    <a:pt x="10922000" y="330200"/>
                  </a:cubicBezTo>
                  <a:lnTo>
                    <a:pt x="10922000" y="2971800"/>
                  </a:lnTo>
                  <a:cubicBezTo>
                    <a:pt x="10922000" y="3154164"/>
                    <a:pt x="10865140" y="3302000"/>
                    <a:pt x="10795000" y="3302000"/>
                  </a:cubicBezTo>
                  <a:lnTo>
                    <a:pt x="127000" y="3302000"/>
                  </a:lnTo>
                  <a:cubicBezTo>
                    <a:pt x="56860" y="3302000"/>
                    <a:pt x="0" y="3154164"/>
                    <a:pt x="0" y="2971800"/>
                  </a:cubicBezTo>
                  <a:lnTo>
                    <a:pt x="0" y="330200"/>
                  </a:lnTo>
                  <a:cubicBezTo>
                    <a:pt x="0" y="147836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0D7B6A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922000" cy="334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144000" y="1838325"/>
            <a:ext cx="8191500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u="none" strike="noStrike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92% repaid their loans. Only 8% defaulted. This extreme imbalance is the core modeling challenge.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25000" y="5657850"/>
            <a:ext cx="7429500" cy="388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 b="1" u="none" strike="noStrike">
                <a:solidFill>
                  <a:srgbClr val="C9902A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Solution: SMOTE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25000" y="6134100"/>
            <a:ext cx="7429500" cy="967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9"/>
              </a:lnSpc>
              <a:spcBef>
                <a:spcPct val="0"/>
              </a:spcBef>
            </a:pPr>
            <a:r>
              <a:rPr lang="en-US" sz="1799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Synthetic Minority Oversampling applied only to training data. Generates synthetic defaulter examples to balance classes, preventing the model from ignoring the minority class.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25000" y="3181350"/>
            <a:ext cx="7429500" cy="388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 b="1" u="none" strike="noStrike">
                <a:solidFill>
                  <a:srgbClr val="C9902A"/>
                </a:solidFill>
                <a:latin typeface="Poppins Bold"/>
                <a:ea typeface="Poppins Bold"/>
                <a:cs typeface="Poppins Bold"/>
                <a:sym typeface="Poppins Bold"/>
              </a:rPr>
              <a:t>Why This Is Dangerous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48800" y="3657600"/>
            <a:ext cx="7429500" cy="142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u="none" strike="noStrik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model predicting that everyone repays achieves 92% accuracy but catches zero defaulters. Accuracy is misleading when classes are imbalanced — we need Recall.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1" y="1805267"/>
            <a:ext cx="9829800" cy="8784666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381500" y="714375"/>
            <a:ext cx="9525000" cy="287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b="1" u="none" strike="noStrik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DATA QUALITY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76500" y="942975"/>
            <a:ext cx="13335000" cy="652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  <a:spcBef>
                <a:spcPct val="0"/>
              </a:spcBef>
            </a:pPr>
            <a:r>
              <a:rPr lang="en-US" sz="3600" b="1" u="none" strike="noStrike">
                <a:solidFill>
                  <a:srgbClr val="C990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HANDLING MISSING VALUES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1857375"/>
            <a:ext cx="8191500" cy="755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 spc="-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Missing bureau values often indicate no external credit history rather than data errors. Features exceeding 60% missing rate were dropped to preserve model integrity and avoid noise amplification.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10800" y="1981589"/>
            <a:ext cx="3810000" cy="762000"/>
            <a:chOff x="0" y="0"/>
            <a:chExt cx="5080000" cy="1016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80000" cy="1016000"/>
            </a:xfrm>
            <a:custGeom>
              <a:avLst/>
              <a:gdLst/>
              <a:ahLst/>
              <a:cxnLst/>
              <a:rect l="l" t="t" r="r" b="b"/>
              <a:pathLst>
                <a:path w="5080000" h="1016000">
                  <a:moveTo>
                    <a:pt x="101600" y="0"/>
                  </a:moveTo>
                  <a:lnTo>
                    <a:pt x="4978400" y="0"/>
                  </a:lnTo>
                  <a:cubicBezTo>
                    <a:pt x="5034512" y="0"/>
                    <a:pt x="5080000" y="45488"/>
                    <a:pt x="5080000" y="101600"/>
                  </a:cubicBezTo>
                  <a:lnTo>
                    <a:pt x="5080000" y="914400"/>
                  </a:lnTo>
                  <a:cubicBezTo>
                    <a:pt x="5080000" y="970512"/>
                    <a:pt x="5034512" y="1016000"/>
                    <a:pt x="4978400" y="1016000"/>
                  </a:cubicBezTo>
                  <a:lnTo>
                    <a:pt x="101600" y="1016000"/>
                  </a:lnTo>
                  <a:cubicBezTo>
                    <a:pt x="45488" y="1016000"/>
                    <a:pt x="0" y="970512"/>
                    <a:pt x="0" y="914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1B3A6B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080000" cy="10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125200" y="2181545"/>
            <a:ext cx="3810000" cy="291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b="1" u="none" strike="noStrike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122 Original Columns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448800" y="3593212"/>
            <a:ext cx="6705600" cy="3849408"/>
            <a:chOff x="0" y="-4116544"/>
            <a:chExt cx="8940800" cy="5132544"/>
          </a:xfrm>
        </p:grpSpPr>
        <p:sp>
          <p:nvSpPr>
            <p:cNvPr id="16" name="Freeform 16"/>
            <p:cNvSpPr/>
            <p:nvPr/>
          </p:nvSpPr>
          <p:spPr>
            <a:xfrm>
              <a:off x="3860800" y="-4116544"/>
              <a:ext cx="5080000" cy="1016000"/>
            </a:xfrm>
            <a:custGeom>
              <a:avLst/>
              <a:gdLst/>
              <a:ahLst/>
              <a:cxnLst/>
              <a:rect l="l" t="t" r="r" b="b"/>
              <a:pathLst>
                <a:path w="5080000" h="1016000">
                  <a:moveTo>
                    <a:pt x="101600" y="0"/>
                  </a:moveTo>
                  <a:lnTo>
                    <a:pt x="4978400" y="0"/>
                  </a:lnTo>
                  <a:cubicBezTo>
                    <a:pt x="5034512" y="0"/>
                    <a:pt x="5080000" y="45488"/>
                    <a:pt x="5080000" y="101600"/>
                  </a:cubicBezTo>
                  <a:lnTo>
                    <a:pt x="5080000" y="914400"/>
                  </a:lnTo>
                  <a:cubicBezTo>
                    <a:pt x="5080000" y="970512"/>
                    <a:pt x="5034512" y="1016000"/>
                    <a:pt x="4978400" y="1016000"/>
                  </a:cubicBezTo>
                  <a:lnTo>
                    <a:pt x="101600" y="1016000"/>
                  </a:lnTo>
                  <a:cubicBezTo>
                    <a:pt x="45488" y="1016000"/>
                    <a:pt x="0" y="970512"/>
                    <a:pt x="0" y="914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1B3A6B"/>
            </a:solidFill>
          </p:spPr>
          <p:txBody>
            <a:bodyPr/>
            <a:lstStyle/>
            <a:p>
              <a:endParaRPr lang="en-KE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080000" cy="10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2573000" y="3853744"/>
            <a:ext cx="3810000" cy="291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b="1" u="none" strike="noStrike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~67 After Dropping High Missing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4020800" y="5029791"/>
            <a:ext cx="3810000" cy="762000"/>
            <a:chOff x="0" y="0"/>
            <a:chExt cx="5080000" cy="1016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80000" cy="1016000"/>
            </a:xfrm>
            <a:custGeom>
              <a:avLst/>
              <a:gdLst/>
              <a:ahLst/>
              <a:cxnLst/>
              <a:rect l="l" t="t" r="r" b="b"/>
              <a:pathLst>
                <a:path w="5080000" h="1016000">
                  <a:moveTo>
                    <a:pt x="101600" y="0"/>
                  </a:moveTo>
                  <a:lnTo>
                    <a:pt x="4978400" y="0"/>
                  </a:lnTo>
                  <a:cubicBezTo>
                    <a:pt x="5034512" y="0"/>
                    <a:pt x="5080000" y="45488"/>
                    <a:pt x="5080000" y="101600"/>
                  </a:cubicBezTo>
                  <a:lnTo>
                    <a:pt x="5080000" y="914400"/>
                  </a:lnTo>
                  <a:cubicBezTo>
                    <a:pt x="5080000" y="970512"/>
                    <a:pt x="5034512" y="1016000"/>
                    <a:pt x="4978400" y="1016000"/>
                  </a:cubicBezTo>
                  <a:lnTo>
                    <a:pt x="101600" y="1016000"/>
                  </a:lnTo>
                  <a:cubicBezTo>
                    <a:pt x="45488" y="1016000"/>
                    <a:pt x="0" y="970512"/>
                    <a:pt x="0" y="914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1B3A6B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080000" cy="10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630400" y="5250885"/>
            <a:ext cx="3810000" cy="291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b="1" u="none" strike="noStrike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147 After Dataset Merging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81500" y="714375"/>
            <a:ext cx="952500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b="1" u="none" strike="noStrik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FEATURE DISTRIBUTIONS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476500" y="942975"/>
            <a:ext cx="13335000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  <a:spcBef>
                <a:spcPct val="0"/>
              </a:spcBef>
            </a:pPr>
            <a:r>
              <a:rPr lang="en-US" sz="3600" b="1" u="none" strike="noStrike">
                <a:solidFill>
                  <a:srgbClr val="C990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WHICH FEATURES SEPARATE DEFAULTERS FROM REPAYERS?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95400" y="1857375"/>
            <a:ext cx="15697200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 u="none" strike="noStrike" spc="-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3×3 grid of histograms compares the distribution of key features between repayers (teal #0D7B6A) and defaulters (red #C0431A). Features include: AMT_INCOME_TOTAL, AMT_CREDIT, AMT_ANNUITY, DAYS_BIRTH, EXT_SOURCE_1, EXT_SOURCE_2 (strongest predictor — highlighted with distinct border), EXT_SOURCE_3, DEBT_TO_INCOME, and ANNUITY_TO_INCOME.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95400" y="3190875"/>
            <a:ext cx="1569720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 u="none" strike="noStrike" spc="-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EXT_SOURCE_2 shows the clearest separation between classes, making it the single strongest predictor in the dataset. External credit scores, applicant age (DAYS_BIRTH), and debt-to-income ratios consistently differ between defaulters and repayers, providing strong discriminatory signal for the XGBoost model.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14400" y="4953000"/>
            <a:ext cx="8191500" cy="666750"/>
            <a:chOff x="0" y="0"/>
            <a:chExt cx="10922000" cy="889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22000" cy="889000"/>
            </a:xfrm>
            <a:custGeom>
              <a:avLst/>
              <a:gdLst/>
              <a:ahLst/>
              <a:cxnLst/>
              <a:rect l="l" t="t" r="r" b="b"/>
              <a:pathLst>
                <a:path w="10922000" h="889000">
                  <a:moveTo>
                    <a:pt x="88900" y="0"/>
                  </a:moveTo>
                  <a:lnTo>
                    <a:pt x="10833100" y="0"/>
                  </a:lnTo>
                  <a:cubicBezTo>
                    <a:pt x="10882198" y="0"/>
                    <a:pt x="10922000" y="39802"/>
                    <a:pt x="10922000" y="88900"/>
                  </a:cubicBezTo>
                  <a:lnTo>
                    <a:pt x="10922000" y="800100"/>
                  </a:lnTo>
                  <a:cubicBezTo>
                    <a:pt x="10922000" y="849198"/>
                    <a:pt x="10882198" y="889000"/>
                    <a:pt x="10833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1B3A6B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922000" cy="92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486900" y="4953000"/>
            <a:ext cx="8191500" cy="666750"/>
            <a:chOff x="0" y="0"/>
            <a:chExt cx="10922000" cy="889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22000" cy="889000"/>
            </a:xfrm>
            <a:custGeom>
              <a:avLst/>
              <a:gdLst/>
              <a:ahLst/>
              <a:cxnLst/>
              <a:rect l="l" t="t" r="r" b="b"/>
              <a:pathLst>
                <a:path w="10922000" h="889000">
                  <a:moveTo>
                    <a:pt x="88900" y="0"/>
                  </a:moveTo>
                  <a:lnTo>
                    <a:pt x="10833100" y="0"/>
                  </a:lnTo>
                  <a:cubicBezTo>
                    <a:pt x="10882198" y="0"/>
                    <a:pt x="10922000" y="39802"/>
                    <a:pt x="10922000" y="88900"/>
                  </a:cubicBezTo>
                  <a:lnTo>
                    <a:pt x="10922000" y="800100"/>
                  </a:lnTo>
                  <a:cubicBezTo>
                    <a:pt x="10922000" y="849198"/>
                    <a:pt x="10882198" y="889000"/>
                    <a:pt x="10833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1B3A6B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922000" cy="92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14400" y="5905500"/>
            <a:ext cx="8191500" cy="666750"/>
            <a:chOff x="0" y="0"/>
            <a:chExt cx="10922000" cy="889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22000" cy="889000"/>
            </a:xfrm>
            <a:custGeom>
              <a:avLst/>
              <a:gdLst/>
              <a:ahLst/>
              <a:cxnLst/>
              <a:rect l="l" t="t" r="r" b="b"/>
              <a:pathLst>
                <a:path w="10922000" h="889000">
                  <a:moveTo>
                    <a:pt x="88900" y="0"/>
                  </a:moveTo>
                  <a:lnTo>
                    <a:pt x="10833100" y="0"/>
                  </a:lnTo>
                  <a:cubicBezTo>
                    <a:pt x="10882198" y="0"/>
                    <a:pt x="10922000" y="39802"/>
                    <a:pt x="10922000" y="88900"/>
                  </a:cubicBezTo>
                  <a:lnTo>
                    <a:pt x="10922000" y="800100"/>
                  </a:lnTo>
                  <a:cubicBezTo>
                    <a:pt x="10922000" y="849198"/>
                    <a:pt x="10882198" y="889000"/>
                    <a:pt x="10833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1B3A6B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0922000" cy="92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6900" y="5905500"/>
            <a:ext cx="8191500" cy="666750"/>
            <a:chOff x="0" y="0"/>
            <a:chExt cx="10922000" cy="889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922000" cy="889000"/>
            </a:xfrm>
            <a:custGeom>
              <a:avLst/>
              <a:gdLst/>
              <a:ahLst/>
              <a:cxnLst/>
              <a:rect l="l" t="t" r="r" b="b"/>
              <a:pathLst>
                <a:path w="10922000" h="889000">
                  <a:moveTo>
                    <a:pt x="88900" y="0"/>
                  </a:moveTo>
                  <a:lnTo>
                    <a:pt x="10833100" y="0"/>
                  </a:lnTo>
                  <a:cubicBezTo>
                    <a:pt x="10882198" y="0"/>
                    <a:pt x="10922000" y="39802"/>
                    <a:pt x="10922000" y="88900"/>
                  </a:cubicBezTo>
                  <a:lnTo>
                    <a:pt x="10922000" y="800100"/>
                  </a:lnTo>
                  <a:cubicBezTo>
                    <a:pt x="10922000" y="849198"/>
                    <a:pt x="10882198" y="889000"/>
                    <a:pt x="10833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1B3A6B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0922000" cy="92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14400" y="4991100"/>
            <a:ext cx="81915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EXT_SOURCE_2 — Strongest Predictor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86900" y="4991100"/>
            <a:ext cx="81915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DAYS_BIRTH — Age Risk Signal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4400" y="5943600"/>
            <a:ext cx="81915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DEBT_TO_INCOME — Engineered Feature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86900" y="5943600"/>
            <a:ext cx="81915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AMT_CREDIT — Loan Size Indicator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833049"/>
            <a:ext cx="9829800" cy="8620903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9920305" y="1391650"/>
            <a:ext cx="6510658" cy="463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54"/>
              </a:lnSpc>
              <a:spcBef>
                <a:spcPct val="0"/>
              </a:spcBef>
            </a:pPr>
            <a:r>
              <a:rPr lang="en-US" sz="2610" b="1" u="none" strike="noStrik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DEFAULT RATE BY CATEGORY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920305" y="2165118"/>
            <a:ext cx="6510658" cy="463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54"/>
              </a:lnSpc>
              <a:spcBef>
                <a:spcPct val="0"/>
              </a:spcBef>
            </a:pPr>
            <a:r>
              <a:rPr lang="en-US" sz="2610" b="1" u="none" strike="noStrike">
                <a:solidFill>
                  <a:srgbClr val="C990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WHO DEFAULTS MORE?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920305" y="3523762"/>
            <a:ext cx="6510658" cy="62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u="none" strike="noStrike" spc="-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Categorical risk patterns across Gender, Education Type, Income Type, Housing Type, Contract Type, and Family Status. Gold line marks the 8.07% average default rate across all applicants.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90000" y="6026569"/>
            <a:ext cx="4057742" cy="411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0"/>
              </a:lnSpc>
              <a:spcBef>
                <a:spcPct val="0"/>
              </a:spcBef>
            </a:pPr>
            <a:r>
              <a:rPr lang="en-US" sz="120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Unemployed applicants default 2–3× the average rate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90000" y="7097334"/>
            <a:ext cx="4057742" cy="411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0"/>
              </a:lnSpc>
              <a:spcBef>
                <a:spcPct val="0"/>
              </a:spcBef>
            </a:pPr>
            <a:r>
              <a:rPr lang="en-US" sz="120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Lower education levels significantly increase default risk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90000" y="8168099"/>
            <a:ext cx="4057742" cy="204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0"/>
              </a:lnSpc>
              <a:spcBef>
                <a:spcPct val="0"/>
              </a:spcBef>
            </a:pPr>
            <a:r>
              <a:rPr lang="en-US" sz="120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Cash loans default more often than revolving credit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870586"/>
            <a:ext cx="9967909" cy="3272550"/>
            <a:chOff x="0" y="0"/>
            <a:chExt cx="2625293" cy="8619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25293" cy="861906"/>
            </a:xfrm>
            <a:custGeom>
              <a:avLst/>
              <a:gdLst/>
              <a:ahLst/>
              <a:cxnLst/>
              <a:rect l="l" t="t" r="r" b="b"/>
              <a:pathLst>
                <a:path w="2625293" h="861906">
                  <a:moveTo>
                    <a:pt x="24854" y="0"/>
                  </a:moveTo>
                  <a:lnTo>
                    <a:pt x="2600439" y="0"/>
                  </a:lnTo>
                  <a:cubicBezTo>
                    <a:pt x="2607031" y="0"/>
                    <a:pt x="2613352" y="2619"/>
                    <a:pt x="2618013" y="7280"/>
                  </a:cubicBezTo>
                  <a:cubicBezTo>
                    <a:pt x="2622674" y="11941"/>
                    <a:pt x="2625293" y="18262"/>
                    <a:pt x="2625293" y="24854"/>
                  </a:cubicBezTo>
                  <a:lnTo>
                    <a:pt x="2625293" y="837052"/>
                  </a:lnTo>
                  <a:cubicBezTo>
                    <a:pt x="2625293" y="843644"/>
                    <a:pt x="2622674" y="849966"/>
                    <a:pt x="2618013" y="854627"/>
                  </a:cubicBezTo>
                  <a:cubicBezTo>
                    <a:pt x="2613352" y="859288"/>
                    <a:pt x="2607031" y="861906"/>
                    <a:pt x="2600439" y="861906"/>
                  </a:cubicBezTo>
                  <a:lnTo>
                    <a:pt x="24854" y="861906"/>
                  </a:lnTo>
                  <a:cubicBezTo>
                    <a:pt x="18262" y="861906"/>
                    <a:pt x="11941" y="859288"/>
                    <a:pt x="7280" y="854627"/>
                  </a:cubicBezTo>
                  <a:cubicBezTo>
                    <a:pt x="2619" y="849966"/>
                    <a:pt x="0" y="843644"/>
                    <a:pt x="0" y="837052"/>
                  </a:cubicBezTo>
                  <a:lnTo>
                    <a:pt x="0" y="24854"/>
                  </a:lnTo>
                  <a:cubicBezTo>
                    <a:pt x="0" y="18262"/>
                    <a:pt x="2619" y="11941"/>
                    <a:pt x="7280" y="7280"/>
                  </a:cubicBezTo>
                  <a:cubicBezTo>
                    <a:pt x="11941" y="2619"/>
                    <a:pt x="18262" y="0"/>
                    <a:pt x="24854" y="0"/>
                  </a:cubicBezTo>
                  <a:close/>
                </a:path>
              </a:pathLst>
            </a:custGeom>
            <a:solidFill>
              <a:srgbClr val="1B3A6B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625293" cy="900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958" y="1244669"/>
            <a:ext cx="8429827" cy="7797662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805784" y="6372869"/>
            <a:ext cx="6145735" cy="892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66"/>
              </a:lnSpc>
              <a:spcBef>
                <a:spcPct val="0"/>
              </a:spcBef>
            </a:pPr>
            <a:r>
              <a:rPr lang="en-US" sz="169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Applicants aged 20–25 show the highest default rate — nearly 2× the 8% average. Risk declines steadily with age.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39769" y="6410915"/>
            <a:ext cx="1066015" cy="761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49"/>
              </a:lnSpc>
              <a:spcBef>
                <a:spcPct val="0"/>
              </a:spcBef>
            </a:pPr>
            <a:r>
              <a:rPr lang="en-US" sz="4249" b="1" u="none" strike="noStrike">
                <a:solidFill>
                  <a:srgbClr val="C9902A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39769" y="7717647"/>
            <a:ext cx="1066015" cy="761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49"/>
              </a:lnSpc>
              <a:spcBef>
                <a:spcPct val="0"/>
              </a:spcBef>
            </a:pPr>
            <a:r>
              <a:rPr lang="en-US" sz="4249" b="1" u="none" strike="noStrike">
                <a:solidFill>
                  <a:srgbClr val="C9902A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05784" y="7679601"/>
            <a:ext cx="7056617" cy="599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66"/>
              </a:lnSpc>
              <a:spcBef>
                <a:spcPct val="0"/>
              </a:spcBef>
            </a:pPr>
            <a:r>
              <a:rPr lang="en-US" sz="169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EXT_SOURCE_2 has the strongest negative correlation with default (−0.16), followed by EXT_SOURCE_3 and EXT_SOURCE_1.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81939"/>
            <a:ext cx="8619547" cy="986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88"/>
              </a:lnSpc>
              <a:spcBef>
                <a:spcPct val="0"/>
              </a:spcBef>
            </a:pPr>
            <a:r>
              <a:rPr lang="en-US" sz="5420" b="1" u="none" strike="noStrik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AGE AND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755407"/>
            <a:ext cx="7944470" cy="986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88"/>
              </a:lnSpc>
              <a:spcBef>
                <a:spcPct val="0"/>
              </a:spcBef>
            </a:pPr>
            <a:r>
              <a:rPr lang="en-US" sz="5420" b="1" u="none" strike="noStrike">
                <a:solidFill>
                  <a:srgbClr val="C990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CREDIT SCORE SIGNALS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3190251"/>
            <a:ext cx="7708665" cy="489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03"/>
              </a:lnSpc>
              <a:spcBef>
                <a:spcPct val="0"/>
              </a:spcBef>
            </a:pPr>
            <a:r>
              <a:rPr lang="en-US" sz="1359" u="none" strike="noStrike" spc="-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Applicants aged 20–25 default nearly twice the average rate. EXT_SOURCE_2 is the single strongest protective feature in the dataset, with higher scores strongly predicting repayment.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870586"/>
            <a:ext cx="9967909" cy="3272550"/>
            <a:chOff x="0" y="0"/>
            <a:chExt cx="2625293" cy="8619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25293" cy="861906"/>
            </a:xfrm>
            <a:custGeom>
              <a:avLst/>
              <a:gdLst/>
              <a:ahLst/>
              <a:cxnLst/>
              <a:rect l="l" t="t" r="r" b="b"/>
              <a:pathLst>
                <a:path w="2625293" h="861906">
                  <a:moveTo>
                    <a:pt x="24854" y="0"/>
                  </a:moveTo>
                  <a:lnTo>
                    <a:pt x="2600439" y="0"/>
                  </a:lnTo>
                  <a:cubicBezTo>
                    <a:pt x="2607031" y="0"/>
                    <a:pt x="2613352" y="2619"/>
                    <a:pt x="2618013" y="7280"/>
                  </a:cubicBezTo>
                  <a:cubicBezTo>
                    <a:pt x="2622674" y="11941"/>
                    <a:pt x="2625293" y="18262"/>
                    <a:pt x="2625293" y="24854"/>
                  </a:cubicBezTo>
                  <a:lnTo>
                    <a:pt x="2625293" y="837052"/>
                  </a:lnTo>
                  <a:cubicBezTo>
                    <a:pt x="2625293" y="843644"/>
                    <a:pt x="2622674" y="849966"/>
                    <a:pt x="2618013" y="854627"/>
                  </a:cubicBezTo>
                  <a:cubicBezTo>
                    <a:pt x="2613352" y="859288"/>
                    <a:pt x="2607031" y="861906"/>
                    <a:pt x="2600439" y="861906"/>
                  </a:cubicBezTo>
                  <a:lnTo>
                    <a:pt x="24854" y="861906"/>
                  </a:lnTo>
                  <a:cubicBezTo>
                    <a:pt x="18262" y="861906"/>
                    <a:pt x="11941" y="859288"/>
                    <a:pt x="7280" y="854627"/>
                  </a:cubicBezTo>
                  <a:cubicBezTo>
                    <a:pt x="2619" y="849966"/>
                    <a:pt x="0" y="843644"/>
                    <a:pt x="0" y="837052"/>
                  </a:cubicBezTo>
                  <a:lnTo>
                    <a:pt x="0" y="24854"/>
                  </a:lnTo>
                  <a:cubicBezTo>
                    <a:pt x="0" y="18262"/>
                    <a:pt x="2619" y="11941"/>
                    <a:pt x="7280" y="7280"/>
                  </a:cubicBezTo>
                  <a:cubicBezTo>
                    <a:pt x="11941" y="2619"/>
                    <a:pt x="18262" y="0"/>
                    <a:pt x="24854" y="0"/>
                  </a:cubicBezTo>
                  <a:close/>
                </a:path>
              </a:pathLst>
            </a:custGeom>
            <a:solidFill>
              <a:srgbClr val="1B3A6B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625293" cy="900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8501" y="928586"/>
            <a:ext cx="8296741" cy="8429827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805784" y="6372869"/>
            <a:ext cx="6145735" cy="892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66"/>
              </a:lnSpc>
              <a:spcBef>
                <a:spcPct val="0"/>
              </a:spcBef>
            </a:pPr>
            <a:r>
              <a:rPr lang="en-US" sz="169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DEBT_TO_INCOME | ANNUITY_TO_INCOME | CREDIT_TO_GOODS — Core ratio features capturing financial burden relative to income.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39769" y="6410915"/>
            <a:ext cx="1066015" cy="761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49"/>
              </a:lnSpc>
              <a:spcBef>
                <a:spcPct val="0"/>
              </a:spcBef>
            </a:pPr>
            <a:r>
              <a:rPr lang="en-US" sz="4249" b="1" u="none" strike="noStrike">
                <a:solidFill>
                  <a:srgbClr val="C9902A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39769" y="7717647"/>
            <a:ext cx="1066015" cy="761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49"/>
              </a:lnSpc>
              <a:spcBef>
                <a:spcPct val="0"/>
              </a:spcBef>
            </a:pPr>
            <a:r>
              <a:rPr lang="en-US" sz="4249" b="1" u="none" strike="noStrike">
                <a:solidFill>
                  <a:srgbClr val="C9902A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05784" y="7679601"/>
            <a:ext cx="7056617" cy="892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66"/>
              </a:lnSpc>
              <a:spcBef>
                <a:spcPct val="0"/>
              </a:spcBef>
            </a:pPr>
            <a:r>
              <a:rPr lang="en-US" sz="169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PAYMENT_RATE | INCOME_PER_PERSON | INST_PCT_LATE ★ Strongest Predictor — % of installments paid late, engineered from payment history.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81939"/>
            <a:ext cx="8619547" cy="1022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4"/>
              </a:lnSpc>
              <a:spcBef>
                <a:spcPct val="0"/>
              </a:spcBef>
            </a:pPr>
            <a:r>
              <a:rPr lang="en-US" sz="5660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PAYMENT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755407"/>
            <a:ext cx="7944470" cy="1022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3"/>
              </a:lnSpc>
              <a:spcBef>
                <a:spcPct val="0"/>
              </a:spcBef>
            </a:pPr>
            <a:r>
              <a:rPr lang="en-US" sz="5659" b="1" u="none" strike="noStrike">
                <a:solidFill>
                  <a:srgbClr val="C990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BEHAVIOUR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3190251"/>
            <a:ext cx="7708665" cy="727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06"/>
              </a:lnSpc>
              <a:spcBef>
                <a:spcPct val="0"/>
              </a:spcBef>
            </a:pPr>
            <a:r>
              <a:rPr lang="en-US" sz="1362" spc="-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Distribution of payment lateness (days late) reveals a strong behavioural signal separating defaulters from repayers. Late payments are the most predictive behavioural indicator in the dataset.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106142"/>
            <a:ext cx="6730976" cy="1237662"/>
            <a:chOff x="0" y="0"/>
            <a:chExt cx="8974635" cy="16502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974635" cy="1650216"/>
            </a:xfrm>
            <a:custGeom>
              <a:avLst/>
              <a:gdLst/>
              <a:ahLst/>
              <a:cxnLst/>
              <a:rect l="l" t="t" r="r" b="b"/>
              <a:pathLst>
                <a:path w="8974635" h="1650216">
                  <a:moveTo>
                    <a:pt x="165022" y="0"/>
                  </a:moveTo>
                  <a:lnTo>
                    <a:pt x="8809613" y="0"/>
                  </a:lnTo>
                  <a:cubicBezTo>
                    <a:pt x="8900752" y="0"/>
                    <a:pt x="8974635" y="73883"/>
                    <a:pt x="8974635" y="165022"/>
                  </a:cubicBezTo>
                  <a:lnTo>
                    <a:pt x="8974635" y="1485194"/>
                  </a:lnTo>
                  <a:cubicBezTo>
                    <a:pt x="8974635" y="1576333"/>
                    <a:pt x="8900752" y="1650216"/>
                    <a:pt x="8809613" y="1650216"/>
                  </a:cubicBezTo>
                  <a:lnTo>
                    <a:pt x="165022" y="1650216"/>
                  </a:lnTo>
                  <a:cubicBezTo>
                    <a:pt x="73883" y="1650216"/>
                    <a:pt x="0" y="1576333"/>
                    <a:pt x="0" y="1485194"/>
                  </a:cubicBezTo>
                  <a:lnTo>
                    <a:pt x="0" y="165022"/>
                  </a:lnTo>
                  <a:cubicBezTo>
                    <a:pt x="0" y="73883"/>
                    <a:pt x="73883" y="0"/>
                    <a:pt x="165022" y="0"/>
                  </a:cubicBezTo>
                  <a:close/>
                </a:path>
              </a:pathLst>
            </a:custGeom>
            <a:solidFill>
              <a:srgbClr val="1B3A6B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974635" cy="1688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524034"/>
            <a:ext cx="6730976" cy="1237662"/>
            <a:chOff x="0" y="0"/>
            <a:chExt cx="8974635" cy="16502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974635" cy="1650216"/>
            </a:xfrm>
            <a:custGeom>
              <a:avLst/>
              <a:gdLst/>
              <a:ahLst/>
              <a:cxnLst/>
              <a:rect l="l" t="t" r="r" b="b"/>
              <a:pathLst>
                <a:path w="8974635" h="1650216">
                  <a:moveTo>
                    <a:pt x="165022" y="0"/>
                  </a:moveTo>
                  <a:lnTo>
                    <a:pt x="8809613" y="0"/>
                  </a:lnTo>
                  <a:cubicBezTo>
                    <a:pt x="8900752" y="0"/>
                    <a:pt x="8974635" y="73883"/>
                    <a:pt x="8974635" y="165022"/>
                  </a:cubicBezTo>
                  <a:lnTo>
                    <a:pt x="8974635" y="1485194"/>
                  </a:lnTo>
                  <a:cubicBezTo>
                    <a:pt x="8974635" y="1576333"/>
                    <a:pt x="8900752" y="1650216"/>
                    <a:pt x="8809613" y="1650216"/>
                  </a:cubicBezTo>
                  <a:lnTo>
                    <a:pt x="165022" y="1650216"/>
                  </a:lnTo>
                  <a:cubicBezTo>
                    <a:pt x="73883" y="1650216"/>
                    <a:pt x="0" y="1576333"/>
                    <a:pt x="0" y="1485194"/>
                  </a:cubicBezTo>
                  <a:lnTo>
                    <a:pt x="0" y="165022"/>
                  </a:lnTo>
                  <a:cubicBezTo>
                    <a:pt x="0" y="73883"/>
                    <a:pt x="73883" y="0"/>
                    <a:pt x="165022" y="0"/>
                  </a:cubicBezTo>
                  <a:close/>
                </a:path>
              </a:pathLst>
            </a:custGeom>
            <a:solidFill>
              <a:srgbClr val="1B3A6B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974635" cy="1688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4298" y="482134"/>
            <a:ext cx="8433509" cy="9322733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028700" y="1331795"/>
            <a:ext cx="8619547" cy="594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3"/>
              </a:lnSpc>
              <a:spcBef>
                <a:spcPct val="0"/>
              </a:spcBef>
            </a:pPr>
            <a:r>
              <a:rPr lang="en-US" sz="3288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MODELLING APPROACH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105263"/>
            <a:ext cx="7944470" cy="594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5"/>
              </a:lnSpc>
              <a:spcBef>
                <a:spcPct val="0"/>
              </a:spcBef>
            </a:pPr>
            <a:r>
              <a:rPr lang="en-US" sz="3289" b="1" u="none" strike="noStrike">
                <a:solidFill>
                  <a:srgbClr val="C990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THREE MODELS, ONE CLEAR CHAMPION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463907"/>
            <a:ext cx="7708665" cy="1861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Workflow Pipeline: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Train/Test Split  →  Preprocessing  →  SMOTE  →  Model Training  →  Hyperparameter Tuning  →  Evaluation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SMOTE applied only to training data to address 92/8 class imbalance. Stratified split preserves target distribution.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65317" y="6231686"/>
            <a:ext cx="4057742" cy="91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Logistic Regression</a:t>
            </a:r>
          </a:p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Baseline linear model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65317" y="7649577"/>
            <a:ext cx="4057742" cy="91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Random Forest</a:t>
            </a:r>
          </a:p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Ensemble tree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44" y="1329698"/>
            <a:ext cx="7547447" cy="7627603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233850" y="1069843"/>
            <a:ext cx="9025450" cy="1022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4"/>
              </a:lnSpc>
              <a:spcBef>
                <a:spcPct val="0"/>
              </a:spcBef>
            </a:pPr>
            <a:r>
              <a:rPr lang="en-US" sz="5660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MODEL RESULTS —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33850" y="1843311"/>
            <a:ext cx="9025450" cy="1022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3"/>
              </a:lnSpc>
              <a:spcBef>
                <a:spcPct val="0"/>
              </a:spcBef>
            </a:pPr>
            <a:r>
              <a:rPr lang="en-US" sz="5659" b="1" u="none" strike="noStrike">
                <a:solidFill>
                  <a:srgbClr val="C990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XGBOOST BALANCED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33850" y="2636694"/>
            <a:ext cx="9025450" cy="1022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3"/>
              </a:lnSpc>
              <a:spcBef>
                <a:spcPct val="0"/>
              </a:spcBef>
            </a:pPr>
            <a:r>
              <a:rPr lang="en-US" sz="5659" b="1" u="none" strike="noStrike">
                <a:solidFill>
                  <a:srgbClr val="C990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THE CLEAR CHAMPION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233850" y="4143513"/>
            <a:ext cx="9025450" cy="1489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 spc="-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 Comparison: Recall | Precision | ROC-AUC</a:t>
            </a:r>
          </a:p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 spc="-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Dummy: 0% | N/A | 0.50</a:t>
            </a:r>
          </a:p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 spc="-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Logistic Regression: 60% | 19% | 0.69</a:t>
            </a:r>
          </a:p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 spc="-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Random Forest: 55% | 22% | 0.73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33850" y="5856737"/>
            <a:ext cx="9025450" cy="1118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 spc="-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XGBoost Baseline: 65.8% | 17.6% | 0.7607</a:t>
            </a:r>
          </a:p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 spc="-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★ XGBoost Balanced: 76.5% | 15.0% | 0.7609</a:t>
            </a:r>
          </a:p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 spc="-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XGBoost Cost Optimized: 83.8% | 12.9% | 0.7605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33850" y="7565522"/>
            <a:ext cx="9025450" cy="1118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 spc="-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Champion: XGBoost Balanced achieves the best ROC-AUC (0.7609) while catching 76.5% of all defaulters — maximising risk detection with strong discriminative power.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870586"/>
            <a:ext cx="9967909" cy="3272550"/>
            <a:chOff x="0" y="0"/>
            <a:chExt cx="2625293" cy="8619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25293" cy="861906"/>
            </a:xfrm>
            <a:custGeom>
              <a:avLst/>
              <a:gdLst/>
              <a:ahLst/>
              <a:cxnLst/>
              <a:rect l="l" t="t" r="r" b="b"/>
              <a:pathLst>
                <a:path w="2625293" h="861906">
                  <a:moveTo>
                    <a:pt x="24854" y="0"/>
                  </a:moveTo>
                  <a:lnTo>
                    <a:pt x="2600439" y="0"/>
                  </a:lnTo>
                  <a:cubicBezTo>
                    <a:pt x="2607031" y="0"/>
                    <a:pt x="2613352" y="2619"/>
                    <a:pt x="2618013" y="7280"/>
                  </a:cubicBezTo>
                  <a:cubicBezTo>
                    <a:pt x="2622674" y="11941"/>
                    <a:pt x="2625293" y="18262"/>
                    <a:pt x="2625293" y="24854"/>
                  </a:cubicBezTo>
                  <a:lnTo>
                    <a:pt x="2625293" y="837052"/>
                  </a:lnTo>
                  <a:cubicBezTo>
                    <a:pt x="2625293" y="843644"/>
                    <a:pt x="2622674" y="849966"/>
                    <a:pt x="2618013" y="854627"/>
                  </a:cubicBezTo>
                  <a:cubicBezTo>
                    <a:pt x="2613352" y="859288"/>
                    <a:pt x="2607031" y="861906"/>
                    <a:pt x="2600439" y="861906"/>
                  </a:cubicBezTo>
                  <a:lnTo>
                    <a:pt x="24854" y="861906"/>
                  </a:lnTo>
                  <a:cubicBezTo>
                    <a:pt x="18262" y="861906"/>
                    <a:pt x="11941" y="859288"/>
                    <a:pt x="7280" y="854627"/>
                  </a:cubicBezTo>
                  <a:cubicBezTo>
                    <a:pt x="2619" y="849966"/>
                    <a:pt x="0" y="843644"/>
                    <a:pt x="0" y="837052"/>
                  </a:cubicBezTo>
                  <a:lnTo>
                    <a:pt x="0" y="24854"/>
                  </a:lnTo>
                  <a:cubicBezTo>
                    <a:pt x="0" y="18262"/>
                    <a:pt x="2619" y="11941"/>
                    <a:pt x="7280" y="7280"/>
                  </a:cubicBezTo>
                  <a:cubicBezTo>
                    <a:pt x="11941" y="2619"/>
                    <a:pt x="18262" y="0"/>
                    <a:pt x="24854" y="0"/>
                  </a:cubicBezTo>
                  <a:close/>
                </a:path>
              </a:pathLst>
            </a:custGeom>
            <a:solidFill>
              <a:srgbClr val="1B3A6B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625293" cy="900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8012" y="928586"/>
            <a:ext cx="8157719" cy="8429827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805784" y="6372869"/>
            <a:ext cx="6145735" cy="892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66"/>
              </a:lnSpc>
              <a:spcBef>
                <a:spcPct val="0"/>
              </a:spcBef>
            </a:pPr>
            <a:r>
              <a:rPr lang="en-US" sz="169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Selected scale_pos_weight — highest Recall (76.5%) with ROC-AUC 0.7609. Optimal cost-sensitive configuration.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39769" y="6410915"/>
            <a:ext cx="1066015" cy="761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49"/>
              </a:lnSpc>
              <a:spcBef>
                <a:spcPct val="0"/>
              </a:spcBef>
            </a:pPr>
            <a:r>
              <a:rPr lang="en-US" sz="4249" b="1" u="none" strike="noStrike">
                <a:solidFill>
                  <a:srgbClr val="C9902A"/>
                </a:solidFill>
                <a:latin typeface="Poppins Bold"/>
                <a:ea typeface="Poppins Bold"/>
                <a:cs typeface="Poppins Bold"/>
                <a:sym typeface="Poppins Bold"/>
              </a:rPr>
              <a:t>15.0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39769" y="7717647"/>
            <a:ext cx="1066015" cy="761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49"/>
              </a:lnSpc>
              <a:spcBef>
                <a:spcPct val="0"/>
              </a:spcBef>
            </a:pPr>
            <a:r>
              <a:rPr lang="en-US" sz="4249" b="1" u="none" strike="noStrike">
                <a:solidFill>
                  <a:srgbClr val="C9902A"/>
                </a:solidFill>
                <a:latin typeface="Poppins Bold"/>
                <a:ea typeface="Poppins Bold"/>
                <a:cs typeface="Poppins Bold"/>
                <a:sym typeface="Poppins Bold"/>
              </a:rPr>
              <a:t>KEY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05784" y="7679601"/>
            <a:ext cx="7056617" cy="599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66"/>
              </a:lnSpc>
              <a:spcBef>
                <a:spcPct val="0"/>
              </a:spcBef>
            </a:pPr>
            <a:r>
              <a:rPr lang="en-US" sz="169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Insight: Missing a defaulter costs more than a false alarm. Higher weight penalizes missed defaults.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81939"/>
            <a:ext cx="8619547" cy="1022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4"/>
              </a:lnSpc>
              <a:spcBef>
                <a:spcPct val="0"/>
              </a:spcBef>
            </a:pPr>
            <a:r>
              <a:rPr lang="en-US" sz="5660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HYPERPARAMETER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755407"/>
            <a:ext cx="7944470" cy="1022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3"/>
              </a:lnSpc>
              <a:spcBef>
                <a:spcPct val="0"/>
              </a:spcBef>
            </a:pPr>
            <a:r>
              <a:rPr lang="en-US" sz="5659" b="1" u="none" strike="noStrike">
                <a:solidFill>
                  <a:srgbClr val="C990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TUNING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3190251"/>
            <a:ext cx="7708665" cy="727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06"/>
              </a:lnSpc>
              <a:spcBef>
                <a:spcPct val="0"/>
              </a:spcBef>
            </a:pPr>
            <a:r>
              <a:rPr lang="en-US" sz="1362" spc="-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Optimizing scale_pos_weight to balance recall and precision. The selected value of 15.0 maximizes defaulter detection while maintaining acceptable ROC-AUC performance across all tested configurations.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631275" y="675368"/>
            <a:ext cx="9025450" cy="876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62"/>
              </a:lnSpc>
              <a:spcBef>
                <a:spcPct val="0"/>
              </a:spcBef>
            </a:pPr>
            <a:r>
              <a:rPr lang="en-US" sz="4830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CONFUSION MATRIX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2437838"/>
            <a:ext cx="6172200" cy="16994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6761"/>
              </a:lnSpc>
              <a:spcBef>
                <a:spcPct val="0"/>
              </a:spcBef>
            </a:pPr>
            <a:r>
              <a:rPr lang="en-US" sz="4829" b="1" u="none" strike="noStrike" dirty="0">
                <a:solidFill>
                  <a:srgbClr val="C990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WHAT THE MODEL GETS RIGHT</a:t>
            </a:r>
            <a:r>
              <a:rPr lang="en-US" sz="4829" b="1" dirty="0">
                <a:solidFill>
                  <a:srgbClr val="C990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—</a:t>
            </a:r>
            <a:endParaRPr lang="en-US" sz="4829" b="1" u="none" strike="noStrike" dirty="0">
              <a:solidFill>
                <a:srgbClr val="C9902A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33400" y="4562110"/>
            <a:ext cx="7162800" cy="8274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761"/>
              </a:lnSpc>
              <a:spcBef>
                <a:spcPct val="0"/>
              </a:spcBef>
            </a:pPr>
            <a:r>
              <a:rPr lang="en-US" sz="4829" b="1" u="none" strike="noStrike" dirty="0">
                <a:solidFill>
                  <a:srgbClr val="C990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AND WHAT IT MISSES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881257" y="3086100"/>
            <a:ext cx="9025450" cy="8627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22"/>
              </a:lnSpc>
              <a:spcBef>
                <a:spcPct val="0"/>
              </a:spcBef>
            </a:pPr>
            <a:r>
              <a:rPr lang="en-US" sz="1658" spc="-3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TN: 54,821 Correctly Identified </a:t>
            </a:r>
            <a:r>
              <a:rPr lang="en-US" sz="1658" spc="-33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Repayers</a:t>
            </a:r>
            <a:endParaRPr lang="en-US" sz="1658" spc="-33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2322"/>
              </a:lnSpc>
              <a:spcBef>
                <a:spcPct val="0"/>
              </a:spcBef>
            </a:pPr>
            <a:r>
              <a:rPr lang="en-US" sz="1658" spc="-3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Predicted Repay → Actually Repaid. No financial loss. Model performs well on the majority class.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81257" y="5330573"/>
            <a:ext cx="9025450" cy="862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22"/>
              </a:lnSpc>
              <a:spcBef>
                <a:spcPct val="0"/>
              </a:spcBef>
            </a:pPr>
            <a:r>
              <a:rPr lang="en-US" sz="1658" spc="-3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TP: 1,876 Defaulters Caught</a:t>
            </a:r>
          </a:p>
          <a:p>
            <a:pPr marL="0" lvl="0" indent="0" algn="l">
              <a:lnSpc>
                <a:spcPts val="2322"/>
              </a:lnSpc>
              <a:spcBef>
                <a:spcPct val="0"/>
              </a:spcBef>
            </a:pPr>
            <a:r>
              <a:rPr lang="en-US" sz="1658" spc="-3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Predicted Default → Actually Defaulted. Recall = 76.5%. 76 out of every 100 defaulters identified and flagged before approval.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81257" y="7575046"/>
            <a:ext cx="9025450" cy="1434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22"/>
              </a:lnSpc>
              <a:spcBef>
                <a:spcPct val="0"/>
              </a:spcBef>
            </a:pPr>
            <a:r>
              <a:rPr lang="en-US" sz="1658" spc="-3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FP: 4,102 False Alarms | FN: 578 Missed Defaulters</a:t>
            </a:r>
          </a:p>
          <a:p>
            <a:pPr marL="0" lvl="0" indent="0" algn="l">
              <a:lnSpc>
                <a:spcPts val="2322"/>
              </a:lnSpc>
              <a:spcBef>
                <a:spcPct val="0"/>
              </a:spcBef>
            </a:pPr>
            <a:r>
              <a:rPr lang="en-US" sz="1658" spc="-3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FP: Predicted Default → Actually Repaid. Opportunity cost only.</a:t>
            </a:r>
          </a:p>
          <a:p>
            <a:pPr marL="0" lvl="0" indent="0" algn="l">
              <a:lnSpc>
                <a:spcPts val="2322"/>
              </a:lnSpc>
              <a:spcBef>
                <a:spcPct val="0"/>
              </a:spcBef>
            </a:pPr>
            <a:r>
              <a:rPr lang="en-US" sz="1658" spc="-3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FN: Predicted Repay → Actually Defaulted. Highest financial risk — loans approved that will default.</a:t>
            </a:r>
          </a:p>
          <a:p>
            <a:pPr marL="0" lvl="0" indent="0" algn="l">
              <a:lnSpc>
                <a:spcPts val="2322"/>
              </a:lnSpc>
              <a:spcBef>
                <a:spcPct val="0"/>
              </a:spcBef>
            </a:pPr>
            <a:r>
              <a:rPr lang="en-US" sz="1658" spc="-3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Takeaway: Recall 76.5% = 76 out of every 100 defaulters identified.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746974"/>
            <a:ext cx="9829800" cy="8793052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9920305" y="1391650"/>
            <a:ext cx="6510658" cy="463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54"/>
              </a:lnSpc>
              <a:spcBef>
                <a:spcPct val="0"/>
              </a:spcBef>
            </a:pPr>
            <a:r>
              <a:rPr lang="en-US" sz="2610" b="1" u="none" strike="noStrik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CROSS VALIDATION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920305" y="2165118"/>
            <a:ext cx="6510658" cy="927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54"/>
              </a:lnSpc>
              <a:spcBef>
                <a:spcPct val="0"/>
              </a:spcBef>
            </a:pPr>
            <a:r>
              <a:rPr lang="en-US" sz="2610" b="1" u="none" strike="noStrike">
                <a:solidFill>
                  <a:srgbClr val="C990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IS THE MODEL GENUINELY GOOD — OR JUST LUCKY?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920305" y="3523762"/>
            <a:ext cx="6510658" cy="62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u="none" strike="noStrike" spc="-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5-fold cross validation confirms XGBoost Balanced performs consistently. ROC-AUC remains stable at ~0.76 across all folds, and Recall stays near 76.5%, demonstrating the model generalises well to unseen data and is not overfitting.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90000" y="6026569"/>
            <a:ext cx="4057742" cy="204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0"/>
              </a:lnSpc>
              <a:spcBef>
                <a:spcPct val="0"/>
              </a:spcBef>
            </a:pPr>
            <a:r>
              <a:rPr lang="en-US" sz="120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ROC-AUC: 0.758 – 0.763 across 5 folds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90000" y="7097334"/>
            <a:ext cx="4057742" cy="204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0"/>
              </a:lnSpc>
              <a:spcBef>
                <a:spcPct val="0"/>
              </a:spcBef>
            </a:pPr>
            <a:r>
              <a:rPr lang="en-US" sz="120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Recall: 74.9% – 78.1% — consistently high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90000" y="8168099"/>
            <a:ext cx="4057742" cy="204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0"/>
              </a:lnSpc>
              <a:spcBef>
                <a:spcPct val="0"/>
              </a:spcBef>
            </a:pPr>
            <a:r>
              <a:rPr lang="en-US" sz="120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Low variance confirms no overfitting detected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9342" y="502733"/>
            <a:ext cx="8483419" cy="9281534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28700" y="1322270"/>
            <a:ext cx="8619547" cy="657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38"/>
              </a:lnSpc>
              <a:spcBef>
                <a:spcPct val="0"/>
              </a:spcBef>
            </a:pPr>
            <a:r>
              <a:rPr lang="en-US" sz="3670" b="1" u="none" strike="noStrik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OPENING THE BLACK BOX —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095738"/>
            <a:ext cx="7944470" cy="657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38"/>
              </a:lnSpc>
              <a:spcBef>
                <a:spcPct val="0"/>
              </a:spcBef>
            </a:pPr>
            <a:r>
              <a:rPr lang="en-US" sz="3670" b="1" u="none" strike="noStrike">
                <a:solidFill>
                  <a:srgbClr val="C990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EXPLAINABLE AI WITH SHAP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473432"/>
            <a:ext cx="7708665" cy="96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03"/>
              </a:lnSpc>
              <a:spcBef>
                <a:spcPct val="0"/>
              </a:spcBef>
            </a:pPr>
            <a:r>
              <a:rPr lang="en-US" sz="1359" u="none" strike="noStrike" spc="-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SHAP (SHapley Additive exPlanations) transforms the XGBoost model from an opaque black box into a transparent, auditable decision engine. Every prediction is decomposed into individual feature contributions — enabling trust, compliance, and actionable insight across all stakeholders.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65317" y="6241211"/>
            <a:ext cx="4057742" cy="892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66"/>
              </a:lnSpc>
              <a:spcBef>
                <a:spcPct val="0"/>
              </a:spcBef>
            </a:pPr>
            <a:r>
              <a:rPr lang="en-US" sz="169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Global Explanations</a:t>
            </a:r>
          </a:p>
          <a:p>
            <a:pPr marL="0" lvl="0" indent="0" algn="l">
              <a:lnSpc>
                <a:spcPts val="2366"/>
              </a:lnSpc>
              <a:spcBef>
                <a:spcPct val="0"/>
              </a:spcBef>
            </a:pPr>
            <a:r>
              <a:rPr lang="en-US" sz="169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Which features drive default risk across all applicants?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65317" y="7659102"/>
            <a:ext cx="4057742" cy="892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66"/>
              </a:lnSpc>
              <a:spcBef>
                <a:spcPct val="0"/>
              </a:spcBef>
            </a:pPr>
            <a:r>
              <a:rPr lang="en-US" sz="169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Local Explanations</a:t>
            </a:r>
          </a:p>
          <a:p>
            <a:pPr marL="0" lvl="0" indent="0" algn="l">
              <a:lnSpc>
                <a:spcPts val="2366"/>
              </a:lnSpc>
              <a:spcBef>
                <a:spcPct val="0"/>
              </a:spcBef>
            </a:pPr>
            <a:r>
              <a:rPr lang="en-US" sz="169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Why was THIS specific applicant flagged as high risk?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06" y="1329698"/>
            <a:ext cx="7236524" cy="7627603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233850" y="1069843"/>
            <a:ext cx="9025450" cy="997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14"/>
              </a:lnSpc>
              <a:spcBef>
                <a:spcPct val="0"/>
              </a:spcBef>
            </a:pPr>
            <a:r>
              <a:rPr lang="en-US" sz="5510" b="1" u="none" strike="noStrik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GLOBAL EXPLAINABILITY —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33850" y="1843311"/>
            <a:ext cx="9025450" cy="997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14"/>
              </a:lnSpc>
              <a:spcBef>
                <a:spcPct val="0"/>
              </a:spcBef>
            </a:pPr>
            <a:r>
              <a:rPr lang="en-US" sz="5510" b="1" u="none" strike="noStrike">
                <a:solidFill>
                  <a:srgbClr val="C990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WHAT DRIVES DEFAULT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33850" y="2636694"/>
            <a:ext cx="9025450" cy="997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14"/>
              </a:lnSpc>
              <a:spcBef>
                <a:spcPct val="0"/>
              </a:spcBef>
            </a:pPr>
            <a:r>
              <a:rPr lang="en-US" sz="5510" b="1" u="none" strike="noStrike">
                <a:solidFill>
                  <a:srgbClr val="C990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RISK MOST?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233850" y="4143513"/>
            <a:ext cx="9025450" cy="111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SHAP values measure each feature's contribution to the model's default prediction. Features ranked by mean absolute SHAP value across all applicants.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33850" y="5856737"/>
            <a:ext cx="9025450" cy="111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EXT_SOURCE_2 is the single strongest predictor — a composite external credit score. Higher values strongly reduce default probability. Scores below 0.35 are high-risk.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33850" y="7565522"/>
            <a:ext cx="9025450" cy="111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 spc="-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DEBT_TO_INCOME and ANNUITY_TO_INCOME are the top engineered features, confirming that repayment burden relative to income is a critical risk signal for Kenyan digital lenders.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19" y="1329698"/>
            <a:ext cx="7333898" cy="7627603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233850" y="1069843"/>
            <a:ext cx="9025450" cy="1022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3"/>
              </a:lnSpc>
              <a:spcBef>
                <a:spcPct val="0"/>
              </a:spcBef>
            </a:pPr>
            <a:r>
              <a:rPr lang="en-US" sz="5659" b="1" u="none" strike="noStrik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LOCAL EXPLAINABILITY —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33850" y="1843311"/>
            <a:ext cx="9025450" cy="1022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3"/>
              </a:lnSpc>
              <a:spcBef>
                <a:spcPct val="0"/>
              </a:spcBef>
            </a:pPr>
            <a:r>
              <a:rPr lang="en-US" sz="5659" b="1" u="none" strike="noStrike">
                <a:solidFill>
                  <a:srgbClr val="C990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WHY WAS THIS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33850" y="2636694"/>
            <a:ext cx="9025450" cy="1022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3"/>
              </a:lnSpc>
              <a:spcBef>
                <a:spcPct val="0"/>
              </a:spcBef>
            </a:pPr>
            <a:r>
              <a:rPr lang="en-US" sz="5659" b="1" u="none" strike="noStrike">
                <a:solidFill>
                  <a:srgbClr val="C990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PERSON FLAGGED?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233850" y="4153038"/>
            <a:ext cx="9025450" cy="1434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23"/>
              </a:lnSpc>
              <a:spcBef>
                <a:spcPct val="0"/>
              </a:spcBef>
            </a:pPr>
            <a:r>
              <a:rPr lang="en-US" sz="1659" u="none" strike="noStrike" spc="-3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Risk Factors (pushing toward default):</a:t>
            </a:r>
          </a:p>
          <a:p>
            <a:pPr marL="0" lvl="0" indent="0" algn="l">
              <a:lnSpc>
                <a:spcPts val="2323"/>
              </a:lnSpc>
              <a:spcBef>
                <a:spcPct val="0"/>
              </a:spcBef>
            </a:pPr>
            <a:r>
              <a:rPr lang="en-US" sz="1659" u="none" strike="noStrike" spc="-3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Low EXT_SOURCE_2 — weakest credit score signal</a:t>
            </a:r>
          </a:p>
          <a:p>
            <a:pPr marL="0" lvl="0" indent="0" algn="l">
              <a:lnSpc>
                <a:spcPts val="2323"/>
              </a:lnSpc>
              <a:spcBef>
                <a:spcPct val="0"/>
              </a:spcBef>
            </a:pPr>
            <a:r>
              <a:rPr lang="en-US" sz="1659" u="none" strike="noStrike" spc="-3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High DEBT_TO_INCOME — debt burden exceeds safe threshold</a:t>
            </a:r>
          </a:p>
          <a:p>
            <a:pPr marL="0" lvl="0" indent="0" algn="l">
              <a:lnSpc>
                <a:spcPts val="2323"/>
              </a:lnSpc>
              <a:spcBef>
                <a:spcPct val="0"/>
              </a:spcBef>
            </a:pPr>
            <a:r>
              <a:rPr lang="en-US" sz="1659" u="none" strike="noStrike" spc="-3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Late Payments — history of delayed installments</a:t>
            </a:r>
          </a:p>
          <a:p>
            <a:pPr marL="0" lvl="0" indent="0" algn="l">
              <a:lnSpc>
                <a:spcPts val="2323"/>
              </a:lnSpc>
              <a:spcBef>
                <a:spcPct val="0"/>
              </a:spcBef>
            </a:pPr>
            <a:r>
              <a:rPr lang="en-US" sz="1659" u="none" strike="noStrike" spc="-3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Unemployed — no stable income source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33850" y="5866262"/>
            <a:ext cx="9025450" cy="1148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23"/>
              </a:lnSpc>
              <a:spcBef>
                <a:spcPct val="0"/>
              </a:spcBef>
            </a:pPr>
            <a:r>
              <a:rPr lang="en-US" sz="1659" u="none" strike="noStrike" spc="-3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Protective Factors (reducing default risk):</a:t>
            </a:r>
          </a:p>
          <a:p>
            <a:pPr marL="0" lvl="0" indent="0" algn="l">
              <a:lnSpc>
                <a:spcPts val="2323"/>
              </a:lnSpc>
              <a:spcBef>
                <a:spcPct val="0"/>
              </a:spcBef>
            </a:pPr>
            <a:r>
              <a:rPr lang="en-US" sz="1659" u="none" strike="noStrike" spc="-3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Property Ownership — asset collateral present</a:t>
            </a:r>
          </a:p>
          <a:p>
            <a:pPr marL="0" lvl="0" indent="0" algn="l">
              <a:lnSpc>
                <a:spcPts val="2323"/>
              </a:lnSpc>
              <a:spcBef>
                <a:spcPct val="0"/>
              </a:spcBef>
            </a:pPr>
            <a:r>
              <a:rPr lang="en-US" sz="1659" u="none" strike="noStrike" spc="-3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Stable Housing — permanent residence registered</a:t>
            </a:r>
          </a:p>
          <a:p>
            <a:pPr marL="0" lvl="0" indent="0" algn="l">
              <a:lnSpc>
                <a:spcPts val="2323"/>
              </a:lnSpc>
              <a:spcBef>
                <a:spcPct val="0"/>
              </a:spcBef>
            </a:pPr>
            <a:r>
              <a:rPr lang="en-US" sz="1659" u="none" strike="noStrike" spc="-3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These factors partially offset risk but are insufficient to reverse the prediction.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33850" y="7575047"/>
            <a:ext cx="9025450" cy="1148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23"/>
              </a:lnSpc>
              <a:spcBef>
                <a:spcPct val="0"/>
              </a:spcBef>
            </a:pPr>
            <a:r>
              <a:rPr lang="en-US" sz="1659" u="none" strike="noStrike" spc="-3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Final Decision: 74% Default Probability → REJECT</a:t>
            </a:r>
          </a:p>
          <a:p>
            <a:pPr marL="0" lvl="0" indent="0" algn="l">
              <a:lnSpc>
                <a:spcPts val="2323"/>
              </a:lnSpc>
              <a:spcBef>
                <a:spcPct val="0"/>
              </a:spcBef>
            </a:pPr>
            <a:r>
              <a:rPr lang="en-US" sz="1659" u="none" strike="noStrike" spc="-3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SHAP base value: 0.08 (population average). Each feature contribution shifts the score toward or away from default. This applicant's risk drivers outweigh protective factors by a significant margin.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956789"/>
            <a:ext cx="9829800" cy="8373422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9920305" y="1372600"/>
            <a:ext cx="6510658" cy="512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3"/>
              </a:lnSpc>
              <a:spcBef>
                <a:spcPct val="0"/>
              </a:spcBef>
            </a:pPr>
            <a:r>
              <a:rPr lang="en-US" sz="2809" b="1" u="none" strike="noStrik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FEATURE IMPORTANCE COMPARISON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920305" y="2146068"/>
            <a:ext cx="6510658" cy="512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33"/>
              </a:lnSpc>
              <a:spcBef>
                <a:spcPct val="0"/>
              </a:spcBef>
            </a:pPr>
            <a:r>
              <a:rPr lang="en-US" sz="2809" b="1" u="none" strike="noStrike">
                <a:solidFill>
                  <a:srgbClr val="C990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THREE METHODS AGREE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920305" y="3523762"/>
            <a:ext cx="6510658" cy="41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u="none" strike="noStrike" spc="-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Random Forest, SHAP, and Permutation Importance all converge on the same top predictors — validating model reliability and explainability across methods.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90000" y="6017044"/>
            <a:ext cx="4057742" cy="229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5"/>
              </a:lnSpc>
              <a:spcBef>
                <a:spcPct val="0"/>
              </a:spcBef>
            </a:pPr>
            <a:r>
              <a:rPr lang="en-US" sz="1289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EXT_SOURCE_2 Ranks #1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90000" y="7087809"/>
            <a:ext cx="4057742" cy="229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5"/>
              </a:lnSpc>
              <a:spcBef>
                <a:spcPct val="0"/>
              </a:spcBef>
            </a:pPr>
            <a:r>
              <a:rPr lang="en-US" sz="1289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DEBT_TO_INCOME Consistent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90000" y="8158574"/>
            <a:ext cx="4057742" cy="229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5"/>
              </a:lnSpc>
              <a:spcBef>
                <a:spcPct val="0"/>
              </a:spcBef>
            </a:pPr>
            <a:r>
              <a:rPr lang="en-US" sz="1289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DAYS_BIRTH in Top Features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870586"/>
            <a:ext cx="9967909" cy="3272550"/>
            <a:chOff x="0" y="0"/>
            <a:chExt cx="2625293" cy="8619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25293" cy="861906"/>
            </a:xfrm>
            <a:custGeom>
              <a:avLst/>
              <a:gdLst/>
              <a:ahLst/>
              <a:cxnLst/>
              <a:rect l="l" t="t" r="r" b="b"/>
              <a:pathLst>
                <a:path w="2625293" h="861906">
                  <a:moveTo>
                    <a:pt x="24854" y="0"/>
                  </a:moveTo>
                  <a:lnTo>
                    <a:pt x="2600439" y="0"/>
                  </a:lnTo>
                  <a:cubicBezTo>
                    <a:pt x="2607031" y="0"/>
                    <a:pt x="2613352" y="2619"/>
                    <a:pt x="2618013" y="7280"/>
                  </a:cubicBezTo>
                  <a:cubicBezTo>
                    <a:pt x="2622674" y="11941"/>
                    <a:pt x="2625293" y="18262"/>
                    <a:pt x="2625293" y="24854"/>
                  </a:cubicBezTo>
                  <a:lnTo>
                    <a:pt x="2625293" y="837052"/>
                  </a:lnTo>
                  <a:cubicBezTo>
                    <a:pt x="2625293" y="843644"/>
                    <a:pt x="2622674" y="849966"/>
                    <a:pt x="2618013" y="854627"/>
                  </a:cubicBezTo>
                  <a:cubicBezTo>
                    <a:pt x="2613352" y="859288"/>
                    <a:pt x="2607031" y="861906"/>
                    <a:pt x="2600439" y="861906"/>
                  </a:cubicBezTo>
                  <a:lnTo>
                    <a:pt x="24854" y="861906"/>
                  </a:lnTo>
                  <a:cubicBezTo>
                    <a:pt x="18262" y="861906"/>
                    <a:pt x="11941" y="859288"/>
                    <a:pt x="7280" y="854627"/>
                  </a:cubicBezTo>
                  <a:cubicBezTo>
                    <a:pt x="2619" y="849966"/>
                    <a:pt x="0" y="843644"/>
                    <a:pt x="0" y="837052"/>
                  </a:cubicBezTo>
                  <a:lnTo>
                    <a:pt x="0" y="24854"/>
                  </a:lnTo>
                  <a:cubicBezTo>
                    <a:pt x="0" y="18262"/>
                    <a:pt x="2619" y="11941"/>
                    <a:pt x="7280" y="7280"/>
                  </a:cubicBezTo>
                  <a:cubicBezTo>
                    <a:pt x="11941" y="2619"/>
                    <a:pt x="18262" y="0"/>
                    <a:pt x="24854" y="0"/>
                  </a:cubicBezTo>
                  <a:close/>
                </a:path>
              </a:pathLst>
            </a:custGeom>
            <a:solidFill>
              <a:srgbClr val="1B3A6B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625293" cy="900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8648" y="928586"/>
            <a:ext cx="8176448" cy="8429827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805784" y="6391919"/>
            <a:ext cx="6145735" cy="775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86"/>
              </a:lnSpc>
              <a:spcBef>
                <a:spcPct val="0"/>
              </a:spcBef>
            </a:pPr>
            <a:r>
              <a:rPr lang="en-US" sz="149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EXT_SOURCE_2 threshold at 0.35 — below this, default probability spikes. Applicants scoring above 0.60 qualify for Fast Track Approval.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39769" y="6477590"/>
            <a:ext cx="1066015" cy="34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44"/>
              </a:lnSpc>
              <a:spcBef>
                <a:spcPct val="0"/>
              </a:spcBef>
            </a:pPr>
            <a:r>
              <a:rPr lang="en-US" sz="1960" b="1" u="none" strike="noStrike">
                <a:solidFill>
                  <a:srgbClr val="C9902A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39769" y="7784322"/>
            <a:ext cx="1066015" cy="34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44"/>
              </a:lnSpc>
              <a:spcBef>
                <a:spcPct val="0"/>
              </a:spcBef>
            </a:pPr>
            <a:r>
              <a:rPr lang="en-US" sz="1960" b="1" u="none" strike="noStrike">
                <a:solidFill>
                  <a:srgbClr val="C9902A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05784" y="7698651"/>
            <a:ext cx="7056617" cy="517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86"/>
              </a:lnSpc>
              <a:spcBef>
                <a:spcPct val="0"/>
              </a:spcBef>
            </a:pPr>
            <a:r>
              <a:rPr lang="en-US" sz="149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Policy: Below 0.35 → Manual Review | 0.35–0.60 → Standard Review | Above 0.60 → Fast Track Approval.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077189"/>
            <a:ext cx="8619547" cy="463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8"/>
              </a:lnSpc>
              <a:spcBef>
                <a:spcPct val="0"/>
              </a:spcBef>
            </a:pPr>
            <a:r>
              <a:rPr lang="en-US" sz="2606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SHAP DEPENDENCE PLOTS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850657"/>
            <a:ext cx="7944470" cy="927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54"/>
              </a:lnSpc>
              <a:spcBef>
                <a:spcPct val="0"/>
              </a:spcBef>
            </a:pPr>
            <a:r>
              <a:rPr lang="en-US" sz="2610" b="1" u="none" strike="noStrike">
                <a:solidFill>
                  <a:srgbClr val="C990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THRESHOLD EFFECTS — WHERE RISK CHANGES DRAMATICALLY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3209301"/>
            <a:ext cx="7708665" cy="62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spc="-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EXT_SOURCE_2 and EXT_SOURCE_3 show clear threshold effects on default probability. Below 0.35, risk rises sharply — triggering manual review. These thresholds form the basis of the lending policy framework.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66901" y="1314240"/>
            <a:ext cx="9154198" cy="767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73"/>
              </a:lnSpc>
              <a:spcBef>
                <a:spcPct val="0"/>
              </a:spcBef>
            </a:pPr>
            <a:r>
              <a:rPr lang="en-US" sz="4266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BUSINESS RECOMMENDATIONS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362290" y="2087708"/>
            <a:ext cx="11563420" cy="767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77"/>
              </a:lnSpc>
              <a:spcBef>
                <a:spcPct val="0"/>
              </a:spcBef>
            </a:pPr>
            <a:r>
              <a:rPr lang="en-US" sz="4269" b="1" u="none" strike="noStrike">
                <a:solidFill>
                  <a:srgbClr val="C990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FROM MODEL INSIGHTS TO LENDING POLICY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067830" y="3484452"/>
            <a:ext cx="12152341" cy="1259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91"/>
              </a:lnSpc>
              <a:spcBef>
                <a:spcPct val="0"/>
              </a:spcBef>
            </a:pPr>
            <a:r>
              <a:rPr lang="en-US" sz="1779" spc="-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Credit Score Threshold: Applicants with EXT_SOURCE_2 below 0.35 should be flagged for manual review. This single feature is the strongest predictor of default and should anchor all risk-based lending decisions.</a:t>
            </a:r>
          </a:p>
          <a:p>
            <a:pPr marL="0" lvl="0" indent="0" algn="ctr">
              <a:lnSpc>
                <a:spcPts val="2491"/>
              </a:lnSpc>
              <a:spcBef>
                <a:spcPct val="0"/>
              </a:spcBef>
            </a:pPr>
            <a:r>
              <a:rPr lang="en-US" sz="1779" spc="-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Annuity-to-Income Cap: Reject or escalate applications where annuity-to-income ratio exceeds policy threshold. High repayment burden relative to income is a consistent driver of default across all model iterations.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067830" y="5213901"/>
            <a:ext cx="12152341" cy="1259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91"/>
              </a:lnSpc>
              <a:spcBef>
                <a:spcPct val="0"/>
              </a:spcBef>
            </a:pPr>
            <a:r>
              <a:rPr lang="en-US" sz="1779" spc="-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Payment History Screening: Applicants with INST_PCT_LATE above threshold should receive enhanced scrutiny. Late payment patterns are the strongest behavioural signal of future default risk identified in the data.</a:t>
            </a:r>
          </a:p>
          <a:p>
            <a:pPr marL="0" lvl="0" indent="0" algn="ctr">
              <a:lnSpc>
                <a:spcPts val="2491"/>
              </a:lnSpc>
              <a:spcBef>
                <a:spcPct val="0"/>
              </a:spcBef>
            </a:pPr>
            <a:r>
              <a:rPr lang="en-US" sz="1779" spc="-3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Age-Based Risk Adjustment: Apply stricter criteria for applicants aged 20-25, who default at nearly twice the average rate. Consider reduced credit limits or additional income verification for this segment.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95528" y="7160811"/>
            <a:ext cx="7238440" cy="762536"/>
            <a:chOff x="0" y="0"/>
            <a:chExt cx="3857789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857789" cy="406400"/>
            </a:xfrm>
            <a:custGeom>
              <a:avLst/>
              <a:gdLst/>
              <a:ahLst/>
              <a:cxnLst/>
              <a:rect l="l" t="t" r="r" b="b"/>
              <a:pathLst>
                <a:path w="3857789" h="406400">
                  <a:moveTo>
                    <a:pt x="3654589" y="0"/>
                  </a:moveTo>
                  <a:cubicBezTo>
                    <a:pt x="3766814" y="0"/>
                    <a:pt x="3857789" y="90976"/>
                    <a:pt x="3857789" y="203200"/>
                  </a:cubicBezTo>
                  <a:cubicBezTo>
                    <a:pt x="3857789" y="315424"/>
                    <a:pt x="3766814" y="406400"/>
                    <a:pt x="365458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D7B6A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85778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454033" y="7160811"/>
            <a:ext cx="7238440" cy="762536"/>
            <a:chOff x="0" y="0"/>
            <a:chExt cx="3857789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857789" cy="406400"/>
            </a:xfrm>
            <a:custGeom>
              <a:avLst/>
              <a:gdLst/>
              <a:ahLst/>
              <a:cxnLst/>
              <a:rect l="l" t="t" r="r" b="b"/>
              <a:pathLst>
                <a:path w="3857789" h="406400">
                  <a:moveTo>
                    <a:pt x="3654589" y="0"/>
                  </a:moveTo>
                  <a:cubicBezTo>
                    <a:pt x="3766814" y="0"/>
                    <a:pt x="3857789" y="90976"/>
                    <a:pt x="3857789" y="203200"/>
                  </a:cubicBezTo>
                  <a:cubicBezTo>
                    <a:pt x="3857789" y="315424"/>
                    <a:pt x="3766814" y="406400"/>
                    <a:pt x="365458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D7B6A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85778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95528" y="8124499"/>
            <a:ext cx="7238440" cy="762536"/>
            <a:chOff x="0" y="0"/>
            <a:chExt cx="3857789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857789" cy="406400"/>
            </a:xfrm>
            <a:custGeom>
              <a:avLst/>
              <a:gdLst/>
              <a:ahLst/>
              <a:cxnLst/>
              <a:rect l="l" t="t" r="r" b="b"/>
              <a:pathLst>
                <a:path w="3857789" h="406400">
                  <a:moveTo>
                    <a:pt x="3654589" y="0"/>
                  </a:moveTo>
                  <a:cubicBezTo>
                    <a:pt x="3766814" y="0"/>
                    <a:pt x="3857789" y="90976"/>
                    <a:pt x="3857789" y="203200"/>
                  </a:cubicBezTo>
                  <a:cubicBezTo>
                    <a:pt x="3857789" y="315424"/>
                    <a:pt x="3766814" y="406400"/>
                    <a:pt x="365458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D7B6A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85778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54033" y="8124499"/>
            <a:ext cx="7238440" cy="762536"/>
            <a:chOff x="0" y="0"/>
            <a:chExt cx="3857789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57789" cy="406400"/>
            </a:xfrm>
            <a:custGeom>
              <a:avLst/>
              <a:gdLst/>
              <a:ahLst/>
              <a:cxnLst/>
              <a:rect l="l" t="t" r="r" b="b"/>
              <a:pathLst>
                <a:path w="3857789" h="406400">
                  <a:moveTo>
                    <a:pt x="3654589" y="0"/>
                  </a:moveTo>
                  <a:cubicBezTo>
                    <a:pt x="3766814" y="0"/>
                    <a:pt x="3857789" y="90976"/>
                    <a:pt x="3857789" y="203200"/>
                  </a:cubicBezTo>
                  <a:cubicBezTo>
                    <a:pt x="3857789" y="315424"/>
                    <a:pt x="3766814" y="406400"/>
                    <a:pt x="365458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D7B6A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85778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595528" y="7199330"/>
            <a:ext cx="7238440" cy="592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06"/>
              </a:lnSpc>
              <a:spcBef>
                <a:spcPct val="0"/>
              </a:spcBef>
            </a:pPr>
            <a:r>
              <a:rPr lang="en-US" sz="329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Credit Score Threshold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54033" y="7199330"/>
            <a:ext cx="7238440" cy="592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06"/>
              </a:lnSpc>
              <a:spcBef>
                <a:spcPct val="0"/>
              </a:spcBef>
            </a:pPr>
            <a:r>
              <a:rPr lang="en-US" sz="329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Annuity-to-Income Cap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95528" y="8163019"/>
            <a:ext cx="7238440" cy="592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06"/>
              </a:lnSpc>
              <a:spcBef>
                <a:spcPct val="0"/>
              </a:spcBef>
            </a:pPr>
            <a:r>
              <a:rPr lang="en-US" sz="329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Age-Based Risk Adjustment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54033" y="8163019"/>
            <a:ext cx="7238440" cy="592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06"/>
              </a:lnSpc>
              <a:spcBef>
                <a:spcPct val="0"/>
              </a:spcBef>
            </a:pPr>
            <a:r>
              <a:rPr lang="en-US" sz="329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Model Monitoring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3810000"/>
            <a:ext cx="16459200" cy="5715000"/>
            <a:chOff x="0" y="0"/>
            <a:chExt cx="4334933" cy="15051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34933" cy="1505185"/>
            </a:xfrm>
            <a:custGeom>
              <a:avLst/>
              <a:gdLst/>
              <a:ahLst/>
              <a:cxnLst/>
              <a:rect l="l" t="t" r="r" b="b"/>
              <a:pathLst>
                <a:path w="4334933" h="1505185">
                  <a:moveTo>
                    <a:pt x="15052" y="0"/>
                  </a:moveTo>
                  <a:lnTo>
                    <a:pt x="4319882" y="0"/>
                  </a:lnTo>
                  <a:cubicBezTo>
                    <a:pt x="4328194" y="0"/>
                    <a:pt x="4334933" y="6739"/>
                    <a:pt x="4334933" y="15052"/>
                  </a:cubicBezTo>
                  <a:lnTo>
                    <a:pt x="4334933" y="1490133"/>
                  </a:lnTo>
                  <a:cubicBezTo>
                    <a:pt x="4334933" y="1498446"/>
                    <a:pt x="4328194" y="1505185"/>
                    <a:pt x="4319882" y="1505185"/>
                  </a:cubicBezTo>
                  <a:lnTo>
                    <a:pt x="15052" y="1505185"/>
                  </a:lnTo>
                  <a:cubicBezTo>
                    <a:pt x="6739" y="1505185"/>
                    <a:pt x="0" y="1498446"/>
                    <a:pt x="0" y="1490133"/>
                  </a:cubicBezTo>
                  <a:lnTo>
                    <a:pt x="0" y="15052"/>
                  </a:lnTo>
                  <a:cubicBezTo>
                    <a:pt x="0" y="6739"/>
                    <a:pt x="6739" y="0"/>
                    <a:pt x="15052" y="0"/>
                  </a:cubicBezTo>
                  <a:close/>
                </a:path>
              </a:pathLst>
            </a:custGeom>
            <a:solidFill>
              <a:srgbClr val="1B3A6B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34933" cy="15432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286000" y="3962400"/>
            <a:ext cx="6858000" cy="676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20"/>
              </a:lnSpc>
              <a:spcBef>
                <a:spcPct val="0"/>
              </a:spcBef>
            </a:pPr>
            <a:r>
              <a:rPr lang="en-US" sz="130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Non-Kenyan Dataset — Trained on Home Credit data, not local Kenyan lending data.</a:t>
            </a:r>
          </a:p>
          <a:p>
            <a:pPr marL="0" lvl="0" indent="0" algn="l">
              <a:lnSpc>
                <a:spcPts val="1820"/>
              </a:lnSpc>
              <a:spcBef>
                <a:spcPct val="0"/>
              </a:spcBef>
            </a:pPr>
            <a:r>
              <a:rPr lang="en-US" sz="130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Mitigation: Retrain on Kenyan data once labeled dataset is available.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5400" y="3943350"/>
            <a:ext cx="1066015" cy="34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44"/>
              </a:lnSpc>
              <a:spcBef>
                <a:spcPct val="0"/>
              </a:spcBef>
            </a:pPr>
            <a:r>
              <a:rPr lang="en-US" sz="1960" b="1" u="none" strike="noStrike">
                <a:solidFill>
                  <a:srgbClr val="C9902A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95400" y="4800600"/>
            <a:ext cx="1066015" cy="34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44"/>
              </a:lnSpc>
              <a:spcBef>
                <a:spcPct val="0"/>
              </a:spcBef>
            </a:pPr>
            <a:r>
              <a:rPr lang="en-US" sz="1960" b="1" u="none" strike="noStrike">
                <a:solidFill>
                  <a:srgbClr val="C9902A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86000" y="4819650"/>
            <a:ext cx="6858000" cy="676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20"/>
              </a:lnSpc>
              <a:spcBef>
                <a:spcPct val="0"/>
              </a:spcBef>
            </a:pPr>
            <a:r>
              <a:rPr lang="en-US" sz="130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Low Precision — 15% precision means many false positives; good borrowers flagged.</a:t>
            </a:r>
          </a:p>
          <a:p>
            <a:pPr marL="0" lvl="0" indent="0" algn="l">
              <a:lnSpc>
                <a:spcPts val="1820"/>
              </a:lnSpc>
              <a:spcBef>
                <a:spcPct val="0"/>
              </a:spcBef>
            </a:pPr>
            <a:r>
              <a:rPr lang="en-US" sz="130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Mitigation: Use risk tiers and manual review for borderline cases.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1077189"/>
            <a:ext cx="8619547" cy="463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8"/>
              </a:lnSpc>
              <a:spcBef>
                <a:spcPct val="0"/>
              </a:spcBef>
            </a:pPr>
            <a:r>
              <a:rPr lang="en-US" sz="2606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LIMITATIONS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850657"/>
            <a:ext cx="7944470" cy="927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54"/>
              </a:lnSpc>
              <a:spcBef>
                <a:spcPct val="0"/>
              </a:spcBef>
            </a:pPr>
            <a:r>
              <a:rPr lang="en-US" sz="2610" b="1" u="none" strike="noStrike">
                <a:solidFill>
                  <a:srgbClr val="C990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WHAT THIS MODEL CANNOT DO — HONEST BOUNDARIES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209301"/>
            <a:ext cx="7708665" cy="41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spc="-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following limitations are acknowledged transparently. Each has a corresponding mitigation strategy to guide responsible deployment and future improvement.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15600" y="4819650"/>
            <a:ext cx="6858000" cy="919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299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Third-Party Credit Bureau Dependence</a:t>
            </a:r>
            <a:r>
              <a:rPr lang="en-US" sz="1299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— EXT_SOURCE features are external scores.</a:t>
            </a:r>
          </a:p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Mitigation: Build internal behavioral scoring as fallback; reduce reliance on single source.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25000" y="4800600"/>
            <a:ext cx="952500" cy="350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43"/>
              </a:lnSpc>
              <a:spcBef>
                <a:spcPct val="0"/>
              </a:spcBef>
            </a:pPr>
            <a:r>
              <a:rPr lang="en-US" sz="1959" b="1" u="none" strike="noStrike">
                <a:solidFill>
                  <a:srgbClr val="C9902A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515600" y="3962400"/>
            <a:ext cx="6858000" cy="46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299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Fairness Concerns</a:t>
            </a:r>
            <a:r>
              <a:rPr lang="en-US" sz="1299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— Gender and age features may introduce bias.</a:t>
            </a:r>
          </a:p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Mitigation: Conduct fairness audits; test disparate impact across protected groups.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25000" y="3943350"/>
            <a:ext cx="952500" cy="350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43"/>
              </a:lnSpc>
              <a:spcBef>
                <a:spcPct val="0"/>
              </a:spcBef>
            </a:pPr>
            <a:r>
              <a:rPr lang="en-US" sz="1959" b="1" u="none" strike="noStrike">
                <a:solidFill>
                  <a:srgbClr val="C9902A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86000" y="6534150"/>
            <a:ext cx="6858000" cy="690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299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Synthetic SMOTE Data</a:t>
            </a:r>
            <a:r>
              <a:rPr lang="en-US" sz="1299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— Oversampling may introduce artificial patterns.</a:t>
            </a:r>
          </a:p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Mitigation: Validate on original unsampled test set; compare with cost-sensitive learning.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95400" y="6515100"/>
            <a:ext cx="952500" cy="350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43"/>
              </a:lnSpc>
              <a:spcBef>
                <a:spcPct val="0"/>
              </a:spcBef>
            </a:pPr>
            <a:r>
              <a:rPr lang="en-US" sz="1959" b="1" u="none" strike="noStrike">
                <a:solidFill>
                  <a:srgbClr val="C9902A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86000" y="5676900"/>
            <a:ext cx="6858000" cy="46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299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Model Drift</a:t>
            </a:r>
            <a:r>
              <a:rPr lang="en-US" sz="1299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— Borrower behavior changes over time; model accuracy degrades.</a:t>
            </a:r>
          </a:p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Mitigation: Schedule quarterly retraining and monitor prediction distributions.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95400" y="5657850"/>
            <a:ext cx="952500" cy="350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43"/>
              </a:lnSpc>
              <a:spcBef>
                <a:spcPct val="0"/>
              </a:spcBef>
            </a:pPr>
            <a:r>
              <a:rPr lang="en-US" sz="1959" b="1" u="none" strike="noStrike">
                <a:solidFill>
                  <a:srgbClr val="C9902A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66901" y="1276140"/>
            <a:ext cx="9154198" cy="1018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24"/>
              </a:lnSpc>
              <a:spcBef>
                <a:spcPct val="0"/>
              </a:spcBef>
            </a:pPr>
            <a:r>
              <a:rPr lang="en-US" sz="5660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WHAT WE BUILT —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362290" y="2049608"/>
            <a:ext cx="11563420" cy="1018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24"/>
              </a:lnSpc>
              <a:spcBef>
                <a:spcPct val="0"/>
              </a:spcBef>
            </a:pPr>
            <a:r>
              <a:rPr lang="en-US" sz="5660" b="1" u="none" strike="noStrike">
                <a:solidFill>
                  <a:srgbClr val="C990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AND WHAT IT MEANS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067830" y="3484452"/>
            <a:ext cx="12152341" cy="965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06"/>
              </a:lnSpc>
              <a:spcBef>
                <a:spcPct val="0"/>
              </a:spcBef>
            </a:pPr>
            <a:r>
              <a:rPr lang="en-US" sz="1362" spc="-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SUMMARY  |  XGBoost Balanced — Champion Model</a:t>
            </a:r>
          </a:p>
          <a:p>
            <a:pPr marL="0" lvl="0" indent="0" algn="ctr">
              <a:lnSpc>
                <a:spcPts val="1906"/>
              </a:lnSpc>
              <a:spcBef>
                <a:spcPct val="0"/>
              </a:spcBef>
            </a:pPr>
            <a:r>
              <a:rPr lang="en-US" sz="1362" spc="-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✦ 5 Datasets Merged   ✦ 147 Features Engineered   ✦ 6 Custom Features Built</a:t>
            </a:r>
          </a:p>
          <a:p>
            <a:pPr marL="0" lvl="0" indent="0" algn="ctr">
              <a:lnSpc>
                <a:spcPts val="1906"/>
              </a:lnSpc>
              <a:spcBef>
                <a:spcPct val="0"/>
              </a:spcBef>
            </a:pPr>
            <a:r>
              <a:rPr lang="en-US" sz="1362" spc="-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✦ 3 Models Compared   ✦ SHAP Explainability Applied   ✦ 5-Fold Cross-Validation</a:t>
            </a:r>
          </a:p>
          <a:p>
            <a:pPr marL="0" lvl="0" indent="0" algn="ctr">
              <a:lnSpc>
                <a:spcPts val="1906"/>
              </a:lnSpc>
              <a:spcBef>
                <a:spcPct val="0"/>
              </a:spcBef>
            </a:pPr>
            <a:r>
              <a:rPr lang="en-US" sz="1362" spc="-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Results: 76/100 Defaulters Caught  |  ROC-AUC: 0.7609  |  Recall: 76.5%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067830" y="5213901"/>
            <a:ext cx="12152341" cy="144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06"/>
              </a:lnSpc>
              <a:spcBef>
                <a:spcPct val="0"/>
              </a:spcBef>
            </a:pPr>
            <a:r>
              <a:rPr lang="en-US" sz="1362" spc="-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NEXT STEPS</a:t>
            </a:r>
          </a:p>
          <a:p>
            <a:pPr marL="0" lvl="0" indent="0" algn="ctr">
              <a:lnSpc>
                <a:spcPts val="1906"/>
              </a:lnSpc>
              <a:spcBef>
                <a:spcPct val="0"/>
              </a:spcBef>
            </a:pPr>
            <a:r>
              <a:rPr lang="en-US" sz="1362" spc="-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▶ Retrain on Kenyan-specific lending data for local market accuracy</a:t>
            </a:r>
          </a:p>
          <a:p>
            <a:pPr marL="0" lvl="0" indent="0" algn="ctr">
              <a:lnSpc>
                <a:spcPts val="1906"/>
              </a:lnSpc>
              <a:spcBef>
                <a:spcPct val="0"/>
              </a:spcBef>
            </a:pPr>
            <a:r>
              <a:rPr lang="en-US" sz="1362" spc="-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▶ Build Flask API to deploy model into live credit scoring pipeline</a:t>
            </a:r>
          </a:p>
          <a:p>
            <a:pPr marL="0" lvl="0" indent="0" algn="ctr">
              <a:lnSpc>
                <a:spcPts val="1906"/>
              </a:lnSpc>
              <a:spcBef>
                <a:spcPct val="0"/>
              </a:spcBef>
            </a:pPr>
            <a:r>
              <a:rPr lang="en-US" sz="1362" spc="-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▶ Create interactive SHAP dashboard for loan officers and risk managers</a:t>
            </a:r>
          </a:p>
          <a:p>
            <a:pPr marL="0" lvl="0" indent="0" algn="ctr">
              <a:lnSpc>
                <a:spcPts val="1906"/>
              </a:lnSpc>
              <a:spcBef>
                <a:spcPct val="0"/>
              </a:spcBef>
            </a:pPr>
            <a:r>
              <a:rPr lang="en-US" sz="1362" spc="-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▶ Conduct A/B testing against current manual approval process</a:t>
            </a:r>
          </a:p>
          <a:p>
            <a:pPr marL="0" lvl="0" indent="0" algn="ctr">
              <a:lnSpc>
                <a:spcPts val="1906"/>
              </a:lnSpc>
              <a:spcBef>
                <a:spcPct val="0"/>
              </a:spcBef>
            </a:pPr>
            <a:r>
              <a:rPr lang="en-US" sz="1362" spc="-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GitHub: KimutaiHub  |  Moringa School Phase 4  |  Kimutai Kevine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95528" y="7160811"/>
            <a:ext cx="7238440" cy="762536"/>
            <a:chOff x="0" y="0"/>
            <a:chExt cx="3857789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857789" cy="406400"/>
            </a:xfrm>
            <a:custGeom>
              <a:avLst/>
              <a:gdLst/>
              <a:ahLst/>
              <a:cxnLst/>
              <a:rect l="l" t="t" r="r" b="b"/>
              <a:pathLst>
                <a:path w="3857789" h="406400">
                  <a:moveTo>
                    <a:pt x="3654589" y="0"/>
                  </a:moveTo>
                  <a:cubicBezTo>
                    <a:pt x="3766814" y="0"/>
                    <a:pt x="3857789" y="90976"/>
                    <a:pt x="3857789" y="203200"/>
                  </a:cubicBezTo>
                  <a:cubicBezTo>
                    <a:pt x="3857789" y="315424"/>
                    <a:pt x="3766814" y="406400"/>
                    <a:pt x="365458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D7B6A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85778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454033" y="7160811"/>
            <a:ext cx="7238440" cy="762536"/>
            <a:chOff x="0" y="0"/>
            <a:chExt cx="3857789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857789" cy="406400"/>
            </a:xfrm>
            <a:custGeom>
              <a:avLst/>
              <a:gdLst/>
              <a:ahLst/>
              <a:cxnLst/>
              <a:rect l="l" t="t" r="r" b="b"/>
              <a:pathLst>
                <a:path w="3857789" h="406400">
                  <a:moveTo>
                    <a:pt x="3654589" y="0"/>
                  </a:moveTo>
                  <a:cubicBezTo>
                    <a:pt x="3766814" y="0"/>
                    <a:pt x="3857789" y="90976"/>
                    <a:pt x="3857789" y="203200"/>
                  </a:cubicBezTo>
                  <a:cubicBezTo>
                    <a:pt x="3857789" y="315424"/>
                    <a:pt x="3766814" y="406400"/>
                    <a:pt x="365458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D7B6A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85778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95528" y="8124499"/>
            <a:ext cx="7238440" cy="762536"/>
            <a:chOff x="0" y="0"/>
            <a:chExt cx="3857789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857789" cy="406400"/>
            </a:xfrm>
            <a:custGeom>
              <a:avLst/>
              <a:gdLst/>
              <a:ahLst/>
              <a:cxnLst/>
              <a:rect l="l" t="t" r="r" b="b"/>
              <a:pathLst>
                <a:path w="3857789" h="406400">
                  <a:moveTo>
                    <a:pt x="3654589" y="0"/>
                  </a:moveTo>
                  <a:cubicBezTo>
                    <a:pt x="3766814" y="0"/>
                    <a:pt x="3857789" y="90976"/>
                    <a:pt x="3857789" y="203200"/>
                  </a:cubicBezTo>
                  <a:cubicBezTo>
                    <a:pt x="3857789" y="315424"/>
                    <a:pt x="3766814" y="406400"/>
                    <a:pt x="365458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D7B6A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85778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54033" y="8124499"/>
            <a:ext cx="7238440" cy="762536"/>
            <a:chOff x="0" y="0"/>
            <a:chExt cx="3857789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57789" cy="406400"/>
            </a:xfrm>
            <a:custGeom>
              <a:avLst/>
              <a:gdLst/>
              <a:ahLst/>
              <a:cxnLst/>
              <a:rect l="l" t="t" r="r" b="b"/>
              <a:pathLst>
                <a:path w="3857789" h="406400">
                  <a:moveTo>
                    <a:pt x="3654589" y="0"/>
                  </a:moveTo>
                  <a:cubicBezTo>
                    <a:pt x="3766814" y="0"/>
                    <a:pt x="3857789" y="90976"/>
                    <a:pt x="3857789" y="203200"/>
                  </a:cubicBezTo>
                  <a:cubicBezTo>
                    <a:pt x="3857789" y="315424"/>
                    <a:pt x="3766814" y="406400"/>
                    <a:pt x="365458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D7B6A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85778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595528" y="7199330"/>
            <a:ext cx="7238440" cy="592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06"/>
              </a:lnSpc>
              <a:spcBef>
                <a:spcPct val="0"/>
              </a:spcBef>
            </a:pPr>
            <a:r>
              <a:rPr lang="en-US" sz="329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76/100 Defaulters Caught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54033" y="7199330"/>
            <a:ext cx="7238440" cy="592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06"/>
              </a:lnSpc>
              <a:spcBef>
                <a:spcPct val="0"/>
              </a:spcBef>
            </a:pPr>
            <a:r>
              <a:rPr lang="en-US" sz="329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0.7609 ROC-AUC Score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95528" y="8163019"/>
            <a:ext cx="7238440" cy="592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06"/>
              </a:lnSpc>
              <a:spcBef>
                <a:spcPct val="0"/>
              </a:spcBef>
            </a:pPr>
            <a:r>
              <a:rPr lang="en-US" sz="329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147 Features | 5 Datasets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54033" y="8163019"/>
            <a:ext cx="7238440" cy="592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06"/>
              </a:lnSpc>
              <a:spcBef>
                <a:spcPct val="0"/>
              </a:spcBef>
            </a:pPr>
            <a:r>
              <a:rPr lang="en-US" sz="329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XGBoost Balanced Champion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192709" y="3108256"/>
            <a:ext cx="9173073" cy="1395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751"/>
              </a:lnSpc>
              <a:spcBef>
                <a:spcPct val="0"/>
              </a:spcBef>
            </a:pPr>
            <a:r>
              <a:rPr lang="en-US" sz="767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192709" y="4191019"/>
            <a:ext cx="8587664" cy="673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64"/>
              </a:lnSpc>
              <a:spcBef>
                <a:spcPct val="0"/>
              </a:spcBef>
            </a:pPr>
            <a:r>
              <a:rPr lang="en-US" sz="376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 Your Attention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192709" y="5862303"/>
            <a:ext cx="5088124" cy="310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3"/>
              </a:lnSpc>
              <a:spcBef>
                <a:spcPct val="0"/>
              </a:spcBef>
            </a:pPr>
            <a:r>
              <a:rPr lang="en-US" sz="1759" b="1" u="none" strike="noStrike">
                <a:solidFill>
                  <a:srgbClr val="C9902A"/>
                </a:solidFill>
                <a:latin typeface="Poppins Bold"/>
                <a:ea typeface="Poppins Bold"/>
                <a:cs typeface="Poppins Bold"/>
                <a:sym typeface="Poppins Bold"/>
              </a:rPr>
              <a:t>EXPLAINABLE LOAN DEFAULT RISK PREDICTION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192709" y="8849986"/>
            <a:ext cx="4011367" cy="283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26"/>
              </a:lnSpc>
              <a:spcBef>
                <a:spcPct val="0"/>
              </a:spcBef>
            </a:pPr>
            <a:r>
              <a:rPr lang="en-US" sz="1589" b="1" u="none" strike="noStrike">
                <a:solidFill>
                  <a:srgbClr val="C9902A"/>
                </a:solidFill>
                <a:latin typeface="Poppins Bold"/>
                <a:ea typeface="Poppins Bold"/>
                <a:cs typeface="Poppins Bold"/>
                <a:sym typeface="Poppins Bold"/>
              </a:rPr>
              <a:t>github.com/KimutaiHub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192709" y="8406238"/>
            <a:ext cx="4011367" cy="233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52"/>
              </a:lnSpc>
              <a:spcBef>
                <a:spcPct val="0"/>
              </a:spcBef>
            </a:pPr>
            <a:r>
              <a:rPr lang="en-US" sz="13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GitHub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465368" y="8849986"/>
            <a:ext cx="4315005" cy="268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26"/>
              </a:lnSpc>
              <a:spcBef>
                <a:spcPct val="0"/>
              </a:spcBef>
            </a:pPr>
            <a:r>
              <a:rPr lang="en-US" sz="1589" b="1" u="none" strike="noStrike" dirty="0">
                <a:solidFill>
                  <a:srgbClr val="C9902A"/>
                </a:solidFill>
                <a:latin typeface="Poppins Bold"/>
                <a:ea typeface="Poppins Bold"/>
                <a:cs typeface="Poppins Bold"/>
                <a:sym typeface="Poppins Bold"/>
              </a:rPr>
              <a:t>Kimutai Kevine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465368" y="8406238"/>
            <a:ext cx="4315005" cy="233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52"/>
              </a:lnSpc>
              <a:spcBef>
                <a:spcPct val="0"/>
              </a:spcBef>
            </a:pPr>
            <a:r>
              <a:rPr lang="en-US" sz="132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2177</Words>
  <Application>Microsoft Office PowerPoint</Application>
  <PresentationFormat>Custom</PresentationFormat>
  <Paragraphs>216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Poppins Italics</vt:lpstr>
      <vt:lpstr>Arial</vt:lpstr>
      <vt:lpstr>Poppins</vt:lpstr>
      <vt:lpstr>Calibri</vt:lpstr>
      <vt:lpstr>Poppins Bold</vt:lpstr>
      <vt:lpstr>Poppins Semi-Bold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Loan Default Risk Prediction</dc:title>
  <cp:lastModifiedBy>Kimtai K</cp:lastModifiedBy>
  <cp:revision>2</cp:revision>
  <dcterms:created xsi:type="dcterms:W3CDTF">2006-08-16T00:00:00Z</dcterms:created>
  <dcterms:modified xsi:type="dcterms:W3CDTF">2026-06-16T20:27:25Z</dcterms:modified>
  <dc:identifier>DAHMw1Ol4U0</dc:identifier>
</cp:coreProperties>
</file>