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rdo Italics" panose="020B0604020202020204" charset="-79"/>
      <p:regular r:id="rId14"/>
    </p:embeddedFont>
    <p:embeddedFont>
      <p:font typeface="Gilda Display" panose="020B0604020202020204" charset="0"/>
      <p:regular r:id="rId15"/>
    </p:embeddedFont>
    <p:embeddedFont>
      <p:font typeface="IBM Plex Mono" panose="020B0509050203000203" pitchFamily="49" charset="0"/>
      <p:regular r:id="rId16"/>
    </p:embeddedFont>
    <p:embeddedFont>
      <p:font typeface="IBM Plex Mono Bold" panose="020B0604020202020204" charset="0"/>
      <p:regular r:id="rId17"/>
    </p:embeddedFont>
    <p:embeddedFont>
      <p:font typeface="Marcellus" panose="020B0604020202020204" charset="0"/>
      <p:regular r:id="rId18"/>
    </p:embeddedFont>
    <p:embeddedFont>
      <p:font typeface="Open Sans" panose="020B0606030504020204" pitchFamily="34" charset="0"/>
      <p:regular r:id="rId19"/>
    </p:embeddedFont>
    <p:embeddedFont>
      <p:font typeface="Open San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38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000250" y="2181225"/>
            <a:ext cx="14287500" cy="1304925"/>
          </a:xfrm>
          <a:prstGeom prst="rect">
            <a:avLst/>
          </a:prstGeom>
        </p:spPr>
        <p:txBody>
          <a:bodyPr lIns="0" tIns="0" rIns="0" bIns="0" rtlCol="0" anchor="t">
            <a:spAutoFit/>
          </a:bodyPr>
          <a:lstStyle/>
          <a:p>
            <a:pPr marL="0" lvl="0" indent="0" algn="ctr">
              <a:lnSpc>
                <a:spcPts val="5199"/>
              </a:lnSpc>
              <a:spcBef>
                <a:spcPct val="0"/>
              </a:spcBef>
            </a:pPr>
            <a:r>
              <a:rPr lang="en-US" sz="3999" u="none" strike="noStrike" dirty="0">
                <a:solidFill>
                  <a:srgbClr val="FFFFFF"/>
                </a:solidFill>
                <a:latin typeface="Marcellus"/>
                <a:ea typeface="Marcellus"/>
                <a:cs typeface="Marcellus"/>
                <a:sym typeface="Marcellus"/>
              </a:rPr>
              <a:t>Explainable Loan Default Risk Prediction</a:t>
            </a:r>
          </a:p>
          <a:p>
            <a:pPr marL="0" lvl="0" indent="0" algn="ctr">
              <a:lnSpc>
                <a:spcPts val="5199"/>
              </a:lnSpc>
              <a:spcBef>
                <a:spcPct val="0"/>
              </a:spcBef>
            </a:pPr>
            <a:r>
              <a:rPr lang="en-US" sz="3999" u="none" strike="noStrike" dirty="0">
                <a:solidFill>
                  <a:srgbClr val="FFFFFF"/>
                </a:solidFill>
                <a:latin typeface="Marcellus"/>
                <a:ea typeface="Marcellus"/>
                <a:cs typeface="Marcellus"/>
                <a:sym typeface="Marcellus"/>
              </a:rPr>
              <a:t>Using Machine Learning</a:t>
            </a:r>
          </a:p>
        </p:txBody>
      </p:sp>
      <p:sp>
        <p:nvSpPr>
          <p:cNvPr id="3" name="TextBox 3"/>
          <p:cNvSpPr txBox="1"/>
          <p:nvPr/>
        </p:nvSpPr>
        <p:spPr>
          <a:xfrm>
            <a:off x="3429000" y="3750673"/>
            <a:ext cx="11430000" cy="771173"/>
          </a:xfrm>
          <a:prstGeom prst="rect">
            <a:avLst/>
          </a:prstGeom>
        </p:spPr>
        <p:txBody>
          <a:bodyPr lIns="0" tIns="0" rIns="0" bIns="0" rtlCol="0" anchor="t">
            <a:spAutoFit/>
          </a:bodyPr>
          <a:lstStyle/>
          <a:p>
            <a:pPr algn="ctr">
              <a:lnSpc>
                <a:spcPts val="3079"/>
              </a:lnSpc>
              <a:spcBef>
                <a:spcPct val="0"/>
              </a:spcBef>
            </a:pPr>
            <a:r>
              <a:rPr lang="en-US" sz="2199" i="1" u="none" strike="noStrike" dirty="0">
                <a:solidFill>
                  <a:srgbClr val="C9902A"/>
                </a:solidFill>
                <a:latin typeface="Marcellus"/>
                <a:ea typeface="Marcellus"/>
                <a:cs typeface="Marcellus"/>
                <a:sym typeface="Marcellus"/>
              </a:rPr>
              <a:t>A Data-Driven Solution for Kenyan Lenders</a:t>
            </a:r>
            <a:endParaRPr lang="en-US" sz="2400" dirty="0">
              <a:solidFill>
                <a:srgbClr val="000000"/>
              </a:solidFill>
              <a:latin typeface="Gilda Display"/>
              <a:ea typeface="Gilda Display"/>
              <a:cs typeface="Gilda Display"/>
              <a:sym typeface="Gilda Display"/>
            </a:endParaRPr>
          </a:p>
          <a:p>
            <a:pPr marL="0" lvl="0" indent="0" algn="ctr">
              <a:lnSpc>
                <a:spcPts val="3079"/>
              </a:lnSpc>
              <a:spcBef>
                <a:spcPct val="0"/>
              </a:spcBef>
            </a:pPr>
            <a:endParaRPr lang="en-US" sz="2199" i="1" u="none" strike="noStrike" dirty="0">
              <a:solidFill>
                <a:srgbClr val="C9902A"/>
              </a:solidFill>
              <a:latin typeface="Marcellus"/>
              <a:ea typeface="Marcellus"/>
              <a:cs typeface="Marcellus"/>
              <a:sym typeface="Marcellus"/>
            </a:endParaRPr>
          </a:p>
        </p:txBody>
      </p:sp>
      <p:sp>
        <p:nvSpPr>
          <p:cNvPr id="4" name="TextBox 4"/>
          <p:cNvSpPr txBox="1"/>
          <p:nvPr/>
        </p:nvSpPr>
        <p:spPr>
          <a:xfrm>
            <a:off x="6286500" y="8610600"/>
            <a:ext cx="5715000" cy="589905"/>
          </a:xfrm>
          <a:prstGeom prst="rect">
            <a:avLst/>
          </a:prstGeom>
        </p:spPr>
        <p:txBody>
          <a:bodyPr lIns="0" tIns="0" rIns="0" bIns="0" rtlCol="0" anchor="t">
            <a:spAutoFit/>
          </a:bodyPr>
          <a:lstStyle/>
          <a:p>
            <a:pPr marL="0" lvl="0" indent="0" algn="ctr">
              <a:lnSpc>
                <a:spcPts val="2239"/>
              </a:lnSpc>
              <a:spcBef>
                <a:spcPct val="0"/>
              </a:spcBef>
            </a:pPr>
            <a:r>
              <a:rPr lang="en-US" sz="2800" u="none" strike="noStrike" dirty="0">
                <a:solidFill>
                  <a:srgbClr val="E2DDD5"/>
                </a:solidFill>
                <a:latin typeface="Marcellus" panose="020B0604020202020204" charset="0"/>
                <a:ea typeface="Open Sans"/>
                <a:cs typeface="Open Sans"/>
                <a:sym typeface="Open Sans"/>
              </a:rPr>
              <a:t>Kimutai Kevine</a:t>
            </a:r>
          </a:p>
          <a:p>
            <a:pPr marL="0" lvl="0" indent="0" algn="ctr">
              <a:lnSpc>
                <a:spcPts val="2239"/>
              </a:lnSpc>
              <a:spcBef>
                <a:spcPct val="0"/>
              </a:spcBef>
            </a:pPr>
            <a:r>
              <a:rPr lang="en-US" sz="2800" dirty="0">
                <a:solidFill>
                  <a:srgbClr val="E2DDD5"/>
                </a:solidFill>
                <a:latin typeface="Marcellus" panose="020B0604020202020204" charset="0"/>
                <a:ea typeface="Open Sans"/>
                <a:cs typeface="Open Sans"/>
                <a:sym typeface="Open Sans"/>
              </a:rPr>
              <a:t>	     </a:t>
            </a:r>
            <a:r>
              <a:rPr lang="en-US" sz="1600" dirty="0">
                <a:solidFill>
                  <a:srgbClr val="E2DDD5"/>
                </a:solidFill>
                <a:latin typeface="Marcellus" panose="020B0604020202020204" charset="0"/>
                <a:ea typeface="Open Sans"/>
                <a:cs typeface="Open Sans"/>
                <a:sym typeface="Open Sans"/>
              </a:rPr>
              <a:t>June 2026</a:t>
            </a:r>
            <a:endParaRPr lang="en-US" sz="1600" u="none" strike="noStrike" dirty="0">
              <a:solidFill>
                <a:srgbClr val="E2DDD5"/>
              </a:solidFill>
              <a:latin typeface="Marcellus" panose="020B0604020202020204" charset="0"/>
              <a:ea typeface="Open Sans"/>
              <a:cs typeface="Open Sans"/>
              <a:sym typeface="Open Sans"/>
            </a:endParaRPr>
          </a:p>
        </p:txBody>
      </p:sp>
      <p:sp>
        <p:nvSpPr>
          <p:cNvPr id="6" name="TextBox 6"/>
          <p:cNvSpPr txBox="1"/>
          <p:nvPr/>
        </p:nvSpPr>
        <p:spPr>
          <a:xfrm>
            <a:off x="3905250" y="5657850"/>
            <a:ext cx="2857500" cy="953135"/>
          </a:xfrm>
          <a:prstGeom prst="rect">
            <a:avLst/>
          </a:prstGeom>
        </p:spPr>
        <p:txBody>
          <a:bodyPr lIns="0" tIns="0" rIns="0" bIns="0" rtlCol="0" anchor="t">
            <a:spAutoFit/>
          </a:bodyPr>
          <a:lstStyle/>
          <a:p>
            <a:pPr marL="0" lvl="0" indent="0" algn="ctr">
              <a:lnSpc>
                <a:spcPts val="7840"/>
              </a:lnSpc>
              <a:spcBef>
                <a:spcPct val="0"/>
              </a:spcBef>
            </a:pPr>
            <a:r>
              <a:rPr lang="en-US" sz="5600" u="none" strike="noStrike">
                <a:solidFill>
                  <a:srgbClr val="C9902A"/>
                </a:solidFill>
                <a:latin typeface="IBM Plex Mono"/>
                <a:ea typeface="IBM Plex Mono"/>
                <a:cs typeface="IBM Plex Mono"/>
                <a:sym typeface="IBM Plex Mono"/>
              </a:rPr>
              <a:t>8%</a:t>
            </a:r>
          </a:p>
        </p:txBody>
      </p:sp>
      <p:sp>
        <p:nvSpPr>
          <p:cNvPr id="7" name="TextBox 7"/>
          <p:cNvSpPr txBox="1"/>
          <p:nvPr/>
        </p:nvSpPr>
        <p:spPr>
          <a:xfrm>
            <a:off x="2952750" y="6572250"/>
            <a:ext cx="4762500" cy="1128514"/>
          </a:xfrm>
          <a:prstGeom prst="rect">
            <a:avLst/>
          </a:prstGeom>
        </p:spPr>
        <p:txBody>
          <a:bodyPr lIns="0" tIns="0" rIns="0" bIns="0" rtlCol="0" anchor="t">
            <a:spAutoFit/>
          </a:bodyPr>
          <a:lstStyle/>
          <a:p>
            <a:pPr marL="0" lvl="0" indent="0" algn="ctr">
              <a:lnSpc>
                <a:spcPts val="2239"/>
              </a:lnSpc>
              <a:spcBef>
                <a:spcPct val="0"/>
              </a:spcBef>
            </a:pPr>
            <a:r>
              <a:rPr lang="en-US" sz="2000" u="none" strike="noStrike" dirty="0">
                <a:solidFill>
                  <a:srgbClr val="E2DDD5"/>
                </a:solidFill>
                <a:latin typeface="Marcellus" panose="020B0604020202020204" charset="0"/>
                <a:ea typeface="Open Sans"/>
                <a:cs typeface="Open Sans"/>
                <a:sym typeface="Open Sans"/>
              </a:rPr>
              <a:t>of applicants default — yet those defaults</a:t>
            </a:r>
          </a:p>
          <a:p>
            <a:pPr marL="0" lvl="0" indent="0" algn="ctr">
              <a:lnSpc>
                <a:spcPts val="2239"/>
              </a:lnSpc>
              <a:spcBef>
                <a:spcPct val="0"/>
              </a:spcBef>
            </a:pPr>
            <a:r>
              <a:rPr lang="en-US" sz="2000" u="none" strike="noStrike" dirty="0">
                <a:solidFill>
                  <a:srgbClr val="E2DDD5"/>
                </a:solidFill>
                <a:latin typeface="Marcellus" panose="020B0604020202020204" charset="0"/>
                <a:ea typeface="Open Sans"/>
                <a:cs typeface="Open Sans"/>
                <a:sym typeface="Open Sans"/>
              </a:rPr>
              <a:t>represent millions in financial losses annually</a:t>
            </a:r>
          </a:p>
        </p:txBody>
      </p:sp>
      <p:sp>
        <p:nvSpPr>
          <p:cNvPr id="8" name="TextBox 8"/>
          <p:cNvSpPr txBox="1"/>
          <p:nvPr/>
        </p:nvSpPr>
        <p:spPr>
          <a:xfrm>
            <a:off x="11049000" y="5657850"/>
            <a:ext cx="3810000" cy="953135"/>
          </a:xfrm>
          <a:prstGeom prst="rect">
            <a:avLst/>
          </a:prstGeom>
        </p:spPr>
        <p:txBody>
          <a:bodyPr lIns="0" tIns="0" rIns="0" bIns="0" rtlCol="0" anchor="t">
            <a:spAutoFit/>
          </a:bodyPr>
          <a:lstStyle/>
          <a:p>
            <a:pPr marL="0" lvl="0" indent="0" algn="ctr">
              <a:lnSpc>
                <a:spcPts val="7840"/>
              </a:lnSpc>
              <a:spcBef>
                <a:spcPct val="0"/>
              </a:spcBef>
            </a:pPr>
            <a:r>
              <a:rPr lang="en-US" sz="5600" u="none" strike="noStrike">
                <a:solidFill>
                  <a:srgbClr val="C9902A"/>
                </a:solidFill>
                <a:latin typeface="IBM Plex Mono"/>
                <a:ea typeface="IBM Plex Mono"/>
                <a:cs typeface="IBM Plex Mono"/>
                <a:sym typeface="IBM Plex Mono"/>
              </a:rPr>
              <a:t>307,511</a:t>
            </a:r>
          </a:p>
        </p:txBody>
      </p:sp>
      <p:sp>
        <p:nvSpPr>
          <p:cNvPr id="9" name="TextBox 9"/>
          <p:cNvSpPr txBox="1"/>
          <p:nvPr/>
        </p:nvSpPr>
        <p:spPr>
          <a:xfrm>
            <a:off x="10572750" y="6572250"/>
            <a:ext cx="4762500" cy="564257"/>
          </a:xfrm>
          <a:prstGeom prst="rect">
            <a:avLst/>
          </a:prstGeom>
        </p:spPr>
        <p:txBody>
          <a:bodyPr lIns="0" tIns="0" rIns="0" bIns="0" rtlCol="0" anchor="t">
            <a:spAutoFit/>
          </a:bodyPr>
          <a:lstStyle/>
          <a:p>
            <a:pPr marL="0" lvl="0" indent="0" algn="ctr">
              <a:lnSpc>
                <a:spcPts val="2239"/>
              </a:lnSpc>
              <a:spcBef>
                <a:spcPct val="0"/>
              </a:spcBef>
            </a:pPr>
            <a:r>
              <a:rPr lang="en-US" sz="2000" u="none" strike="noStrike" dirty="0">
                <a:solidFill>
                  <a:srgbClr val="E2DDD5"/>
                </a:solidFill>
                <a:latin typeface="Marcellus" panose="020B0604020202020204" charset="0"/>
                <a:ea typeface="Open Sans"/>
                <a:cs typeface="Open Sans"/>
                <a:sym typeface="Open Sans"/>
              </a:rPr>
              <a:t>loan applications analyzed</a:t>
            </a:r>
          </a:p>
          <a:p>
            <a:pPr marL="0" lvl="0" indent="0" algn="ctr">
              <a:lnSpc>
                <a:spcPts val="2239"/>
              </a:lnSpc>
              <a:spcBef>
                <a:spcPct val="0"/>
              </a:spcBef>
            </a:pPr>
            <a:r>
              <a:rPr lang="en-US" sz="2000" u="none" strike="noStrike" dirty="0">
                <a:solidFill>
                  <a:srgbClr val="E2DDD5"/>
                </a:solidFill>
                <a:latin typeface="Marcellus" panose="020B0604020202020204" charset="0"/>
                <a:ea typeface="Open Sans"/>
                <a:cs typeface="Open Sans"/>
                <a:sym typeface="Open Sans"/>
              </a:rPr>
              <a:t>across 5 linked datasets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Every Missed Default Costs the Bank the Entire Loan</a:t>
            </a:r>
          </a:p>
        </p:txBody>
      </p:sp>
      <p:sp>
        <p:nvSpPr>
          <p:cNvPr id="3" name="TextBox 3"/>
          <p:cNvSpPr txBox="1"/>
          <p:nvPr/>
        </p:nvSpPr>
        <p:spPr>
          <a:xfrm>
            <a:off x="613954" y="2729321"/>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dirty="0">
                <a:solidFill>
                  <a:srgbClr val="C9902A"/>
                </a:solidFill>
                <a:latin typeface="Open Sans Bold"/>
                <a:ea typeface="Open Sans Bold"/>
                <a:cs typeface="Open Sans Bold"/>
                <a:sym typeface="Open Sans Bold"/>
              </a:rPr>
              <a:t>Who is affected:</a:t>
            </a:r>
          </a:p>
        </p:txBody>
      </p:sp>
      <p:sp>
        <p:nvSpPr>
          <p:cNvPr id="4" name="TextBox 4"/>
          <p:cNvSpPr txBox="1"/>
          <p:nvPr/>
        </p:nvSpPr>
        <p:spPr>
          <a:xfrm>
            <a:off x="609600" y="3148149"/>
            <a:ext cx="100012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dirty="0">
                <a:solidFill>
                  <a:srgbClr val="FFFFFF"/>
                </a:solidFill>
                <a:latin typeface="Open Sans"/>
                <a:ea typeface="Open Sans"/>
                <a:cs typeface="Open Sans"/>
                <a:sym typeface="Open Sans"/>
              </a:rPr>
              <a:t>Kenya’s Lenders, Digital Lenders &amp; Major Banks</a:t>
            </a:r>
          </a:p>
        </p:txBody>
      </p:sp>
      <p:sp>
        <p:nvSpPr>
          <p:cNvPr id="5" name="TextBox 5"/>
          <p:cNvSpPr txBox="1"/>
          <p:nvPr/>
        </p:nvSpPr>
        <p:spPr>
          <a:xfrm>
            <a:off x="1297986" y="3781425"/>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dirty="0">
                <a:solidFill>
                  <a:srgbClr val="C9902A"/>
                </a:solidFill>
                <a:latin typeface="Open Sans Bold"/>
                <a:ea typeface="Open Sans Bold"/>
                <a:cs typeface="Open Sans Bold"/>
                <a:sym typeface="Open Sans Bold"/>
              </a:rPr>
              <a:t>The core business problem:</a:t>
            </a:r>
          </a:p>
        </p:txBody>
      </p:sp>
      <p:sp>
        <p:nvSpPr>
          <p:cNvPr id="6" name="TextBox 6"/>
          <p:cNvSpPr txBox="1"/>
          <p:nvPr/>
        </p:nvSpPr>
        <p:spPr>
          <a:xfrm>
            <a:off x="1300163" y="4200253"/>
            <a:ext cx="10001250" cy="571500"/>
          </a:xfrm>
          <a:prstGeom prst="rect">
            <a:avLst/>
          </a:prstGeom>
        </p:spPr>
        <p:txBody>
          <a:bodyPr lIns="0" tIns="0" rIns="0" bIns="0" rtlCol="0" anchor="t">
            <a:spAutoFit/>
          </a:bodyPr>
          <a:lstStyle/>
          <a:p>
            <a:pPr marL="0" lvl="0" indent="0" algn="l">
              <a:lnSpc>
                <a:spcPts val="2399"/>
              </a:lnSpc>
              <a:spcBef>
                <a:spcPct val="0"/>
              </a:spcBef>
            </a:pPr>
            <a:r>
              <a:rPr lang="en-US" sz="1599" u="none" strike="noStrike" dirty="0">
                <a:solidFill>
                  <a:srgbClr val="FFFFFF"/>
                </a:solidFill>
                <a:latin typeface="Open Sans"/>
                <a:ea typeface="Open Sans"/>
                <a:cs typeface="Open Sans"/>
                <a:sym typeface="Open Sans"/>
              </a:rPr>
              <a:t>"How can a lending institution predict, before issuing a loan, which applicants are likely to default — so it can reduce financial losses while maintaining fair access to credit?"</a:t>
            </a:r>
          </a:p>
        </p:txBody>
      </p:sp>
      <p:sp>
        <p:nvSpPr>
          <p:cNvPr id="7" name="TextBox 7"/>
          <p:cNvSpPr txBox="1"/>
          <p:nvPr/>
        </p:nvSpPr>
        <p:spPr>
          <a:xfrm>
            <a:off x="2095500" y="5024029"/>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dirty="0">
                <a:solidFill>
                  <a:srgbClr val="C9902A"/>
                </a:solidFill>
                <a:latin typeface="Open Sans Bold"/>
                <a:ea typeface="Open Sans Bold"/>
                <a:cs typeface="Open Sans Bold"/>
                <a:sym typeface="Open Sans Bold"/>
              </a:rPr>
              <a:t>Without a model, two bad options:</a:t>
            </a:r>
          </a:p>
        </p:txBody>
      </p:sp>
      <p:sp>
        <p:nvSpPr>
          <p:cNvPr id="8" name="TextBox 8"/>
          <p:cNvSpPr txBox="1"/>
          <p:nvPr/>
        </p:nvSpPr>
        <p:spPr>
          <a:xfrm>
            <a:off x="2095500" y="5438775"/>
            <a:ext cx="10001250" cy="866775"/>
          </a:xfrm>
          <a:prstGeom prst="rect">
            <a:avLst/>
          </a:prstGeom>
        </p:spPr>
        <p:txBody>
          <a:bodyPr lIns="0" tIns="0" rIns="0" bIns="0" rtlCol="0" anchor="t">
            <a:spAutoFit/>
          </a:bodyPr>
          <a:lstStyle/>
          <a:p>
            <a:pPr marL="0" lvl="0" indent="0" algn="l">
              <a:lnSpc>
                <a:spcPts val="2399"/>
              </a:lnSpc>
              <a:spcBef>
                <a:spcPct val="0"/>
              </a:spcBef>
            </a:pPr>
            <a:r>
              <a:rPr lang="en-US" sz="1599" u="none" strike="noStrike" dirty="0">
                <a:solidFill>
                  <a:srgbClr val="FFFFFF"/>
                </a:solidFill>
                <a:latin typeface="Open Sans"/>
                <a:ea typeface="Open Sans"/>
                <a:cs typeface="Open Sans"/>
                <a:sym typeface="Open Sans"/>
              </a:rPr>
              <a:t>●  Reject too many → loses good customers and revenue</a:t>
            </a:r>
          </a:p>
          <a:p>
            <a:pPr marL="0" lvl="0" indent="0" algn="l">
              <a:lnSpc>
                <a:spcPts val="2399"/>
              </a:lnSpc>
              <a:spcBef>
                <a:spcPct val="0"/>
              </a:spcBef>
            </a:pPr>
            <a:endParaRPr lang="en-US" sz="1599" u="none" strike="noStrike" dirty="0">
              <a:solidFill>
                <a:srgbClr val="FFFFFF"/>
              </a:solidFill>
              <a:latin typeface="Open Sans"/>
              <a:ea typeface="Open Sans"/>
              <a:cs typeface="Open Sans"/>
              <a:sym typeface="Open Sans"/>
            </a:endParaRPr>
          </a:p>
          <a:p>
            <a:pPr marL="0" lvl="0" indent="0" algn="l">
              <a:lnSpc>
                <a:spcPts val="2399"/>
              </a:lnSpc>
              <a:spcBef>
                <a:spcPct val="0"/>
              </a:spcBef>
            </a:pPr>
            <a:r>
              <a:rPr lang="en-US" sz="1599" u="none" strike="noStrike" dirty="0">
                <a:solidFill>
                  <a:srgbClr val="FFFFFF"/>
                </a:solidFill>
                <a:latin typeface="Open Sans"/>
                <a:ea typeface="Open Sans"/>
                <a:cs typeface="Open Sans"/>
                <a:sym typeface="Open Sans"/>
              </a:rPr>
              <a:t>●  Approve too many → accumulates bad debt and financial losses</a:t>
            </a:r>
          </a:p>
        </p:txBody>
      </p:sp>
      <p:sp>
        <p:nvSpPr>
          <p:cNvPr id="9" name="TextBox 9"/>
          <p:cNvSpPr txBox="1"/>
          <p:nvPr/>
        </p:nvSpPr>
        <p:spPr>
          <a:xfrm>
            <a:off x="3124200" y="6553881"/>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dirty="0">
                <a:solidFill>
                  <a:srgbClr val="C9902A"/>
                </a:solidFill>
                <a:latin typeface="Open Sans Bold"/>
                <a:ea typeface="Open Sans Bold"/>
                <a:cs typeface="Open Sans Bold"/>
                <a:sym typeface="Open Sans Bold"/>
              </a:rPr>
              <a:t>The current gap:</a:t>
            </a:r>
          </a:p>
        </p:txBody>
      </p:sp>
      <p:sp>
        <p:nvSpPr>
          <p:cNvPr id="10" name="TextBox 10"/>
          <p:cNvSpPr txBox="1"/>
          <p:nvPr/>
        </p:nvSpPr>
        <p:spPr>
          <a:xfrm>
            <a:off x="3141617" y="6967129"/>
            <a:ext cx="100012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dirty="0">
                <a:solidFill>
                  <a:srgbClr val="FFFFFF"/>
                </a:solidFill>
                <a:latin typeface="Open Sans"/>
                <a:ea typeface="Open Sans"/>
                <a:cs typeface="Open Sans"/>
                <a:sym typeface="Open Sans"/>
              </a:rPr>
              <a:t>Manual credit assessment is slow, inconsistent, and not data-driven</a:t>
            </a:r>
          </a:p>
        </p:txBody>
      </p:sp>
      <p:sp>
        <p:nvSpPr>
          <p:cNvPr id="11" name="TextBox 11"/>
          <p:cNvSpPr txBox="1"/>
          <p:nvPr/>
        </p:nvSpPr>
        <p:spPr>
          <a:xfrm>
            <a:off x="4143375" y="7471954"/>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dirty="0">
                <a:solidFill>
                  <a:srgbClr val="C9902A"/>
                </a:solidFill>
                <a:latin typeface="Open Sans Bold"/>
                <a:ea typeface="Open Sans Bold"/>
                <a:cs typeface="Open Sans Bold"/>
                <a:sym typeface="Open Sans Bold"/>
              </a:rPr>
              <a:t>ML solution:</a:t>
            </a:r>
          </a:p>
        </p:txBody>
      </p:sp>
      <p:sp>
        <p:nvSpPr>
          <p:cNvPr id="12" name="TextBox 12"/>
          <p:cNvSpPr txBox="1"/>
          <p:nvPr/>
        </p:nvSpPr>
        <p:spPr>
          <a:xfrm>
            <a:off x="4143375" y="7967254"/>
            <a:ext cx="100012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dirty="0">
                <a:solidFill>
                  <a:srgbClr val="FFFFFF"/>
                </a:solidFill>
                <a:latin typeface="Open Sans"/>
                <a:ea typeface="Open Sans"/>
                <a:cs typeface="Open Sans"/>
                <a:sym typeface="Open Sans"/>
              </a:rPr>
              <a:t>Predict default probability for each applicant before approval, using their full financial profile</a:t>
            </a:r>
          </a:p>
        </p:txBody>
      </p:sp>
      <p:grpSp>
        <p:nvGrpSpPr>
          <p:cNvPr id="13" name="Group 13"/>
          <p:cNvGrpSpPr/>
          <p:nvPr/>
        </p:nvGrpSpPr>
        <p:grpSpPr>
          <a:xfrm>
            <a:off x="11430000" y="3810000"/>
            <a:ext cx="4762500" cy="2857500"/>
            <a:chOff x="0" y="0"/>
            <a:chExt cx="6350000" cy="3810000"/>
          </a:xfrm>
        </p:grpSpPr>
        <p:sp>
          <p:nvSpPr>
            <p:cNvPr id="14" name="Freeform 14"/>
            <p:cNvSpPr/>
            <p:nvPr/>
          </p:nvSpPr>
          <p:spPr>
            <a:xfrm>
              <a:off x="0" y="0"/>
              <a:ext cx="6350000" cy="3810000"/>
            </a:xfrm>
            <a:custGeom>
              <a:avLst/>
              <a:gdLst/>
              <a:ahLst/>
              <a:cxnLst/>
              <a:rect l="l" t="t" r="r" b="b"/>
              <a:pathLst>
                <a:path w="6350000" h="3810000">
                  <a:moveTo>
                    <a:pt x="381000" y="0"/>
                  </a:moveTo>
                  <a:lnTo>
                    <a:pt x="5969000" y="0"/>
                  </a:lnTo>
                  <a:cubicBezTo>
                    <a:pt x="6179420" y="0"/>
                    <a:pt x="6350000" y="170580"/>
                    <a:pt x="6350000" y="381000"/>
                  </a:cubicBezTo>
                  <a:lnTo>
                    <a:pt x="6350000" y="3429000"/>
                  </a:lnTo>
                  <a:cubicBezTo>
                    <a:pt x="6350000" y="3639420"/>
                    <a:pt x="6179420" y="3810000"/>
                    <a:pt x="5969000" y="3810000"/>
                  </a:cubicBezTo>
                  <a:lnTo>
                    <a:pt x="381000" y="3810000"/>
                  </a:lnTo>
                  <a:cubicBezTo>
                    <a:pt x="170580" y="3810000"/>
                    <a:pt x="0" y="3639420"/>
                    <a:pt x="0" y="3429000"/>
                  </a:cubicBezTo>
                  <a:lnTo>
                    <a:pt x="0" y="381000"/>
                  </a:lnTo>
                  <a:cubicBezTo>
                    <a:pt x="0" y="170580"/>
                    <a:pt x="170580" y="0"/>
                    <a:pt x="381000" y="0"/>
                  </a:cubicBezTo>
                  <a:close/>
                </a:path>
              </a:pathLst>
            </a:custGeom>
            <a:solidFill>
              <a:srgbClr val="1B3358"/>
            </a:solidFill>
          </p:spPr>
          <p:txBody>
            <a:bodyPr/>
            <a:lstStyle/>
            <a:p>
              <a:endParaRPr lang="en-KE"/>
            </a:p>
          </p:txBody>
        </p:sp>
        <p:sp>
          <p:nvSpPr>
            <p:cNvPr id="15" name="TextBox 15"/>
            <p:cNvSpPr txBox="1"/>
            <p:nvPr/>
          </p:nvSpPr>
          <p:spPr>
            <a:xfrm>
              <a:off x="0" y="-38100"/>
              <a:ext cx="6350000" cy="3848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11906250" y="4324350"/>
            <a:ext cx="3810000" cy="26670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C9902A"/>
                </a:solidFill>
                <a:latin typeface="Open Sans"/>
                <a:ea typeface="Open Sans"/>
                <a:cs typeface="Open Sans"/>
                <a:sym typeface="Open Sans"/>
              </a:rPr>
              <a:t>THE COST</a:t>
            </a:r>
          </a:p>
        </p:txBody>
      </p:sp>
      <p:sp>
        <p:nvSpPr>
          <p:cNvPr id="17" name="TextBox 17"/>
          <p:cNvSpPr txBox="1"/>
          <p:nvPr/>
        </p:nvSpPr>
        <p:spPr>
          <a:xfrm>
            <a:off x="11906250" y="4610100"/>
            <a:ext cx="3810000" cy="953135"/>
          </a:xfrm>
          <a:prstGeom prst="rect">
            <a:avLst/>
          </a:prstGeom>
        </p:spPr>
        <p:txBody>
          <a:bodyPr lIns="0" tIns="0" rIns="0" bIns="0" rtlCol="0" anchor="t">
            <a:spAutoFit/>
          </a:bodyPr>
          <a:lstStyle/>
          <a:p>
            <a:pPr marL="0" lvl="0" indent="0" algn="ctr">
              <a:lnSpc>
                <a:spcPts val="7840"/>
              </a:lnSpc>
              <a:spcBef>
                <a:spcPct val="0"/>
              </a:spcBef>
            </a:pPr>
            <a:r>
              <a:rPr lang="en-US" sz="5600" u="none" strike="noStrike">
                <a:solidFill>
                  <a:srgbClr val="C9902A"/>
                </a:solidFill>
                <a:latin typeface="IBM Plex Mono"/>
                <a:ea typeface="IBM Plex Mono"/>
                <a:cs typeface="IBM Plex Mono"/>
                <a:sym typeface="IBM Plex Mono"/>
              </a:rPr>
              <a:t>100%</a:t>
            </a:r>
          </a:p>
        </p:txBody>
      </p:sp>
      <p:sp>
        <p:nvSpPr>
          <p:cNvPr id="18" name="TextBox 18"/>
          <p:cNvSpPr txBox="1"/>
          <p:nvPr/>
        </p:nvSpPr>
        <p:spPr>
          <a:xfrm>
            <a:off x="11906250" y="5524500"/>
            <a:ext cx="3810000" cy="542925"/>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of the loan amount is lost</a:t>
            </a:r>
          </a:p>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when a default occurs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704850"/>
            <a:ext cx="13335000" cy="628650"/>
          </a:xfrm>
          <a:prstGeom prst="rect">
            <a:avLst/>
          </a:prstGeom>
        </p:spPr>
        <p:txBody>
          <a:bodyPr lIns="0" tIns="0" rIns="0" bIns="0" rtlCol="0" anchor="t">
            <a:spAutoFit/>
          </a:bodyPr>
          <a:lstStyle/>
          <a:p>
            <a:pPr marL="0" lvl="0" indent="0" algn="ctr">
              <a:lnSpc>
                <a:spcPts val="5179"/>
              </a:lnSpc>
              <a:spcBef>
                <a:spcPct val="0"/>
              </a:spcBef>
            </a:pPr>
            <a:r>
              <a:rPr lang="en-US" sz="3699" u="none" strike="noStrike">
                <a:solidFill>
                  <a:srgbClr val="C9902A"/>
                </a:solidFill>
                <a:latin typeface="Marcellus"/>
                <a:ea typeface="Marcellus"/>
                <a:cs typeface="Marcellus"/>
                <a:sym typeface="Marcellus"/>
              </a:rPr>
              <a:t>5 Data Sources Combined into One Complete Borrower Profile</a:t>
            </a:r>
          </a:p>
        </p:txBody>
      </p:sp>
      <p:grpSp>
        <p:nvGrpSpPr>
          <p:cNvPr id="3" name="Group 3"/>
          <p:cNvGrpSpPr/>
          <p:nvPr/>
        </p:nvGrpSpPr>
        <p:grpSpPr>
          <a:xfrm>
            <a:off x="914400" y="1619250"/>
            <a:ext cx="16459200" cy="495300"/>
            <a:chOff x="0" y="0"/>
            <a:chExt cx="21945600" cy="660400"/>
          </a:xfrm>
        </p:grpSpPr>
        <p:sp>
          <p:nvSpPr>
            <p:cNvPr id="4" name="Freeform 4"/>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B3358"/>
            </a:solidFill>
          </p:spPr>
          <p:txBody>
            <a:bodyPr/>
            <a:lstStyle/>
            <a:p>
              <a:endParaRPr lang="en-KE"/>
            </a:p>
          </p:txBody>
        </p:sp>
        <p:sp>
          <p:nvSpPr>
            <p:cNvPr id="5" name="TextBox 5"/>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09650" y="1714500"/>
            <a:ext cx="4000500" cy="26670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C9902A"/>
                </a:solidFill>
                <a:latin typeface="Open Sans Bold"/>
                <a:ea typeface="Open Sans Bold"/>
                <a:cs typeface="Open Sans Bold"/>
                <a:sym typeface="Open Sans Bold"/>
              </a:rPr>
              <a:t>Dataset</a:t>
            </a:r>
          </a:p>
        </p:txBody>
      </p:sp>
      <p:sp>
        <p:nvSpPr>
          <p:cNvPr id="7" name="TextBox 7"/>
          <p:cNvSpPr txBox="1"/>
          <p:nvPr/>
        </p:nvSpPr>
        <p:spPr>
          <a:xfrm>
            <a:off x="5048250" y="1714500"/>
            <a:ext cx="7143750" cy="26670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C9902A"/>
                </a:solidFill>
                <a:latin typeface="Open Sans Bold"/>
                <a:ea typeface="Open Sans Bold"/>
                <a:cs typeface="Open Sans Bold"/>
                <a:sym typeface="Open Sans Bold"/>
              </a:rPr>
              <a:t>What It Contains</a:t>
            </a:r>
          </a:p>
        </p:txBody>
      </p:sp>
      <p:sp>
        <p:nvSpPr>
          <p:cNvPr id="8" name="TextBox 8"/>
          <p:cNvSpPr txBox="1"/>
          <p:nvPr/>
        </p:nvSpPr>
        <p:spPr>
          <a:xfrm>
            <a:off x="12382500" y="1714500"/>
            <a:ext cx="4953000" cy="26670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C9902A"/>
                </a:solidFill>
                <a:latin typeface="Open Sans Bold"/>
                <a:ea typeface="Open Sans Bold"/>
                <a:cs typeface="Open Sans Bold"/>
                <a:sym typeface="Open Sans Bold"/>
              </a:rPr>
              <a:t>Records</a:t>
            </a:r>
          </a:p>
        </p:txBody>
      </p:sp>
      <p:grpSp>
        <p:nvGrpSpPr>
          <p:cNvPr id="9" name="Group 9"/>
          <p:cNvGrpSpPr/>
          <p:nvPr/>
        </p:nvGrpSpPr>
        <p:grpSpPr>
          <a:xfrm>
            <a:off x="914400" y="2114550"/>
            <a:ext cx="16459200" cy="495300"/>
            <a:chOff x="0" y="0"/>
            <a:chExt cx="21945600" cy="660400"/>
          </a:xfrm>
        </p:grpSpPr>
        <p:sp>
          <p:nvSpPr>
            <p:cNvPr id="10" name="Freeform 10"/>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62640"/>
            </a:solidFill>
          </p:spPr>
          <p:txBody>
            <a:bodyPr/>
            <a:lstStyle/>
            <a:p>
              <a:endParaRPr lang="en-KE"/>
            </a:p>
          </p:txBody>
        </p:sp>
        <p:sp>
          <p:nvSpPr>
            <p:cNvPr id="11" name="TextBox 11"/>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12" name="TextBox 12"/>
          <p:cNvSpPr txBox="1"/>
          <p:nvPr/>
        </p:nvSpPr>
        <p:spPr>
          <a:xfrm>
            <a:off x="1009650" y="2209800"/>
            <a:ext cx="40005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IBM Plex Mono"/>
                <a:ea typeface="IBM Plex Mono"/>
                <a:cs typeface="IBM Plex Mono"/>
                <a:sym typeface="IBM Plex Mono"/>
              </a:rPr>
              <a:t>application_train.csv</a:t>
            </a:r>
          </a:p>
        </p:txBody>
      </p:sp>
      <p:sp>
        <p:nvSpPr>
          <p:cNvPr id="13" name="TextBox 13"/>
          <p:cNvSpPr txBox="1"/>
          <p:nvPr/>
        </p:nvSpPr>
        <p:spPr>
          <a:xfrm>
            <a:off x="5048250" y="2209800"/>
            <a:ext cx="71437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Main loan application data + target variable</a:t>
            </a:r>
          </a:p>
        </p:txBody>
      </p:sp>
      <p:sp>
        <p:nvSpPr>
          <p:cNvPr id="14" name="TextBox 14"/>
          <p:cNvSpPr txBox="1"/>
          <p:nvPr/>
        </p:nvSpPr>
        <p:spPr>
          <a:xfrm>
            <a:off x="12382500" y="2209800"/>
            <a:ext cx="49530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E2DDD5"/>
                </a:solidFill>
                <a:latin typeface="Open Sans"/>
                <a:ea typeface="Open Sans"/>
                <a:cs typeface="Open Sans"/>
                <a:sym typeface="Open Sans"/>
              </a:rPr>
              <a:t>307,511 applicants</a:t>
            </a:r>
          </a:p>
        </p:txBody>
      </p:sp>
      <p:grpSp>
        <p:nvGrpSpPr>
          <p:cNvPr id="15" name="Group 15"/>
          <p:cNvGrpSpPr/>
          <p:nvPr/>
        </p:nvGrpSpPr>
        <p:grpSpPr>
          <a:xfrm>
            <a:off x="914400" y="2609850"/>
            <a:ext cx="16459200" cy="495300"/>
            <a:chOff x="0" y="0"/>
            <a:chExt cx="21945600" cy="660400"/>
          </a:xfrm>
        </p:grpSpPr>
        <p:sp>
          <p:nvSpPr>
            <p:cNvPr id="16" name="Freeform 16"/>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B3358"/>
            </a:solidFill>
          </p:spPr>
          <p:txBody>
            <a:bodyPr/>
            <a:lstStyle/>
            <a:p>
              <a:endParaRPr lang="en-KE"/>
            </a:p>
          </p:txBody>
        </p:sp>
        <p:sp>
          <p:nvSpPr>
            <p:cNvPr id="17" name="TextBox 17"/>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18" name="TextBox 18"/>
          <p:cNvSpPr txBox="1"/>
          <p:nvPr/>
        </p:nvSpPr>
        <p:spPr>
          <a:xfrm>
            <a:off x="1009650" y="2705100"/>
            <a:ext cx="40005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IBM Plex Mono"/>
                <a:ea typeface="IBM Plex Mono"/>
                <a:cs typeface="IBM Plex Mono"/>
                <a:sym typeface="IBM Plex Mono"/>
              </a:rPr>
              <a:t>bureau.csv</a:t>
            </a:r>
          </a:p>
        </p:txBody>
      </p:sp>
      <p:sp>
        <p:nvSpPr>
          <p:cNvPr id="19" name="TextBox 19"/>
          <p:cNvSpPr txBox="1"/>
          <p:nvPr/>
        </p:nvSpPr>
        <p:spPr>
          <a:xfrm>
            <a:off x="5048250" y="2705100"/>
            <a:ext cx="71437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Loans at OTHER banks (credit bureau records)</a:t>
            </a:r>
          </a:p>
        </p:txBody>
      </p:sp>
      <p:sp>
        <p:nvSpPr>
          <p:cNvPr id="20" name="TextBox 20"/>
          <p:cNvSpPr txBox="1"/>
          <p:nvPr/>
        </p:nvSpPr>
        <p:spPr>
          <a:xfrm>
            <a:off x="12382500" y="2705100"/>
            <a:ext cx="49530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E2DDD5"/>
                </a:solidFill>
                <a:latin typeface="Open Sans"/>
                <a:ea typeface="Open Sans"/>
                <a:cs typeface="Open Sans"/>
                <a:sym typeface="Open Sans"/>
              </a:rPr>
              <a:t>Multiple per applicant</a:t>
            </a:r>
          </a:p>
        </p:txBody>
      </p:sp>
      <p:grpSp>
        <p:nvGrpSpPr>
          <p:cNvPr id="21" name="Group 21"/>
          <p:cNvGrpSpPr/>
          <p:nvPr/>
        </p:nvGrpSpPr>
        <p:grpSpPr>
          <a:xfrm>
            <a:off x="914400" y="3105150"/>
            <a:ext cx="16459200" cy="495300"/>
            <a:chOff x="0" y="0"/>
            <a:chExt cx="21945600" cy="660400"/>
          </a:xfrm>
        </p:grpSpPr>
        <p:sp>
          <p:nvSpPr>
            <p:cNvPr id="22" name="Freeform 22"/>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62640"/>
            </a:solidFill>
          </p:spPr>
          <p:txBody>
            <a:bodyPr/>
            <a:lstStyle/>
            <a:p>
              <a:endParaRPr lang="en-KE"/>
            </a:p>
          </p:txBody>
        </p:sp>
        <p:sp>
          <p:nvSpPr>
            <p:cNvPr id="23" name="TextBox 23"/>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24" name="TextBox 24"/>
          <p:cNvSpPr txBox="1"/>
          <p:nvPr/>
        </p:nvSpPr>
        <p:spPr>
          <a:xfrm>
            <a:off x="1009650" y="3200400"/>
            <a:ext cx="40005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IBM Plex Mono"/>
                <a:ea typeface="IBM Plex Mono"/>
                <a:cs typeface="IBM Plex Mono"/>
                <a:sym typeface="IBM Plex Mono"/>
              </a:rPr>
              <a:t>previous_application.csv</a:t>
            </a:r>
          </a:p>
        </p:txBody>
      </p:sp>
      <p:sp>
        <p:nvSpPr>
          <p:cNvPr id="25" name="TextBox 25"/>
          <p:cNvSpPr txBox="1"/>
          <p:nvPr/>
        </p:nvSpPr>
        <p:spPr>
          <a:xfrm>
            <a:off x="5048250" y="3200400"/>
            <a:ext cx="71437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Previous Home Credit loan applications</a:t>
            </a:r>
          </a:p>
        </p:txBody>
      </p:sp>
      <p:sp>
        <p:nvSpPr>
          <p:cNvPr id="26" name="TextBox 26"/>
          <p:cNvSpPr txBox="1"/>
          <p:nvPr/>
        </p:nvSpPr>
        <p:spPr>
          <a:xfrm>
            <a:off x="12382500" y="3200400"/>
            <a:ext cx="49530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E2DDD5"/>
                </a:solidFill>
                <a:latin typeface="Open Sans"/>
                <a:ea typeface="Open Sans"/>
                <a:cs typeface="Open Sans"/>
                <a:sym typeface="Open Sans"/>
              </a:rPr>
              <a:t>Multiple per applicant</a:t>
            </a:r>
          </a:p>
        </p:txBody>
      </p:sp>
      <p:grpSp>
        <p:nvGrpSpPr>
          <p:cNvPr id="27" name="Group 27"/>
          <p:cNvGrpSpPr/>
          <p:nvPr/>
        </p:nvGrpSpPr>
        <p:grpSpPr>
          <a:xfrm>
            <a:off x="914400" y="3600450"/>
            <a:ext cx="16459200" cy="495300"/>
            <a:chOff x="0" y="0"/>
            <a:chExt cx="21945600" cy="660400"/>
          </a:xfrm>
        </p:grpSpPr>
        <p:sp>
          <p:nvSpPr>
            <p:cNvPr id="28" name="Freeform 28"/>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B3358"/>
            </a:solidFill>
          </p:spPr>
          <p:txBody>
            <a:bodyPr/>
            <a:lstStyle/>
            <a:p>
              <a:endParaRPr lang="en-KE"/>
            </a:p>
          </p:txBody>
        </p:sp>
        <p:sp>
          <p:nvSpPr>
            <p:cNvPr id="29" name="TextBox 29"/>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30" name="TextBox 30"/>
          <p:cNvSpPr txBox="1"/>
          <p:nvPr/>
        </p:nvSpPr>
        <p:spPr>
          <a:xfrm>
            <a:off x="1009650" y="3695700"/>
            <a:ext cx="40005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IBM Plex Mono"/>
                <a:ea typeface="IBM Plex Mono"/>
                <a:cs typeface="IBM Plex Mono"/>
                <a:sym typeface="IBM Plex Mono"/>
              </a:rPr>
              <a:t>installments_payments.csv</a:t>
            </a:r>
          </a:p>
        </p:txBody>
      </p:sp>
      <p:sp>
        <p:nvSpPr>
          <p:cNvPr id="31" name="TextBox 31"/>
          <p:cNvSpPr txBox="1"/>
          <p:nvPr/>
        </p:nvSpPr>
        <p:spPr>
          <a:xfrm>
            <a:off x="5048250" y="3695700"/>
            <a:ext cx="71437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Payment history — on time or late?</a:t>
            </a:r>
          </a:p>
        </p:txBody>
      </p:sp>
      <p:sp>
        <p:nvSpPr>
          <p:cNvPr id="32" name="TextBox 32"/>
          <p:cNvSpPr txBox="1"/>
          <p:nvPr/>
        </p:nvSpPr>
        <p:spPr>
          <a:xfrm>
            <a:off x="12382500" y="3695700"/>
            <a:ext cx="49530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E2DDD5"/>
                </a:solidFill>
                <a:latin typeface="Open Sans"/>
                <a:ea typeface="Open Sans"/>
                <a:cs typeface="Open Sans"/>
                <a:sym typeface="Open Sans"/>
              </a:rPr>
              <a:t>Millions of payment records</a:t>
            </a:r>
          </a:p>
        </p:txBody>
      </p:sp>
      <p:grpSp>
        <p:nvGrpSpPr>
          <p:cNvPr id="33" name="Group 33"/>
          <p:cNvGrpSpPr/>
          <p:nvPr/>
        </p:nvGrpSpPr>
        <p:grpSpPr>
          <a:xfrm>
            <a:off x="914400" y="4095750"/>
            <a:ext cx="16459200" cy="495300"/>
            <a:chOff x="0" y="0"/>
            <a:chExt cx="21945600" cy="660400"/>
          </a:xfrm>
        </p:grpSpPr>
        <p:sp>
          <p:nvSpPr>
            <p:cNvPr id="34" name="Freeform 34"/>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62640"/>
            </a:solidFill>
          </p:spPr>
          <p:txBody>
            <a:bodyPr/>
            <a:lstStyle/>
            <a:p>
              <a:endParaRPr lang="en-KE"/>
            </a:p>
          </p:txBody>
        </p:sp>
        <p:sp>
          <p:nvSpPr>
            <p:cNvPr id="35" name="TextBox 35"/>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36" name="TextBox 36"/>
          <p:cNvSpPr txBox="1"/>
          <p:nvPr/>
        </p:nvSpPr>
        <p:spPr>
          <a:xfrm>
            <a:off x="1009650" y="4191000"/>
            <a:ext cx="40005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IBM Plex Mono"/>
                <a:ea typeface="IBM Plex Mono"/>
                <a:cs typeface="IBM Plex Mono"/>
                <a:sym typeface="IBM Plex Mono"/>
              </a:rPr>
              <a:t>credit_card_balance.csv</a:t>
            </a:r>
          </a:p>
        </p:txBody>
      </p:sp>
      <p:sp>
        <p:nvSpPr>
          <p:cNvPr id="37" name="TextBox 37"/>
          <p:cNvSpPr txBox="1"/>
          <p:nvPr/>
        </p:nvSpPr>
        <p:spPr>
          <a:xfrm>
            <a:off x="5048250" y="4191000"/>
            <a:ext cx="714375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Monthly credit card balance snapshots</a:t>
            </a:r>
          </a:p>
        </p:txBody>
      </p:sp>
      <p:sp>
        <p:nvSpPr>
          <p:cNvPr id="38" name="TextBox 38"/>
          <p:cNvSpPr txBox="1"/>
          <p:nvPr/>
        </p:nvSpPr>
        <p:spPr>
          <a:xfrm>
            <a:off x="12382500" y="4191000"/>
            <a:ext cx="4953000" cy="266700"/>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E2DDD5"/>
                </a:solidFill>
                <a:latin typeface="Open Sans"/>
                <a:ea typeface="Open Sans"/>
                <a:cs typeface="Open Sans"/>
                <a:sym typeface="Open Sans"/>
              </a:rPr>
              <a:t>Multiple per applicant</a:t>
            </a:r>
          </a:p>
        </p:txBody>
      </p:sp>
      <p:sp>
        <p:nvSpPr>
          <p:cNvPr id="39" name="TextBox 39"/>
          <p:cNvSpPr txBox="1"/>
          <p:nvPr/>
        </p:nvSpPr>
        <p:spPr>
          <a:xfrm>
            <a:off x="1009650" y="4933950"/>
            <a:ext cx="11430000" cy="26670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Join key:</a:t>
            </a:r>
            <a:r>
              <a:rPr lang="en-US" sz="1599" u="none" strike="noStrike">
                <a:solidFill>
                  <a:srgbClr val="FFFFFF"/>
                </a:solidFill>
                <a:latin typeface="Open Sans"/>
                <a:ea typeface="Open Sans"/>
                <a:cs typeface="Open Sans"/>
                <a:sym typeface="Open Sans"/>
              </a:rPr>
              <a:t> All files connect through SK_ID_CURR (unique applicant ID)</a:t>
            </a:r>
          </a:p>
        </p:txBody>
      </p:sp>
      <p:sp>
        <p:nvSpPr>
          <p:cNvPr id="40" name="TextBox 40"/>
          <p:cNvSpPr txBox="1"/>
          <p:nvPr/>
        </p:nvSpPr>
        <p:spPr>
          <a:xfrm>
            <a:off x="1009650" y="5314950"/>
            <a:ext cx="11430000" cy="26670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Final merged dataset:</a:t>
            </a:r>
            <a:r>
              <a:rPr lang="en-US" sz="1599" u="none" strike="noStrike">
                <a:solidFill>
                  <a:srgbClr val="FFFFFF"/>
                </a:solidFill>
                <a:latin typeface="Open Sans"/>
                <a:ea typeface="Open Sans"/>
                <a:cs typeface="Open Sans"/>
                <a:sym typeface="Open Sans"/>
              </a:rPr>
              <a:t> 307,511 rows x 147 features</a:t>
            </a:r>
          </a:p>
        </p:txBody>
      </p:sp>
      <p:grpSp>
        <p:nvGrpSpPr>
          <p:cNvPr id="41" name="Group 41"/>
          <p:cNvGrpSpPr/>
          <p:nvPr/>
        </p:nvGrpSpPr>
        <p:grpSpPr>
          <a:xfrm>
            <a:off x="12858750" y="5524500"/>
            <a:ext cx="4191000" cy="2095500"/>
            <a:chOff x="0" y="0"/>
            <a:chExt cx="5588000" cy="2794000"/>
          </a:xfrm>
        </p:grpSpPr>
        <p:sp>
          <p:nvSpPr>
            <p:cNvPr id="42" name="Freeform 42"/>
            <p:cNvSpPr/>
            <p:nvPr/>
          </p:nvSpPr>
          <p:spPr>
            <a:xfrm>
              <a:off x="0" y="0"/>
              <a:ext cx="5588000" cy="2794000"/>
            </a:xfrm>
            <a:custGeom>
              <a:avLst/>
              <a:gdLst/>
              <a:ahLst/>
              <a:cxnLst/>
              <a:rect l="l" t="t" r="r" b="b"/>
              <a:pathLst>
                <a:path w="5588000" h="2794000">
                  <a:moveTo>
                    <a:pt x="279400" y="0"/>
                  </a:moveTo>
                  <a:lnTo>
                    <a:pt x="5308600" y="0"/>
                  </a:lnTo>
                  <a:cubicBezTo>
                    <a:pt x="5462908" y="0"/>
                    <a:pt x="5588000" y="125092"/>
                    <a:pt x="5588000" y="279400"/>
                  </a:cubicBezTo>
                  <a:lnTo>
                    <a:pt x="5588000" y="2514600"/>
                  </a:lnTo>
                  <a:cubicBezTo>
                    <a:pt x="5588000" y="2668908"/>
                    <a:pt x="5462908" y="2794000"/>
                    <a:pt x="5308600" y="2794000"/>
                  </a:cubicBezTo>
                  <a:lnTo>
                    <a:pt x="279400" y="2794000"/>
                  </a:lnTo>
                  <a:cubicBezTo>
                    <a:pt x="125092" y="2794000"/>
                    <a:pt x="0" y="2668908"/>
                    <a:pt x="0" y="2514600"/>
                  </a:cubicBezTo>
                  <a:lnTo>
                    <a:pt x="0" y="279400"/>
                  </a:lnTo>
                  <a:cubicBezTo>
                    <a:pt x="0" y="125092"/>
                    <a:pt x="125092" y="0"/>
                    <a:pt x="279400" y="0"/>
                  </a:cubicBezTo>
                  <a:close/>
                </a:path>
              </a:pathLst>
            </a:custGeom>
            <a:solidFill>
              <a:srgbClr val="1B3358"/>
            </a:solidFill>
          </p:spPr>
          <p:txBody>
            <a:bodyPr/>
            <a:lstStyle/>
            <a:p>
              <a:endParaRPr lang="en-KE"/>
            </a:p>
          </p:txBody>
        </p:sp>
        <p:sp>
          <p:nvSpPr>
            <p:cNvPr id="43" name="TextBox 43"/>
            <p:cNvSpPr txBox="1"/>
            <p:nvPr/>
          </p:nvSpPr>
          <p:spPr>
            <a:xfrm>
              <a:off x="0" y="-38100"/>
              <a:ext cx="5588000" cy="2832100"/>
            </a:xfrm>
            <a:prstGeom prst="rect">
              <a:avLst/>
            </a:prstGeom>
          </p:spPr>
          <p:txBody>
            <a:bodyPr lIns="50800" tIns="50800" rIns="50800" bIns="50800" rtlCol="0" anchor="ctr"/>
            <a:lstStyle/>
            <a:p>
              <a:pPr algn="l">
                <a:lnSpc>
                  <a:spcPts val="1679"/>
                </a:lnSpc>
              </a:pPr>
              <a:endParaRPr/>
            </a:p>
          </p:txBody>
        </p:sp>
      </p:grpSp>
      <p:sp>
        <p:nvSpPr>
          <p:cNvPr id="44" name="TextBox 44"/>
          <p:cNvSpPr txBox="1"/>
          <p:nvPr/>
        </p:nvSpPr>
        <p:spPr>
          <a:xfrm>
            <a:off x="13525500" y="5895975"/>
            <a:ext cx="2857500" cy="953135"/>
          </a:xfrm>
          <a:prstGeom prst="rect">
            <a:avLst/>
          </a:prstGeom>
        </p:spPr>
        <p:txBody>
          <a:bodyPr lIns="0" tIns="0" rIns="0" bIns="0" rtlCol="0" anchor="t">
            <a:spAutoFit/>
          </a:bodyPr>
          <a:lstStyle/>
          <a:p>
            <a:pPr marL="0" lvl="0" indent="0" algn="ctr">
              <a:lnSpc>
                <a:spcPts val="7840"/>
              </a:lnSpc>
              <a:spcBef>
                <a:spcPct val="0"/>
              </a:spcBef>
            </a:pPr>
            <a:r>
              <a:rPr lang="en-US" sz="5600" u="none" strike="noStrike">
                <a:solidFill>
                  <a:srgbClr val="C9902A"/>
                </a:solidFill>
                <a:latin typeface="IBM Plex Mono"/>
                <a:ea typeface="IBM Plex Mono"/>
                <a:cs typeface="IBM Plex Mono"/>
                <a:sym typeface="IBM Plex Mono"/>
              </a:rPr>
              <a:t>147</a:t>
            </a:r>
          </a:p>
        </p:txBody>
      </p:sp>
      <p:sp>
        <p:nvSpPr>
          <p:cNvPr id="45" name="TextBox 45"/>
          <p:cNvSpPr txBox="1"/>
          <p:nvPr/>
        </p:nvSpPr>
        <p:spPr>
          <a:xfrm>
            <a:off x="13287375" y="6791325"/>
            <a:ext cx="3333750" cy="542925"/>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features engineered into</a:t>
            </a:r>
          </a:p>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one complete borrower profile</a:t>
            </a:r>
          </a:p>
        </p:txBody>
      </p:sp>
      <p:sp>
        <p:nvSpPr>
          <p:cNvPr id="46" name="TextBox 46"/>
          <p:cNvSpPr txBox="1"/>
          <p:nvPr/>
        </p:nvSpPr>
        <p:spPr>
          <a:xfrm>
            <a:off x="2476500" y="8229600"/>
            <a:ext cx="13335000" cy="26670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"Like building a complete financial fingerprint for every applicant — not just what they earn, but how they actually behave with money"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13573125" y="3476625"/>
            <a:ext cx="762000" cy="238125"/>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FFFFFF"/>
                </a:solidFill>
                <a:latin typeface="Open Sans"/>
                <a:ea typeface="Open Sans"/>
                <a:cs typeface="Open Sans"/>
                <a:sym typeface="Open Sans"/>
              </a:rPr>
              <a:t>8.1%</a:t>
            </a:r>
          </a:p>
        </p:txBody>
      </p:sp>
      <p:sp>
        <p:nvSpPr>
          <p:cNvPr id="3" name="TextBox 3"/>
          <p:cNvSpPr txBox="1"/>
          <p:nvPr/>
        </p:nvSpPr>
        <p:spPr>
          <a:xfrm>
            <a:off x="7762875" y="3476625"/>
            <a:ext cx="1905000" cy="238125"/>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FFFFFF"/>
                </a:solidFill>
                <a:latin typeface="Open Sans"/>
                <a:ea typeface="Open Sans"/>
                <a:cs typeface="Open Sans"/>
                <a:sym typeface="Open Sans"/>
              </a:rPr>
              <a:t>91.9% Repaid</a:t>
            </a:r>
          </a:p>
        </p:txBody>
      </p:sp>
      <p:grpSp>
        <p:nvGrpSpPr>
          <p:cNvPr id="4" name="Group 4"/>
          <p:cNvGrpSpPr/>
          <p:nvPr/>
        </p:nvGrpSpPr>
        <p:grpSpPr>
          <a:xfrm>
            <a:off x="13525500" y="3476625"/>
            <a:ext cx="857250" cy="285750"/>
            <a:chOff x="0" y="0"/>
            <a:chExt cx="1143000" cy="381000"/>
          </a:xfrm>
        </p:grpSpPr>
        <p:sp>
          <p:nvSpPr>
            <p:cNvPr id="5" name="Freeform 5"/>
            <p:cNvSpPr/>
            <p:nvPr/>
          </p:nvSpPr>
          <p:spPr>
            <a:xfrm>
              <a:off x="0" y="0"/>
              <a:ext cx="1143000" cy="381000"/>
            </a:xfrm>
            <a:custGeom>
              <a:avLst/>
              <a:gdLst/>
              <a:ahLst/>
              <a:cxnLst/>
              <a:rect l="l" t="t" r="r" b="b"/>
              <a:pathLst>
                <a:path w="1143000" h="381000">
                  <a:moveTo>
                    <a:pt x="38100" y="0"/>
                  </a:moveTo>
                  <a:lnTo>
                    <a:pt x="1104900" y="0"/>
                  </a:lnTo>
                  <a:cubicBezTo>
                    <a:pt x="1125942" y="0"/>
                    <a:pt x="1143000" y="17058"/>
                    <a:pt x="1143000" y="38100"/>
                  </a:cubicBezTo>
                  <a:lnTo>
                    <a:pt x="1143000" y="342900"/>
                  </a:lnTo>
                  <a:cubicBezTo>
                    <a:pt x="1143000" y="363942"/>
                    <a:pt x="1125942" y="381000"/>
                    <a:pt x="1104900" y="381000"/>
                  </a:cubicBezTo>
                  <a:lnTo>
                    <a:pt x="38100" y="381000"/>
                  </a:lnTo>
                  <a:cubicBezTo>
                    <a:pt x="17058" y="381000"/>
                    <a:pt x="0" y="363942"/>
                    <a:pt x="0" y="342900"/>
                  </a:cubicBezTo>
                  <a:lnTo>
                    <a:pt x="0" y="38100"/>
                  </a:lnTo>
                  <a:cubicBezTo>
                    <a:pt x="0" y="17058"/>
                    <a:pt x="17058" y="0"/>
                    <a:pt x="38100" y="0"/>
                  </a:cubicBezTo>
                  <a:close/>
                </a:path>
              </a:pathLst>
            </a:custGeom>
            <a:solidFill>
              <a:srgbClr val="E74C3C"/>
            </a:solidFill>
          </p:spPr>
          <p:txBody>
            <a:bodyPr/>
            <a:lstStyle/>
            <a:p>
              <a:endParaRPr lang="en-KE"/>
            </a:p>
          </p:txBody>
        </p:sp>
        <p:sp>
          <p:nvSpPr>
            <p:cNvPr id="6" name="TextBox 6"/>
            <p:cNvSpPr txBox="1"/>
            <p:nvPr/>
          </p:nvSpPr>
          <p:spPr>
            <a:xfrm>
              <a:off x="0" y="-38100"/>
              <a:ext cx="1143000" cy="419100"/>
            </a:xfrm>
            <a:prstGeom prst="rect">
              <a:avLst/>
            </a:prstGeom>
          </p:spPr>
          <p:txBody>
            <a:bodyPr lIns="50800" tIns="50800" rIns="50800" bIns="50800" rtlCol="0" anchor="ctr"/>
            <a:lstStyle/>
            <a:p>
              <a:pPr algn="l">
                <a:lnSpc>
                  <a:spcPts val="1679"/>
                </a:lnSpc>
              </a:pPr>
              <a:endParaRPr/>
            </a:p>
          </p:txBody>
        </p:sp>
      </p:grpSp>
      <p:sp>
        <p:nvSpPr>
          <p:cNvPr id="7" name="TextBox 7"/>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92% Repaid. 8% Defaulted. This Gap is the Central Problem.</a:t>
            </a:r>
          </a:p>
        </p:txBody>
      </p:sp>
      <p:grpSp>
        <p:nvGrpSpPr>
          <p:cNvPr id="8" name="Group 8"/>
          <p:cNvGrpSpPr/>
          <p:nvPr/>
        </p:nvGrpSpPr>
        <p:grpSpPr>
          <a:xfrm>
            <a:off x="3905250" y="1714500"/>
            <a:ext cx="4762500" cy="1905000"/>
            <a:chOff x="0" y="0"/>
            <a:chExt cx="6350000" cy="2540000"/>
          </a:xfrm>
        </p:grpSpPr>
        <p:sp>
          <p:nvSpPr>
            <p:cNvPr id="9" name="Freeform 9"/>
            <p:cNvSpPr/>
            <p:nvPr/>
          </p:nvSpPr>
          <p:spPr>
            <a:xfrm>
              <a:off x="0" y="0"/>
              <a:ext cx="6350000" cy="2540000"/>
            </a:xfrm>
            <a:custGeom>
              <a:avLst/>
              <a:gdLst/>
              <a:ahLst/>
              <a:cxnLst/>
              <a:rect l="l" t="t" r="r" b="b"/>
              <a:pathLst>
                <a:path w="6350000" h="2540000">
                  <a:moveTo>
                    <a:pt x="254000" y="0"/>
                  </a:moveTo>
                  <a:lnTo>
                    <a:pt x="6096000" y="0"/>
                  </a:lnTo>
                  <a:cubicBezTo>
                    <a:pt x="6236280" y="0"/>
                    <a:pt x="6350000" y="113720"/>
                    <a:pt x="6350000" y="254000"/>
                  </a:cubicBezTo>
                  <a:lnTo>
                    <a:pt x="6350000" y="2286000"/>
                  </a:lnTo>
                  <a:cubicBezTo>
                    <a:pt x="6350000" y="2426280"/>
                    <a:pt x="6236280" y="2540000"/>
                    <a:pt x="609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p:spPr>
          <p:txBody>
            <a:bodyPr/>
            <a:lstStyle/>
            <a:p>
              <a:endParaRPr lang="en-KE"/>
            </a:p>
          </p:txBody>
        </p:sp>
        <p:sp>
          <p:nvSpPr>
            <p:cNvPr id="10" name="TextBox 10"/>
            <p:cNvSpPr txBox="1"/>
            <p:nvPr/>
          </p:nvSpPr>
          <p:spPr>
            <a:xfrm>
              <a:off x="0" y="-38100"/>
              <a:ext cx="6350000" cy="2578100"/>
            </a:xfrm>
            <a:prstGeom prst="rect">
              <a:avLst/>
            </a:prstGeom>
          </p:spPr>
          <p:txBody>
            <a:bodyPr lIns="50800" tIns="50800" rIns="50800" bIns="50800" rtlCol="0" anchor="ctr"/>
            <a:lstStyle/>
            <a:p>
              <a:pPr algn="l">
                <a:lnSpc>
                  <a:spcPts val="1679"/>
                </a:lnSpc>
              </a:pPr>
              <a:endParaRPr/>
            </a:p>
          </p:txBody>
        </p:sp>
      </p:grpSp>
      <p:sp>
        <p:nvSpPr>
          <p:cNvPr id="11" name="TextBox 11"/>
          <p:cNvSpPr txBox="1"/>
          <p:nvPr/>
        </p:nvSpPr>
        <p:spPr>
          <a:xfrm>
            <a:off x="4381500" y="1657350"/>
            <a:ext cx="3810000" cy="953135"/>
          </a:xfrm>
          <a:prstGeom prst="rect">
            <a:avLst/>
          </a:prstGeom>
        </p:spPr>
        <p:txBody>
          <a:bodyPr lIns="0" tIns="0" rIns="0" bIns="0" rtlCol="0" anchor="t">
            <a:spAutoFit/>
          </a:bodyPr>
          <a:lstStyle/>
          <a:p>
            <a:pPr marL="0" lvl="0" indent="0" algn="ctr">
              <a:lnSpc>
                <a:spcPts val="7840"/>
              </a:lnSpc>
              <a:spcBef>
                <a:spcPct val="0"/>
              </a:spcBef>
            </a:pPr>
            <a:r>
              <a:rPr lang="en-US" sz="5600" u="none" strike="noStrike">
                <a:solidFill>
                  <a:srgbClr val="2ECC71"/>
                </a:solidFill>
                <a:latin typeface="IBM Plex Mono"/>
                <a:ea typeface="IBM Plex Mono"/>
                <a:cs typeface="IBM Plex Mono"/>
                <a:sym typeface="IBM Plex Mono"/>
              </a:rPr>
              <a:t>91.9%</a:t>
            </a:r>
          </a:p>
        </p:txBody>
      </p:sp>
      <p:sp>
        <p:nvSpPr>
          <p:cNvPr id="12" name="TextBox 12"/>
          <p:cNvSpPr txBox="1"/>
          <p:nvPr/>
        </p:nvSpPr>
        <p:spPr>
          <a:xfrm>
            <a:off x="4857750" y="2609850"/>
            <a:ext cx="2857500" cy="26416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2ECC71"/>
                </a:solidFill>
                <a:latin typeface="Open Sans"/>
                <a:ea typeface="Open Sans"/>
                <a:cs typeface="Open Sans"/>
                <a:sym typeface="Open Sans"/>
              </a:rPr>
              <a:t>REPAID</a:t>
            </a:r>
          </a:p>
        </p:txBody>
      </p:sp>
      <p:sp>
        <p:nvSpPr>
          <p:cNvPr id="13" name="TextBox 13"/>
          <p:cNvSpPr txBox="1"/>
          <p:nvPr/>
        </p:nvSpPr>
        <p:spPr>
          <a:xfrm>
            <a:off x="4857750" y="2990850"/>
            <a:ext cx="2857500" cy="26670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282,686 applicants</a:t>
            </a:r>
          </a:p>
        </p:txBody>
      </p:sp>
      <p:grpSp>
        <p:nvGrpSpPr>
          <p:cNvPr id="14" name="Group 14"/>
          <p:cNvGrpSpPr/>
          <p:nvPr/>
        </p:nvGrpSpPr>
        <p:grpSpPr>
          <a:xfrm>
            <a:off x="9620250" y="1714500"/>
            <a:ext cx="4762500" cy="1905000"/>
            <a:chOff x="0" y="0"/>
            <a:chExt cx="6350000" cy="2540000"/>
          </a:xfrm>
        </p:grpSpPr>
        <p:sp>
          <p:nvSpPr>
            <p:cNvPr id="15" name="Freeform 15"/>
            <p:cNvSpPr/>
            <p:nvPr/>
          </p:nvSpPr>
          <p:spPr>
            <a:xfrm>
              <a:off x="0" y="0"/>
              <a:ext cx="6350000" cy="2540000"/>
            </a:xfrm>
            <a:custGeom>
              <a:avLst/>
              <a:gdLst/>
              <a:ahLst/>
              <a:cxnLst/>
              <a:rect l="l" t="t" r="r" b="b"/>
              <a:pathLst>
                <a:path w="6350000" h="2540000">
                  <a:moveTo>
                    <a:pt x="254000" y="0"/>
                  </a:moveTo>
                  <a:lnTo>
                    <a:pt x="6096000" y="0"/>
                  </a:lnTo>
                  <a:cubicBezTo>
                    <a:pt x="6236280" y="0"/>
                    <a:pt x="6350000" y="113720"/>
                    <a:pt x="6350000" y="254000"/>
                  </a:cubicBezTo>
                  <a:lnTo>
                    <a:pt x="6350000" y="2286000"/>
                  </a:lnTo>
                  <a:cubicBezTo>
                    <a:pt x="6350000" y="2426280"/>
                    <a:pt x="6236280" y="2540000"/>
                    <a:pt x="609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p:spPr>
          <p:txBody>
            <a:bodyPr/>
            <a:lstStyle/>
            <a:p>
              <a:endParaRPr lang="en-KE"/>
            </a:p>
          </p:txBody>
        </p:sp>
        <p:sp>
          <p:nvSpPr>
            <p:cNvPr id="16" name="TextBox 16"/>
            <p:cNvSpPr txBox="1"/>
            <p:nvPr/>
          </p:nvSpPr>
          <p:spPr>
            <a:xfrm>
              <a:off x="0" y="-38100"/>
              <a:ext cx="6350000" cy="2578100"/>
            </a:xfrm>
            <a:prstGeom prst="rect">
              <a:avLst/>
            </a:prstGeom>
          </p:spPr>
          <p:txBody>
            <a:bodyPr lIns="50800" tIns="50800" rIns="50800" bIns="50800" rtlCol="0" anchor="ctr"/>
            <a:lstStyle/>
            <a:p>
              <a:pPr algn="l">
                <a:lnSpc>
                  <a:spcPts val="1679"/>
                </a:lnSpc>
              </a:pPr>
              <a:endParaRPr/>
            </a:p>
          </p:txBody>
        </p:sp>
      </p:grpSp>
      <p:sp>
        <p:nvSpPr>
          <p:cNvPr id="17" name="TextBox 17"/>
          <p:cNvSpPr txBox="1"/>
          <p:nvPr/>
        </p:nvSpPr>
        <p:spPr>
          <a:xfrm>
            <a:off x="10096500" y="1657350"/>
            <a:ext cx="3810000" cy="953135"/>
          </a:xfrm>
          <a:prstGeom prst="rect">
            <a:avLst/>
          </a:prstGeom>
        </p:spPr>
        <p:txBody>
          <a:bodyPr lIns="0" tIns="0" rIns="0" bIns="0" rtlCol="0" anchor="t">
            <a:spAutoFit/>
          </a:bodyPr>
          <a:lstStyle/>
          <a:p>
            <a:pPr marL="0" lvl="0" indent="0" algn="ctr">
              <a:lnSpc>
                <a:spcPts val="7840"/>
              </a:lnSpc>
              <a:spcBef>
                <a:spcPct val="0"/>
              </a:spcBef>
            </a:pPr>
            <a:r>
              <a:rPr lang="en-US" sz="5600" u="none" strike="noStrike">
                <a:solidFill>
                  <a:srgbClr val="E74C3C"/>
                </a:solidFill>
                <a:latin typeface="IBM Plex Mono"/>
                <a:ea typeface="IBM Plex Mono"/>
                <a:cs typeface="IBM Plex Mono"/>
                <a:sym typeface="IBM Plex Mono"/>
              </a:rPr>
              <a:t>8.1%</a:t>
            </a:r>
          </a:p>
        </p:txBody>
      </p:sp>
      <p:sp>
        <p:nvSpPr>
          <p:cNvPr id="18" name="TextBox 18"/>
          <p:cNvSpPr txBox="1"/>
          <p:nvPr/>
        </p:nvSpPr>
        <p:spPr>
          <a:xfrm>
            <a:off x="10572750" y="2609850"/>
            <a:ext cx="2857500" cy="26416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E74C3C"/>
                </a:solidFill>
                <a:latin typeface="Open Sans"/>
                <a:ea typeface="Open Sans"/>
                <a:cs typeface="Open Sans"/>
                <a:sym typeface="Open Sans"/>
              </a:rPr>
              <a:t>DEFAULTED</a:t>
            </a:r>
          </a:p>
        </p:txBody>
      </p:sp>
      <p:sp>
        <p:nvSpPr>
          <p:cNvPr id="19" name="TextBox 19"/>
          <p:cNvSpPr txBox="1"/>
          <p:nvPr/>
        </p:nvSpPr>
        <p:spPr>
          <a:xfrm>
            <a:off x="10572750" y="2990850"/>
            <a:ext cx="2857500" cy="26670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E2DDD5"/>
                </a:solidFill>
                <a:latin typeface="Open Sans"/>
                <a:ea typeface="Open Sans"/>
                <a:cs typeface="Open Sans"/>
                <a:sym typeface="Open Sans"/>
              </a:rPr>
              <a:t>24,825 applicants</a:t>
            </a:r>
          </a:p>
        </p:txBody>
      </p:sp>
      <p:sp>
        <p:nvSpPr>
          <p:cNvPr id="20" name="TextBox 20"/>
          <p:cNvSpPr txBox="1"/>
          <p:nvPr/>
        </p:nvSpPr>
        <p:spPr>
          <a:xfrm>
            <a:off x="914400" y="39719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What happens without correction:</a:t>
            </a:r>
          </a:p>
        </p:txBody>
      </p:sp>
      <p:sp>
        <p:nvSpPr>
          <p:cNvPr id="21" name="TextBox 21"/>
          <p:cNvSpPr txBox="1"/>
          <p:nvPr/>
        </p:nvSpPr>
        <p:spPr>
          <a:xfrm>
            <a:off x="914400" y="4238625"/>
            <a:ext cx="10001250" cy="542925"/>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A model that always predicts "repaid" achieves 92% accuracy — but catches ZERO defaulters. That model is completely useless for a bank.</a:t>
            </a:r>
          </a:p>
        </p:txBody>
      </p:sp>
      <p:sp>
        <p:nvSpPr>
          <p:cNvPr id="22" name="TextBox 22"/>
          <p:cNvSpPr txBox="1"/>
          <p:nvPr/>
        </p:nvSpPr>
        <p:spPr>
          <a:xfrm>
            <a:off x="914400" y="49244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Why accuracy is the wrong metric:</a:t>
            </a:r>
          </a:p>
        </p:txBody>
      </p:sp>
      <p:sp>
        <p:nvSpPr>
          <p:cNvPr id="23" name="TextBox 23"/>
          <p:cNvSpPr txBox="1"/>
          <p:nvPr/>
        </p:nvSpPr>
        <p:spPr>
          <a:xfrm>
            <a:off x="914400" y="5191125"/>
            <a:ext cx="10001250" cy="542925"/>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Accuracy rewards predicting the majority class. We need metrics that measure how many actual defaulters we catch.</a:t>
            </a:r>
          </a:p>
        </p:txBody>
      </p:sp>
      <p:sp>
        <p:nvSpPr>
          <p:cNvPr id="24" name="TextBox 24"/>
          <p:cNvSpPr txBox="1"/>
          <p:nvPr/>
        </p:nvSpPr>
        <p:spPr>
          <a:xfrm>
            <a:off x="914400" y="58769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Primary metrics used instead:</a:t>
            </a:r>
          </a:p>
        </p:txBody>
      </p:sp>
      <p:sp>
        <p:nvSpPr>
          <p:cNvPr id="25" name="TextBox 25"/>
          <p:cNvSpPr txBox="1"/>
          <p:nvPr/>
        </p:nvSpPr>
        <p:spPr>
          <a:xfrm>
            <a:off x="914400" y="6124575"/>
            <a:ext cx="10001250" cy="1190625"/>
          </a:xfrm>
          <a:prstGeom prst="rect">
            <a:avLst/>
          </a:prstGeom>
        </p:spPr>
        <p:txBody>
          <a:bodyPr lIns="0" tIns="0" rIns="0" bIns="0" rtlCol="0" anchor="t">
            <a:spAutoFit/>
          </a:bodyPr>
          <a:lstStyle/>
          <a:p>
            <a:pPr marL="0" lvl="0" indent="0" algn="l">
              <a:lnSpc>
                <a:spcPts val="1946"/>
              </a:lnSpc>
              <a:spcBef>
                <a:spcPct val="0"/>
              </a:spcBef>
            </a:pPr>
            <a:r>
              <a:rPr lang="en-US" sz="1297" u="none" strike="noStrike">
                <a:solidFill>
                  <a:srgbClr val="FFFFFF"/>
                </a:solidFill>
                <a:latin typeface="Open Sans"/>
                <a:ea typeface="Open Sans"/>
                <a:cs typeface="Open Sans"/>
                <a:sym typeface="Open Sans"/>
              </a:rPr>
              <a:t>●  Recall — of all real defaulters, what % did we catch?</a:t>
            </a:r>
          </a:p>
          <a:p>
            <a:pPr marL="0" lvl="0" indent="0" algn="l">
              <a:lnSpc>
                <a:spcPts val="1946"/>
              </a:lnSpc>
              <a:spcBef>
                <a:spcPct val="0"/>
              </a:spcBef>
            </a:pPr>
            <a:endParaRPr lang="en-US" sz="1297" u="none" strike="noStrike">
              <a:solidFill>
                <a:srgbClr val="FFFFFF"/>
              </a:solidFill>
              <a:latin typeface="Open Sans"/>
              <a:ea typeface="Open Sans"/>
              <a:cs typeface="Open Sans"/>
              <a:sym typeface="Open Sans"/>
            </a:endParaRPr>
          </a:p>
          <a:p>
            <a:pPr marL="0" lvl="0" indent="0" algn="l">
              <a:lnSpc>
                <a:spcPts val="1946"/>
              </a:lnSpc>
              <a:spcBef>
                <a:spcPct val="0"/>
              </a:spcBef>
            </a:pPr>
            <a:r>
              <a:rPr lang="en-US" sz="1297" u="none" strike="noStrike">
                <a:solidFill>
                  <a:srgbClr val="FFFFFF"/>
                </a:solidFill>
                <a:latin typeface="Open Sans"/>
                <a:ea typeface="Open Sans"/>
                <a:cs typeface="Open Sans"/>
                <a:sym typeface="Open Sans"/>
              </a:rPr>
              <a:t>●  ROC-AUC — overall ability to separate defaulters from safe borrowers</a:t>
            </a:r>
          </a:p>
          <a:p>
            <a:pPr marL="0" lvl="0" indent="0" algn="l">
              <a:lnSpc>
                <a:spcPts val="1946"/>
              </a:lnSpc>
              <a:spcBef>
                <a:spcPct val="0"/>
              </a:spcBef>
            </a:pPr>
            <a:endParaRPr lang="en-US" sz="1297" u="none" strike="noStrike">
              <a:solidFill>
                <a:srgbClr val="FFFFFF"/>
              </a:solidFill>
              <a:latin typeface="Open Sans"/>
              <a:ea typeface="Open Sans"/>
              <a:cs typeface="Open Sans"/>
              <a:sym typeface="Open Sans"/>
            </a:endParaRPr>
          </a:p>
          <a:p>
            <a:pPr marL="0" lvl="0" indent="0" algn="l">
              <a:lnSpc>
                <a:spcPts val="1946"/>
              </a:lnSpc>
              <a:spcBef>
                <a:spcPct val="0"/>
              </a:spcBef>
            </a:pPr>
            <a:r>
              <a:rPr lang="en-US" sz="1297" u="none" strike="noStrike">
                <a:solidFill>
                  <a:srgbClr val="FFFFFF"/>
                </a:solidFill>
                <a:latin typeface="Open Sans"/>
                <a:ea typeface="Open Sans"/>
                <a:cs typeface="Open Sans"/>
                <a:sym typeface="Open Sans"/>
              </a:rPr>
              <a:t>●  F1 Score — balance between catching defaults and avoiding false alarms</a:t>
            </a:r>
          </a:p>
        </p:txBody>
      </p:sp>
      <p:sp>
        <p:nvSpPr>
          <p:cNvPr id="26" name="TextBox 26"/>
          <p:cNvSpPr txBox="1"/>
          <p:nvPr/>
        </p:nvSpPr>
        <p:spPr>
          <a:xfrm>
            <a:off x="914400" y="745807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Solution: SMOTE</a:t>
            </a:r>
          </a:p>
        </p:txBody>
      </p:sp>
      <p:sp>
        <p:nvSpPr>
          <p:cNvPr id="27" name="TextBox 27"/>
          <p:cNvSpPr txBox="1"/>
          <p:nvPr/>
        </p:nvSpPr>
        <p:spPr>
          <a:xfrm>
            <a:off x="914400" y="7724775"/>
            <a:ext cx="10001250" cy="542925"/>
          </a:xfrm>
          <a:prstGeom prst="rect">
            <a:avLst/>
          </a:prstGeom>
        </p:spPr>
        <p:txBody>
          <a:bodyPr lIns="0" tIns="0" rIns="0" bIns="0" rtlCol="0" anchor="t">
            <a:spAutoFit/>
          </a:bodyPr>
          <a:lstStyle/>
          <a:p>
            <a:pPr marL="0" lvl="0" indent="0" algn="l">
              <a:lnSpc>
                <a:spcPts val="2239"/>
              </a:lnSpc>
              <a:spcBef>
                <a:spcPct val="0"/>
              </a:spcBef>
            </a:pPr>
            <a:r>
              <a:rPr lang="en-US" sz="1599" u="none" strike="noStrike">
                <a:solidFill>
                  <a:srgbClr val="FFFFFF"/>
                </a:solidFill>
                <a:latin typeface="Open Sans"/>
                <a:ea typeface="Open Sans"/>
                <a:cs typeface="Open Sans"/>
                <a:sym typeface="Open Sans"/>
              </a:rPr>
              <a:t>SMOTE (Synthetic Minority Oversampling Technique) creates synthetic examples of defaulters during training so the model learns their patterns. Applied to training data only — never to test data.</a:t>
            </a:r>
          </a:p>
        </p:txBody>
      </p:sp>
      <p:grpSp>
        <p:nvGrpSpPr>
          <p:cNvPr id="28" name="Group 28"/>
          <p:cNvGrpSpPr/>
          <p:nvPr/>
        </p:nvGrpSpPr>
        <p:grpSpPr>
          <a:xfrm>
            <a:off x="3905250" y="3476625"/>
            <a:ext cx="9620250" cy="285750"/>
            <a:chOff x="0" y="0"/>
            <a:chExt cx="12827000" cy="381000"/>
          </a:xfrm>
        </p:grpSpPr>
        <p:sp>
          <p:nvSpPr>
            <p:cNvPr id="29" name="Freeform 29"/>
            <p:cNvSpPr/>
            <p:nvPr/>
          </p:nvSpPr>
          <p:spPr>
            <a:xfrm>
              <a:off x="0" y="0"/>
              <a:ext cx="12827000" cy="381000"/>
            </a:xfrm>
            <a:custGeom>
              <a:avLst/>
              <a:gdLst/>
              <a:ahLst/>
              <a:cxnLst/>
              <a:rect l="l" t="t" r="r" b="b"/>
              <a:pathLst>
                <a:path w="12827000" h="381000">
                  <a:moveTo>
                    <a:pt x="38100" y="0"/>
                  </a:moveTo>
                  <a:lnTo>
                    <a:pt x="12788900" y="0"/>
                  </a:lnTo>
                  <a:cubicBezTo>
                    <a:pt x="12809942" y="0"/>
                    <a:pt x="12827000" y="17058"/>
                    <a:pt x="12827000" y="38100"/>
                  </a:cubicBezTo>
                  <a:lnTo>
                    <a:pt x="12827000" y="342900"/>
                  </a:lnTo>
                  <a:cubicBezTo>
                    <a:pt x="12827000" y="363942"/>
                    <a:pt x="12809942" y="381000"/>
                    <a:pt x="12788900" y="381000"/>
                  </a:cubicBezTo>
                  <a:lnTo>
                    <a:pt x="38100" y="381000"/>
                  </a:lnTo>
                  <a:cubicBezTo>
                    <a:pt x="17058" y="381000"/>
                    <a:pt x="0" y="363942"/>
                    <a:pt x="0" y="342900"/>
                  </a:cubicBezTo>
                  <a:lnTo>
                    <a:pt x="0" y="38100"/>
                  </a:lnTo>
                  <a:cubicBezTo>
                    <a:pt x="0" y="17058"/>
                    <a:pt x="17058" y="0"/>
                    <a:pt x="38100" y="0"/>
                  </a:cubicBezTo>
                  <a:close/>
                </a:path>
              </a:pathLst>
            </a:custGeom>
            <a:solidFill>
              <a:srgbClr val="2ECC71"/>
            </a:solidFill>
          </p:spPr>
          <p:txBody>
            <a:bodyPr/>
            <a:lstStyle/>
            <a:p>
              <a:endParaRPr lang="en-KE"/>
            </a:p>
          </p:txBody>
        </p:sp>
        <p:sp>
          <p:nvSpPr>
            <p:cNvPr id="30" name="TextBox 30"/>
            <p:cNvSpPr txBox="1"/>
            <p:nvPr/>
          </p:nvSpPr>
          <p:spPr>
            <a:xfrm>
              <a:off x="0" y="-38100"/>
              <a:ext cx="12827000" cy="419100"/>
            </a:xfrm>
            <a:prstGeom prst="rect">
              <a:avLst/>
            </a:prstGeom>
          </p:spPr>
          <p:txBody>
            <a:bodyPr lIns="50800" tIns="50800" rIns="50800" bIns="50800" rtlCol="0" anchor="ctr"/>
            <a:lstStyle/>
            <a:p>
              <a:pPr algn="l">
                <a:lnSpc>
                  <a:spcPts val="1679"/>
                </a:lnSpc>
              </a:pPr>
              <a:endParaRPr/>
            </a:p>
          </p:txBody>
        </p:sp>
      </p:grpSp>
      <p:grpSp>
        <p:nvGrpSpPr>
          <p:cNvPr id="31" name="Group 31"/>
          <p:cNvGrpSpPr/>
          <p:nvPr/>
        </p:nvGrpSpPr>
        <p:grpSpPr>
          <a:xfrm>
            <a:off x="12858750" y="4953000"/>
            <a:ext cx="1714500" cy="1714500"/>
            <a:chOff x="0" y="0"/>
            <a:chExt cx="2286000" cy="2286000"/>
          </a:xfrm>
        </p:grpSpPr>
        <p:sp>
          <p:nvSpPr>
            <p:cNvPr id="32" name="Freeform 32"/>
            <p:cNvSpPr/>
            <p:nvPr/>
          </p:nvSpPr>
          <p:spPr>
            <a:xfrm>
              <a:off x="0" y="0"/>
              <a:ext cx="2286000" cy="2286000"/>
            </a:xfrm>
            <a:custGeom>
              <a:avLst/>
              <a:gdLst/>
              <a:ahLst/>
              <a:cxnLst/>
              <a:rect l="l" t="t" r="r" b="b"/>
              <a:pathLst>
                <a:path w="2286000" h="2286000">
                  <a:moveTo>
                    <a:pt x="1143000" y="0"/>
                  </a:moveTo>
                  <a:cubicBezTo>
                    <a:pt x="511739" y="0"/>
                    <a:pt x="0" y="511739"/>
                    <a:pt x="0" y="1143000"/>
                  </a:cubicBezTo>
                  <a:cubicBezTo>
                    <a:pt x="0" y="1774261"/>
                    <a:pt x="511739" y="2286000"/>
                    <a:pt x="1143000" y="2286000"/>
                  </a:cubicBezTo>
                  <a:cubicBezTo>
                    <a:pt x="1774261" y="2286000"/>
                    <a:pt x="2286000" y="1774261"/>
                    <a:pt x="2286000" y="1143000"/>
                  </a:cubicBezTo>
                  <a:cubicBezTo>
                    <a:pt x="2286000" y="511739"/>
                    <a:pt x="1774261" y="0"/>
                    <a:pt x="1143000" y="0"/>
                  </a:cubicBezTo>
                  <a:close/>
                </a:path>
              </a:pathLst>
            </a:custGeom>
            <a:solidFill>
              <a:srgbClr val="2ECC71">
                <a:alpha val="84706"/>
              </a:srgbClr>
            </a:solidFill>
          </p:spPr>
          <p:txBody>
            <a:bodyPr/>
            <a:lstStyle/>
            <a:p>
              <a:endParaRPr lang="en-KE"/>
            </a:p>
          </p:txBody>
        </p:sp>
        <p:sp>
          <p:nvSpPr>
            <p:cNvPr id="33" name="TextBox 33"/>
            <p:cNvSpPr txBox="1"/>
            <p:nvPr/>
          </p:nvSpPr>
          <p:spPr>
            <a:xfrm>
              <a:off x="0" y="-38100"/>
              <a:ext cx="2286000" cy="2324100"/>
            </a:xfrm>
            <a:prstGeom prst="rect">
              <a:avLst/>
            </a:prstGeom>
          </p:spPr>
          <p:txBody>
            <a:bodyPr lIns="50800" tIns="50800" rIns="50800" bIns="50800" rtlCol="0" anchor="ctr"/>
            <a:lstStyle/>
            <a:p>
              <a:pPr algn="l">
                <a:lnSpc>
                  <a:spcPts val="1679"/>
                </a:lnSpc>
              </a:pPr>
              <a:endParaRPr/>
            </a:p>
          </p:txBody>
        </p:sp>
      </p:grpSp>
      <p:grpSp>
        <p:nvGrpSpPr>
          <p:cNvPr id="34" name="Group 34"/>
          <p:cNvGrpSpPr/>
          <p:nvPr/>
        </p:nvGrpSpPr>
        <p:grpSpPr>
          <a:xfrm>
            <a:off x="14668500" y="6153150"/>
            <a:ext cx="514350" cy="514350"/>
            <a:chOff x="0" y="0"/>
            <a:chExt cx="685800" cy="685800"/>
          </a:xfrm>
        </p:grpSpPr>
        <p:sp>
          <p:nvSpPr>
            <p:cNvPr id="35" name="Freeform 35"/>
            <p:cNvSpPr/>
            <p:nvPr/>
          </p:nvSpPr>
          <p:spPr>
            <a:xfrm>
              <a:off x="0" y="0"/>
              <a:ext cx="685800" cy="685800"/>
            </a:xfrm>
            <a:custGeom>
              <a:avLst/>
              <a:gdLst/>
              <a:ahLst/>
              <a:cxnLst/>
              <a:rect l="l" t="t" r="r" b="b"/>
              <a:pathLst>
                <a:path w="685800" h="685800">
                  <a:moveTo>
                    <a:pt x="342900" y="0"/>
                  </a:moveTo>
                  <a:cubicBezTo>
                    <a:pt x="153522" y="0"/>
                    <a:pt x="0" y="153522"/>
                    <a:pt x="0" y="342900"/>
                  </a:cubicBezTo>
                  <a:cubicBezTo>
                    <a:pt x="0" y="532278"/>
                    <a:pt x="153522" y="685800"/>
                    <a:pt x="342900" y="685800"/>
                  </a:cubicBezTo>
                  <a:cubicBezTo>
                    <a:pt x="532278" y="685800"/>
                    <a:pt x="685800" y="532278"/>
                    <a:pt x="685800" y="342900"/>
                  </a:cubicBezTo>
                  <a:cubicBezTo>
                    <a:pt x="685800" y="153522"/>
                    <a:pt x="532278" y="0"/>
                    <a:pt x="342900" y="0"/>
                  </a:cubicBezTo>
                  <a:close/>
                </a:path>
              </a:pathLst>
            </a:custGeom>
            <a:solidFill>
              <a:srgbClr val="E74C3C">
                <a:alpha val="89804"/>
              </a:srgbClr>
            </a:solidFill>
          </p:spPr>
          <p:txBody>
            <a:bodyPr/>
            <a:lstStyle/>
            <a:p>
              <a:endParaRPr lang="en-KE"/>
            </a:p>
          </p:txBody>
        </p:sp>
        <p:sp>
          <p:nvSpPr>
            <p:cNvPr id="36" name="TextBox 36"/>
            <p:cNvSpPr txBox="1"/>
            <p:nvPr/>
          </p:nvSpPr>
          <p:spPr>
            <a:xfrm>
              <a:off x="0" y="-38100"/>
              <a:ext cx="685800" cy="723900"/>
            </a:xfrm>
            <a:prstGeom prst="rect">
              <a:avLst/>
            </a:prstGeom>
          </p:spPr>
          <p:txBody>
            <a:bodyPr lIns="50800" tIns="50800" rIns="50800" bIns="50800" rtlCol="0" anchor="ctr"/>
            <a:lstStyle/>
            <a:p>
              <a:pPr algn="l">
                <a:lnSpc>
                  <a:spcPts val="1679"/>
                </a:lnSpc>
              </a:pPr>
              <a:endParaRPr/>
            </a:p>
          </p:txBody>
        </p:sp>
      </p:grpSp>
      <p:sp>
        <p:nvSpPr>
          <p:cNvPr id="37" name="TextBox 37"/>
          <p:cNvSpPr txBox="1"/>
          <p:nvPr/>
        </p:nvSpPr>
        <p:spPr>
          <a:xfrm>
            <a:off x="13239750" y="5581650"/>
            <a:ext cx="952500" cy="405765"/>
          </a:xfrm>
          <a:prstGeom prst="rect">
            <a:avLst/>
          </a:prstGeom>
        </p:spPr>
        <p:txBody>
          <a:bodyPr lIns="0" tIns="0" rIns="0" bIns="0" rtlCol="0" anchor="t">
            <a:spAutoFit/>
          </a:bodyPr>
          <a:lstStyle/>
          <a:p>
            <a:pPr marL="0" lvl="0" indent="0" algn="ctr">
              <a:lnSpc>
                <a:spcPts val="3359"/>
              </a:lnSpc>
              <a:spcBef>
                <a:spcPct val="0"/>
              </a:spcBef>
            </a:pPr>
            <a:r>
              <a:rPr lang="en-US" sz="2400" u="none" strike="noStrike">
                <a:solidFill>
                  <a:srgbClr val="FFFFFF"/>
                </a:solidFill>
                <a:latin typeface="IBM Plex Mono"/>
                <a:ea typeface="IBM Plex Mono"/>
                <a:cs typeface="IBM Plex Mono"/>
                <a:sym typeface="IBM Plex Mono"/>
              </a:rPr>
              <a:t>92%</a:t>
            </a:r>
          </a:p>
        </p:txBody>
      </p:sp>
      <p:sp>
        <p:nvSpPr>
          <p:cNvPr id="38" name="TextBox 38"/>
          <p:cNvSpPr txBox="1"/>
          <p:nvPr/>
        </p:nvSpPr>
        <p:spPr>
          <a:xfrm>
            <a:off x="14687550" y="6276975"/>
            <a:ext cx="476250" cy="228600"/>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FFFFFF"/>
                </a:solidFill>
                <a:latin typeface="IBM Plex Mono"/>
                <a:ea typeface="IBM Plex Mono"/>
                <a:cs typeface="IBM Plex Mono"/>
                <a:sym typeface="IBM Plex Mono"/>
              </a:rPr>
              <a:t>8%</a:t>
            </a:r>
          </a:p>
        </p:txBody>
      </p:sp>
      <p:sp>
        <p:nvSpPr>
          <p:cNvPr id="39" name="TextBox 39"/>
          <p:cNvSpPr txBox="1"/>
          <p:nvPr/>
        </p:nvSpPr>
        <p:spPr>
          <a:xfrm>
            <a:off x="12525375" y="6810375"/>
            <a:ext cx="2381250" cy="238125"/>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E2DDD5"/>
                </a:solidFill>
                <a:latin typeface="Open Sans"/>
                <a:ea typeface="Open Sans"/>
                <a:cs typeface="Open Sans"/>
                <a:sym typeface="Open Sans"/>
              </a:rPr>
              <a:t>Proportional Class Split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Three Findings That Shaped the Entire Model</a:t>
            </a:r>
          </a:p>
        </p:txBody>
      </p:sp>
      <p:sp>
        <p:nvSpPr>
          <p:cNvPr id="3" name="TextBox 3"/>
          <p:cNvSpPr txBox="1"/>
          <p:nvPr/>
        </p:nvSpPr>
        <p:spPr>
          <a:xfrm>
            <a:off x="914400" y="1685925"/>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Finding 1 — Age and Default Risk</a:t>
            </a:r>
          </a:p>
        </p:txBody>
      </p:sp>
      <p:sp>
        <p:nvSpPr>
          <p:cNvPr id="4" name="TextBox 4"/>
          <p:cNvSpPr txBox="1"/>
          <p:nvPr/>
        </p:nvSpPr>
        <p:spPr>
          <a:xfrm>
            <a:off x="914400" y="2019300"/>
            <a:ext cx="1000125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Young borrowers (20-25 years) default at nearly double the overall average rate. Default risk decreases consistently with age. Age is a proxy for financial stability and experience managing debt.</a:t>
            </a:r>
          </a:p>
        </p:txBody>
      </p:sp>
      <p:sp>
        <p:nvSpPr>
          <p:cNvPr id="5" name="TextBox 5"/>
          <p:cNvSpPr txBox="1"/>
          <p:nvPr/>
        </p:nvSpPr>
        <p:spPr>
          <a:xfrm>
            <a:off x="914400" y="3019425"/>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Finding 2 — External Credit Score is the Clearest Separator</a:t>
            </a:r>
          </a:p>
        </p:txBody>
      </p:sp>
      <p:sp>
        <p:nvSpPr>
          <p:cNvPr id="6" name="TextBox 6"/>
          <p:cNvSpPr txBox="1"/>
          <p:nvPr/>
        </p:nvSpPr>
        <p:spPr>
          <a:xfrm>
            <a:off x="914400" y="3352800"/>
            <a:ext cx="10001250" cy="73596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EXT_SOURCE_2 and EXT_SOURCE_3 show the strongest separation between defaulters and repayers. Applicants with low external credit scores are heavily over-represented among defaulters. These became the most important features in the model.</a:t>
            </a:r>
          </a:p>
        </p:txBody>
      </p:sp>
      <p:sp>
        <p:nvSpPr>
          <p:cNvPr id="7" name="TextBox 7"/>
          <p:cNvSpPr txBox="1"/>
          <p:nvPr/>
        </p:nvSpPr>
        <p:spPr>
          <a:xfrm>
            <a:off x="914400" y="4448175"/>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Finding 3 — Payment Behaviour Predicts Future Behaviour</a:t>
            </a:r>
          </a:p>
        </p:txBody>
      </p:sp>
      <p:sp>
        <p:nvSpPr>
          <p:cNvPr id="8" name="TextBox 8"/>
          <p:cNvSpPr txBox="1"/>
          <p:nvPr/>
        </p:nvSpPr>
        <p:spPr>
          <a:xfrm>
            <a:off x="914400" y="4781550"/>
            <a:ext cx="1000125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Applicants who paid more than 20% of their previous installments late show a dramatically higher default rate compared to others. Past payment behaviour is the best predictor of future payment behaviour.</a:t>
            </a:r>
          </a:p>
        </p:txBody>
      </p:sp>
      <p:sp>
        <p:nvSpPr>
          <p:cNvPr id="9" name="TextBox 9"/>
          <p:cNvSpPr txBox="1"/>
          <p:nvPr/>
        </p:nvSpPr>
        <p:spPr>
          <a:xfrm>
            <a:off x="914400" y="5781675"/>
            <a:ext cx="1000125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Bonus — High-risk categorical groups:</a:t>
            </a:r>
          </a:p>
        </p:txBody>
      </p:sp>
      <p:sp>
        <p:nvSpPr>
          <p:cNvPr id="10" name="TextBox 10"/>
          <p:cNvSpPr txBox="1"/>
          <p:nvPr/>
        </p:nvSpPr>
        <p:spPr>
          <a:xfrm>
            <a:off x="914400" y="6115050"/>
            <a:ext cx="10001250" cy="24066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Unemployed applicants and those on maternity leave show default rates 2-3 times the overall average.</a:t>
            </a:r>
          </a:p>
        </p:txBody>
      </p:sp>
      <p:grpSp>
        <p:nvGrpSpPr>
          <p:cNvPr id="11" name="Group 11"/>
          <p:cNvGrpSpPr/>
          <p:nvPr/>
        </p:nvGrpSpPr>
        <p:grpSpPr>
          <a:xfrm>
            <a:off x="11430000" y="1905000"/>
            <a:ext cx="4762500" cy="2667000"/>
            <a:chOff x="0" y="0"/>
            <a:chExt cx="6350000" cy="3556000"/>
          </a:xfrm>
        </p:grpSpPr>
        <p:sp>
          <p:nvSpPr>
            <p:cNvPr id="12" name="Freeform 12"/>
            <p:cNvSpPr/>
            <p:nvPr/>
          </p:nvSpPr>
          <p:spPr>
            <a:xfrm>
              <a:off x="0" y="0"/>
              <a:ext cx="6350000" cy="3556000"/>
            </a:xfrm>
            <a:custGeom>
              <a:avLst/>
              <a:gdLst/>
              <a:ahLst/>
              <a:cxnLst/>
              <a:rect l="l" t="t" r="r" b="b"/>
              <a:pathLst>
                <a:path w="6350000" h="3556000">
                  <a:moveTo>
                    <a:pt x="355600" y="0"/>
                  </a:moveTo>
                  <a:lnTo>
                    <a:pt x="5994400" y="0"/>
                  </a:lnTo>
                  <a:cubicBezTo>
                    <a:pt x="6190792" y="0"/>
                    <a:pt x="6350000" y="159208"/>
                    <a:pt x="6350000" y="355600"/>
                  </a:cubicBezTo>
                  <a:lnTo>
                    <a:pt x="6350000" y="3200400"/>
                  </a:lnTo>
                  <a:cubicBezTo>
                    <a:pt x="6350000" y="3396792"/>
                    <a:pt x="6190792" y="3556000"/>
                    <a:pt x="5994400" y="3556000"/>
                  </a:cubicBezTo>
                  <a:lnTo>
                    <a:pt x="355600" y="3556000"/>
                  </a:lnTo>
                  <a:cubicBezTo>
                    <a:pt x="159208" y="3556000"/>
                    <a:pt x="0" y="3396792"/>
                    <a:pt x="0" y="3200400"/>
                  </a:cubicBezTo>
                  <a:lnTo>
                    <a:pt x="0" y="355600"/>
                  </a:lnTo>
                  <a:cubicBezTo>
                    <a:pt x="0" y="159208"/>
                    <a:pt x="159208" y="0"/>
                    <a:pt x="355600" y="0"/>
                  </a:cubicBezTo>
                  <a:close/>
                </a:path>
              </a:pathLst>
            </a:custGeom>
            <a:solidFill>
              <a:srgbClr val="1B3358"/>
            </a:solidFill>
          </p:spPr>
          <p:txBody>
            <a:bodyPr/>
            <a:lstStyle/>
            <a:p>
              <a:endParaRPr lang="en-KE"/>
            </a:p>
          </p:txBody>
        </p:sp>
        <p:sp>
          <p:nvSpPr>
            <p:cNvPr id="13" name="TextBox 13"/>
            <p:cNvSpPr txBox="1"/>
            <p:nvPr/>
          </p:nvSpPr>
          <p:spPr>
            <a:xfrm>
              <a:off x="0" y="-38100"/>
              <a:ext cx="6350000" cy="3594100"/>
            </a:xfrm>
            <a:prstGeom prst="rect">
              <a:avLst/>
            </a:prstGeom>
          </p:spPr>
          <p:txBody>
            <a:bodyPr lIns="50800" tIns="50800" rIns="50800" bIns="50800" rtlCol="0" anchor="ctr"/>
            <a:lstStyle/>
            <a:p>
              <a:pPr algn="l">
                <a:lnSpc>
                  <a:spcPts val="1679"/>
                </a:lnSpc>
              </a:pPr>
              <a:endParaRPr/>
            </a:p>
          </p:txBody>
        </p:sp>
      </p:grpSp>
      <p:sp>
        <p:nvSpPr>
          <p:cNvPr id="14" name="TextBox 14"/>
          <p:cNvSpPr txBox="1"/>
          <p:nvPr/>
        </p:nvSpPr>
        <p:spPr>
          <a:xfrm>
            <a:off x="11906250" y="2038350"/>
            <a:ext cx="3810000" cy="960717"/>
          </a:xfrm>
          <a:prstGeom prst="rect">
            <a:avLst/>
          </a:prstGeom>
        </p:spPr>
        <p:txBody>
          <a:bodyPr lIns="0" tIns="0" rIns="0" bIns="0" rtlCol="0" anchor="t">
            <a:spAutoFit/>
          </a:bodyPr>
          <a:lstStyle/>
          <a:p>
            <a:pPr marL="0" lvl="0" indent="0" algn="ctr">
              <a:lnSpc>
                <a:spcPts val="7947"/>
              </a:lnSpc>
              <a:spcBef>
                <a:spcPct val="0"/>
              </a:spcBef>
            </a:pPr>
            <a:r>
              <a:rPr lang="en-US" sz="5676" u="none" strike="noStrike">
                <a:solidFill>
                  <a:srgbClr val="C9902A"/>
                </a:solidFill>
                <a:latin typeface="IBM Plex Mono"/>
                <a:ea typeface="IBM Plex Mono"/>
                <a:cs typeface="IBM Plex Mono"/>
                <a:sym typeface="IBM Plex Mono"/>
              </a:rPr>
              <a:t>2x</a:t>
            </a:r>
          </a:p>
        </p:txBody>
      </p:sp>
      <p:sp>
        <p:nvSpPr>
          <p:cNvPr id="15" name="TextBox 15"/>
          <p:cNvSpPr txBox="1"/>
          <p:nvPr/>
        </p:nvSpPr>
        <p:spPr>
          <a:xfrm>
            <a:off x="12144375" y="3067050"/>
            <a:ext cx="3333750" cy="48831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E2DDD5"/>
                </a:solidFill>
                <a:latin typeface="Open Sans"/>
                <a:ea typeface="Open Sans"/>
                <a:cs typeface="Open Sans"/>
                <a:sym typeface="Open Sans"/>
              </a:rPr>
              <a:t>higher default rate</a:t>
            </a:r>
          </a:p>
          <a:p>
            <a:pPr marL="0" lvl="0" indent="0" algn="ctr">
              <a:lnSpc>
                <a:spcPts val="1960"/>
              </a:lnSpc>
              <a:spcBef>
                <a:spcPct val="0"/>
              </a:spcBef>
            </a:pPr>
            <a:r>
              <a:rPr lang="en-US" sz="1400" u="none" strike="noStrike">
                <a:solidFill>
                  <a:srgbClr val="E2DDD5"/>
                </a:solidFill>
                <a:latin typeface="Open Sans"/>
                <a:ea typeface="Open Sans"/>
                <a:cs typeface="Open Sans"/>
                <a:sym typeface="Open Sans"/>
              </a:rPr>
              <a:t>for youngest borrowers</a:t>
            </a:r>
          </a:p>
        </p:txBody>
      </p:sp>
      <p:grpSp>
        <p:nvGrpSpPr>
          <p:cNvPr id="16" name="Group 16"/>
          <p:cNvGrpSpPr/>
          <p:nvPr/>
        </p:nvGrpSpPr>
        <p:grpSpPr>
          <a:xfrm>
            <a:off x="11430000" y="4953000"/>
            <a:ext cx="4762500" cy="2667000"/>
            <a:chOff x="0" y="0"/>
            <a:chExt cx="6350000" cy="3556000"/>
          </a:xfrm>
        </p:grpSpPr>
        <p:sp>
          <p:nvSpPr>
            <p:cNvPr id="17" name="Freeform 17"/>
            <p:cNvSpPr/>
            <p:nvPr/>
          </p:nvSpPr>
          <p:spPr>
            <a:xfrm>
              <a:off x="0" y="0"/>
              <a:ext cx="6350000" cy="3556000"/>
            </a:xfrm>
            <a:custGeom>
              <a:avLst/>
              <a:gdLst/>
              <a:ahLst/>
              <a:cxnLst/>
              <a:rect l="l" t="t" r="r" b="b"/>
              <a:pathLst>
                <a:path w="6350000" h="3556000">
                  <a:moveTo>
                    <a:pt x="355600" y="0"/>
                  </a:moveTo>
                  <a:lnTo>
                    <a:pt x="5994400" y="0"/>
                  </a:lnTo>
                  <a:cubicBezTo>
                    <a:pt x="6190792" y="0"/>
                    <a:pt x="6350000" y="159208"/>
                    <a:pt x="6350000" y="355600"/>
                  </a:cubicBezTo>
                  <a:lnTo>
                    <a:pt x="6350000" y="3200400"/>
                  </a:lnTo>
                  <a:cubicBezTo>
                    <a:pt x="6350000" y="3396792"/>
                    <a:pt x="6190792" y="3556000"/>
                    <a:pt x="5994400" y="3556000"/>
                  </a:cubicBezTo>
                  <a:lnTo>
                    <a:pt x="355600" y="3556000"/>
                  </a:lnTo>
                  <a:cubicBezTo>
                    <a:pt x="159208" y="3556000"/>
                    <a:pt x="0" y="3396792"/>
                    <a:pt x="0" y="3200400"/>
                  </a:cubicBezTo>
                  <a:lnTo>
                    <a:pt x="0" y="355600"/>
                  </a:lnTo>
                  <a:cubicBezTo>
                    <a:pt x="0" y="159208"/>
                    <a:pt x="159208" y="0"/>
                    <a:pt x="355600" y="0"/>
                  </a:cubicBezTo>
                  <a:close/>
                </a:path>
              </a:pathLst>
            </a:custGeom>
            <a:solidFill>
              <a:srgbClr val="1B3358"/>
            </a:solidFill>
          </p:spPr>
          <p:txBody>
            <a:bodyPr/>
            <a:lstStyle/>
            <a:p>
              <a:endParaRPr lang="en-KE"/>
            </a:p>
          </p:txBody>
        </p:sp>
        <p:sp>
          <p:nvSpPr>
            <p:cNvPr id="18" name="TextBox 18"/>
            <p:cNvSpPr txBox="1"/>
            <p:nvPr/>
          </p:nvSpPr>
          <p:spPr>
            <a:xfrm>
              <a:off x="0" y="-38100"/>
              <a:ext cx="6350000" cy="3594100"/>
            </a:xfrm>
            <a:prstGeom prst="rect">
              <a:avLst/>
            </a:prstGeom>
          </p:spPr>
          <p:txBody>
            <a:bodyPr lIns="50800" tIns="50800" rIns="50800" bIns="50800" rtlCol="0" anchor="ctr"/>
            <a:lstStyle/>
            <a:p>
              <a:pPr algn="l">
                <a:lnSpc>
                  <a:spcPts val="1679"/>
                </a:lnSpc>
              </a:pPr>
              <a:endParaRPr/>
            </a:p>
          </p:txBody>
        </p:sp>
      </p:grpSp>
      <p:sp>
        <p:nvSpPr>
          <p:cNvPr id="19" name="TextBox 19"/>
          <p:cNvSpPr txBox="1"/>
          <p:nvPr/>
        </p:nvSpPr>
        <p:spPr>
          <a:xfrm>
            <a:off x="11906250" y="5086350"/>
            <a:ext cx="3810000" cy="960717"/>
          </a:xfrm>
          <a:prstGeom prst="rect">
            <a:avLst/>
          </a:prstGeom>
        </p:spPr>
        <p:txBody>
          <a:bodyPr lIns="0" tIns="0" rIns="0" bIns="0" rtlCol="0" anchor="t">
            <a:spAutoFit/>
          </a:bodyPr>
          <a:lstStyle/>
          <a:p>
            <a:pPr marL="0" lvl="0" indent="0" algn="ctr">
              <a:lnSpc>
                <a:spcPts val="7947"/>
              </a:lnSpc>
              <a:spcBef>
                <a:spcPct val="0"/>
              </a:spcBef>
            </a:pPr>
            <a:r>
              <a:rPr lang="en-US" sz="5676" u="none" strike="noStrike">
                <a:solidFill>
                  <a:srgbClr val="C9902A"/>
                </a:solidFill>
                <a:latin typeface="IBM Plex Mono"/>
                <a:ea typeface="IBM Plex Mono"/>
                <a:cs typeface="IBM Plex Mono"/>
                <a:sym typeface="IBM Plex Mono"/>
              </a:rPr>
              <a:t>20%</a:t>
            </a:r>
          </a:p>
        </p:txBody>
      </p:sp>
      <p:sp>
        <p:nvSpPr>
          <p:cNvPr id="20" name="TextBox 20"/>
          <p:cNvSpPr txBox="1"/>
          <p:nvPr/>
        </p:nvSpPr>
        <p:spPr>
          <a:xfrm>
            <a:off x="12144375" y="6115050"/>
            <a:ext cx="3333750" cy="48831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E2DDD5"/>
                </a:solidFill>
                <a:latin typeface="Open Sans"/>
                <a:ea typeface="Open Sans"/>
                <a:cs typeface="Open Sans"/>
                <a:sym typeface="Open Sans"/>
              </a:rPr>
              <a:t>late payment threshold</a:t>
            </a:r>
          </a:p>
          <a:p>
            <a:pPr marL="0" lvl="0" indent="0" algn="ctr">
              <a:lnSpc>
                <a:spcPts val="1960"/>
              </a:lnSpc>
              <a:spcBef>
                <a:spcPct val="0"/>
              </a:spcBef>
            </a:pPr>
            <a:r>
              <a:rPr lang="en-US" sz="1400" u="none" strike="noStrike">
                <a:solidFill>
                  <a:srgbClr val="E2DDD5"/>
                </a:solidFill>
                <a:latin typeface="Open Sans"/>
                <a:ea typeface="Open Sans"/>
                <a:cs typeface="Open Sans"/>
                <a:sym typeface="Open Sans"/>
              </a:rPr>
              <a:t>that signals high risk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7810500" y="4543425"/>
            <a:ext cx="8572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Sequential error-correction, best on financial data</a:t>
            </a:r>
          </a:p>
        </p:txBody>
      </p:sp>
      <p:sp>
        <p:nvSpPr>
          <p:cNvPr id="3" name="TextBox 3"/>
          <p:cNvSpPr txBox="1"/>
          <p:nvPr/>
        </p:nvSpPr>
        <p:spPr>
          <a:xfrm>
            <a:off x="4381500" y="4543425"/>
            <a:ext cx="333375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Gradient boosting champion</a:t>
            </a:r>
          </a:p>
        </p:txBody>
      </p:sp>
      <p:sp>
        <p:nvSpPr>
          <p:cNvPr id="4" name="TextBox 4"/>
          <p:cNvSpPr txBox="1"/>
          <p:nvPr/>
        </p:nvSpPr>
        <p:spPr>
          <a:xfrm>
            <a:off x="7810500" y="4048125"/>
            <a:ext cx="8572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Captures non-linear patterns, built-in feature importance</a:t>
            </a:r>
          </a:p>
        </p:txBody>
      </p:sp>
      <p:sp>
        <p:nvSpPr>
          <p:cNvPr id="5" name="TextBox 5"/>
          <p:cNvSpPr txBox="1"/>
          <p:nvPr/>
        </p:nvSpPr>
        <p:spPr>
          <a:xfrm>
            <a:off x="4381500" y="4048125"/>
            <a:ext cx="333375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Ensemble of 200 trees</a:t>
            </a:r>
          </a:p>
        </p:txBody>
      </p:sp>
      <p:sp>
        <p:nvSpPr>
          <p:cNvPr id="6" name="TextBox 6"/>
          <p:cNvSpPr txBox="1"/>
          <p:nvPr/>
        </p:nvSpPr>
        <p:spPr>
          <a:xfrm>
            <a:off x="7810500" y="3552825"/>
            <a:ext cx="8572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Fast, interpretable, coefficients show feature direction</a:t>
            </a:r>
          </a:p>
        </p:txBody>
      </p:sp>
      <p:sp>
        <p:nvSpPr>
          <p:cNvPr id="7" name="TextBox 7"/>
          <p:cNvSpPr txBox="1"/>
          <p:nvPr/>
        </p:nvSpPr>
        <p:spPr>
          <a:xfrm>
            <a:off x="4381500" y="3552825"/>
            <a:ext cx="333375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Linear baseline</a:t>
            </a:r>
          </a:p>
        </p:txBody>
      </p:sp>
      <p:sp>
        <p:nvSpPr>
          <p:cNvPr id="8" name="TextBox 8"/>
          <p:cNvSpPr txBox="1"/>
          <p:nvPr/>
        </p:nvSpPr>
        <p:spPr>
          <a:xfrm>
            <a:off x="7810500" y="3057525"/>
            <a:ext cx="857250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Why Used</a:t>
            </a:r>
          </a:p>
        </p:txBody>
      </p:sp>
      <p:sp>
        <p:nvSpPr>
          <p:cNvPr id="9" name="TextBox 9"/>
          <p:cNvSpPr txBox="1"/>
          <p:nvPr/>
        </p:nvSpPr>
        <p:spPr>
          <a:xfrm>
            <a:off x="4381500" y="3057525"/>
            <a:ext cx="333375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Type</a:t>
            </a:r>
          </a:p>
        </p:txBody>
      </p:sp>
      <p:sp>
        <p:nvSpPr>
          <p:cNvPr id="10" name="TextBox 10"/>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Three Models, Each More Powerful Than the Last</a:t>
            </a:r>
          </a:p>
        </p:txBody>
      </p:sp>
      <p:sp>
        <p:nvSpPr>
          <p:cNvPr id="11" name="TextBox 11"/>
          <p:cNvSpPr txBox="1"/>
          <p:nvPr/>
        </p:nvSpPr>
        <p:spPr>
          <a:xfrm>
            <a:off x="914400" y="1685925"/>
            <a:ext cx="85725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Why three models:</a:t>
            </a:r>
          </a:p>
        </p:txBody>
      </p:sp>
      <p:sp>
        <p:nvSpPr>
          <p:cNvPr id="12" name="TextBox 12"/>
          <p:cNvSpPr txBox="1"/>
          <p:nvPr/>
        </p:nvSpPr>
        <p:spPr>
          <a:xfrm>
            <a:off x="914400" y="1971675"/>
            <a:ext cx="85725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We tested models in order of complexity. Each step up revealed whether non-linear patterns improved prediction. Starting simple forces honesty about whether complexity is actually needed.</a:t>
            </a:r>
          </a:p>
        </p:txBody>
      </p:sp>
      <p:grpSp>
        <p:nvGrpSpPr>
          <p:cNvPr id="13" name="Group 13"/>
          <p:cNvGrpSpPr/>
          <p:nvPr/>
        </p:nvGrpSpPr>
        <p:grpSpPr>
          <a:xfrm>
            <a:off x="914400" y="2952750"/>
            <a:ext cx="16459200" cy="495300"/>
            <a:chOff x="0" y="0"/>
            <a:chExt cx="21945600" cy="660400"/>
          </a:xfrm>
        </p:grpSpPr>
        <p:sp>
          <p:nvSpPr>
            <p:cNvPr id="14" name="Freeform 14"/>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B3358"/>
            </a:solidFill>
          </p:spPr>
          <p:txBody>
            <a:bodyPr/>
            <a:lstStyle/>
            <a:p>
              <a:endParaRPr lang="en-KE"/>
            </a:p>
          </p:txBody>
        </p:sp>
        <p:sp>
          <p:nvSpPr>
            <p:cNvPr id="15" name="TextBox 15"/>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1009650" y="3057525"/>
            <a:ext cx="333375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Model</a:t>
            </a:r>
          </a:p>
        </p:txBody>
      </p:sp>
      <p:grpSp>
        <p:nvGrpSpPr>
          <p:cNvPr id="17" name="Group 17"/>
          <p:cNvGrpSpPr/>
          <p:nvPr/>
        </p:nvGrpSpPr>
        <p:grpSpPr>
          <a:xfrm>
            <a:off x="914400" y="3448050"/>
            <a:ext cx="16459200" cy="495300"/>
            <a:chOff x="0" y="0"/>
            <a:chExt cx="21945600" cy="660400"/>
          </a:xfrm>
        </p:grpSpPr>
        <p:sp>
          <p:nvSpPr>
            <p:cNvPr id="18" name="Freeform 18"/>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62640"/>
            </a:solidFill>
          </p:spPr>
          <p:txBody>
            <a:bodyPr/>
            <a:lstStyle/>
            <a:p>
              <a:endParaRPr lang="en-KE"/>
            </a:p>
          </p:txBody>
        </p:sp>
        <p:sp>
          <p:nvSpPr>
            <p:cNvPr id="19" name="TextBox 19"/>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20" name="TextBox 20"/>
          <p:cNvSpPr txBox="1"/>
          <p:nvPr/>
        </p:nvSpPr>
        <p:spPr>
          <a:xfrm>
            <a:off x="1009650" y="3562350"/>
            <a:ext cx="3333750" cy="2241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Logistic Regression</a:t>
            </a:r>
          </a:p>
        </p:txBody>
      </p:sp>
      <p:grpSp>
        <p:nvGrpSpPr>
          <p:cNvPr id="21" name="Group 21"/>
          <p:cNvGrpSpPr/>
          <p:nvPr/>
        </p:nvGrpSpPr>
        <p:grpSpPr>
          <a:xfrm>
            <a:off x="914400" y="3943350"/>
            <a:ext cx="16459200" cy="495300"/>
            <a:chOff x="0" y="0"/>
            <a:chExt cx="21945600" cy="660400"/>
          </a:xfrm>
        </p:grpSpPr>
        <p:sp>
          <p:nvSpPr>
            <p:cNvPr id="22" name="Freeform 22"/>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B3358"/>
            </a:solidFill>
          </p:spPr>
          <p:txBody>
            <a:bodyPr/>
            <a:lstStyle/>
            <a:p>
              <a:endParaRPr lang="en-KE"/>
            </a:p>
          </p:txBody>
        </p:sp>
        <p:sp>
          <p:nvSpPr>
            <p:cNvPr id="23" name="TextBox 23"/>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24" name="TextBox 24"/>
          <p:cNvSpPr txBox="1"/>
          <p:nvPr/>
        </p:nvSpPr>
        <p:spPr>
          <a:xfrm>
            <a:off x="1009650" y="4057650"/>
            <a:ext cx="3333750" cy="2241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Random Forest</a:t>
            </a:r>
          </a:p>
        </p:txBody>
      </p:sp>
      <p:grpSp>
        <p:nvGrpSpPr>
          <p:cNvPr id="25" name="Group 25"/>
          <p:cNvGrpSpPr/>
          <p:nvPr/>
        </p:nvGrpSpPr>
        <p:grpSpPr>
          <a:xfrm>
            <a:off x="914400" y="4438650"/>
            <a:ext cx="16459200" cy="495300"/>
            <a:chOff x="0" y="0"/>
            <a:chExt cx="21945600" cy="660400"/>
          </a:xfrm>
        </p:grpSpPr>
        <p:sp>
          <p:nvSpPr>
            <p:cNvPr id="26" name="Freeform 26"/>
            <p:cNvSpPr/>
            <p:nvPr/>
          </p:nvSpPr>
          <p:spPr>
            <a:xfrm>
              <a:off x="0" y="0"/>
              <a:ext cx="21945600" cy="660400"/>
            </a:xfrm>
            <a:custGeom>
              <a:avLst/>
              <a:gdLst/>
              <a:ahLst/>
              <a:cxnLst/>
              <a:rect l="l" t="t" r="r" b="b"/>
              <a:pathLst>
                <a:path w="21945600" h="660400">
                  <a:moveTo>
                    <a:pt x="0" y="0"/>
                  </a:moveTo>
                  <a:lnTo>
                    <a:pt x="21945600" y="0"/>
                  </a:lnTo>
                  <a:lnTo>
                    <a:pt x="21945600" y="660400"/>
                  </a:lnTo>
                  <a:lnTo>
                    <a:pt x="0" y="660400"/>
                  </a:lnTo>
                  <a:close/>
                </a:path>
              </a:pathLst>
            </a:custGeom>
            <a:solidFill>
              <a:srgbClr val="162640"/>
            </a:solidFill>
          </p:spPr>
          <p:txBody>
            <a:bodyPr/>
            <a:lstStyle/>
            <a:p>
              <a:endParaRPr lang="en-KE"/>
            </a:p>
          </p:txBody>
        </p:sp>
        <p:sp>
          <p:nvSpPr>
            <p:cNvPr id="27" name="TextBox 27"/>
            <p:cNvSpPr txBox="1"/>
            <p:nvPr/>
          </p:nvSpPr>
          <p:spPr>
            <a:xfrm>
              <a:off x="0" y="-38100"/>
              <a:ext cx="21945600" cy="698500"/>
            </a:xfrm>
            <a:prstGeom prst="rect">
              <a:avLst/>
            </a:prstGeom>
          </p:spPr>
          <p:txBody>
            <a:bodyPr lIns="50800" tIns="50800" rIns="50800" bIns="50800" rtlCol="0" anchor="ctr"/>
            <a:lstStyle/>
            <a:p>
              <a:pPr algn="l">
                <a:lnSpc>
                  <a:spcPts val="1679"/>
                </a:lnSpc>
              </a:pPr>
              <a:endParaRPr/>
            </a:p>
          </p:txBody>
        </p:sp>
      </p:grpSp>
      <p:sp>
        <p:nvSpPr>
          <p:cNvPr id="28" name="TextBox 28"/>
          <p:cNvSpPr txBox="1"/>
          <p:nvPr/>
        </p:nvSpPr>
        <p:spPr>
          <a:xfrm>
            <a:off x="1009650" y="4552950"/>
            <a:ext cx="3333750" cy="2241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XGBoost</a:t>
            </a:r>
          </a:p>
        </p:txBody>
      </p:sp>
      <p:sp>
        <p:nvSpPr>
          <p:cNvPr id="29" name="TextBox 29"/>
          <p:cNvSpPr txBox="1"/>
          <p:nvPr/>
        </p:nvSpPr>
        <p:spPr>
          <a:xfrm>
            <a:off x="914400" y="5286375"/>
            <a:ext cx="85725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How we validated fairly:</a:t>
            </a:r>
          </a:p>
        </p:txBody>
      </p:sp>
      <p:sp>
        <p:nvSpPr>
          <p:cNvPr id="30" name="TextBox 30"/>
          <p:cNvSpPr txBox="1"/>
          <p:nvPr/>
        </p:nvSpPr>
        <p:spPr>
          <a:xfrm>
            <a:off x="914400" y="5553075"/>
            <a:ext cx="10001250" cy="1327785"/>
          </a:xfrm>
          <a:prstGeom prst="rect">
            <a:avLst/>
          </a:prstGeom>
        </p:spPr>
        <p:txBody>
          <a:bodyPr lIns="0" tIns="0" rIns="0" bIns="0" rtlCol="0" anchor="t">
            <a:spAutoFit/>
          </a:bodyPr>
          <a:lstStyle/>
          <a:p>
            <a:pPr marL="0" lvl="0" indent="0" algn="l">
              <a:lnSpc>
                <a:spcPts val="2100"/>
              </a:lnSpc>
              <a:spcBef>
                <a:spcPct val="0"/>
              </a:spcBef>
            </a:pPr>
            <a:r>
              <a:rPr lang="en-US" sz="1400" u="none" strike="noStrike">
                <a:solidFill>
                  <a:srgbClr val="FFFFFF"/>
                </a:solidFill>
                <a:latin typeface="Open Sans"/>
                <a:ea typeface="Open Sans"/>
                <a:cs typeface="Open Sans"/>
                <a:sym typeface="Open Sans"/>
              </a:rPr>
              <a:t>●  80/20 stratified train/test split — test set never touched during training</a:t>
            </a:r>
          </a:p>
          <a:p>
            <a:pPr marL="0" lvl="0" indent="0" algn="l">
              <a:lnSpc>
                <a:spcPts val="2100"/>
              </a:lnSpc>
              <a:spcBef>
                <a:spcPct val="0"/>
              </a:spcBef>
            </a:pPr>
            <a:endParaRPr lang="en-US" sz="1400" u="none" strike="noStrike">
              <a:solidFill>
                <a:srgbClr val="FFFFFF"/>
              </a:solidFill>
              <a:latin typeface="Open Sans"/>
              <a:ea typeface="Open Sans"/>
              <a:cs typeface="Open Sans"/>
              <a:sym typeface="Open Sans"/>
            </a:endParaRPr>
          </a:p>
          <a:p>
            <a:pPr marL="0" lvl="0" indent="0" algn="l">
              <a:lnSpc>
                <a:spcPts val="2100"/>
              </a:lnSpc>
              <a:spcBef>
                <a:spcPct val="0"/>
              </a:spcBef>
            </a:pPr>
            <a:r>
              <a:rPr lang="en-US" sz="1400" u="none" strike="noStrike">
                <a:solidFill>
                  <a:srgbClr val="FFFFFF"/>
                </a:solidFill>
                <a:latin typeface="Open Sans"/>
                <a:ea typeface="Open Sans"/>
                <a:cs typeface="Open Sans"/>
                <a:sym typeface="Open Sans"/>
              </a:rPr>
              <a:t>●  5-fold cross-validation — confirmed results are stable, not lucky</a:t>
            </a:r>
          </a:p>
          <a:p>
            <a:pPr marL="0" lvl="0" indent="0" algn="l">
              <a:lnSpc>
                <a:spcPts val="2100"/>
              </a:lnSpc>
              <a:spcBef>
                <a:spcPct val="0"/>
              </a:spcBef>
            </a:pPr>
            <a:endParaRPr lang="en-US" sz="1400" u="none" strike="noStrike">
              <a:solidFill>
                <a:srgbClr val="FFFFFF"/>
              </a:solidFill>
              <a:latin typeface="Open Sans"/>
              <a:ea typeface="Open Sans"/>
              <a:cs typeface="Open Sans"/>
              <a:sym typeface="Open Sans"/>
            </a:endParaRPr>
          </a:p>
          <a:p>
            <a:pPr marL="0" lvl="0" indent="0" algn="l">
              <a:lnSpc>
                <a:spcPts val="2100"/>
              </a:lnSpc>
              <a:spcBef>
                <a:spcPct val="0"/>
              </a:spcBef>
            </a:pPr>
            <a:r>
              <a:rPr lang="en-US" sz="1400" u="none" strike="noStrike">
                <a:solidFill>
                  <a:srgbClr val="FFFFFF"/>
                </a:solidFill>
                <a:latin typeface="Open Sans"/>
                <a:ea typeface="Open Sans"/>
                <a:cs typeface="Open Sans"/>
                <a:sym typeface="Open Sans"/>
              </a:rPr>
              <a:t>●  Same preprocessing applied identically to all models via scikit-learn Pipelines</a:t>
            </a:r>
          </a:p>
        </p:txBody>
      </p:sp>
      <p:sp>
        <p:nvSpPr>
          <p:cNvPr id="31" name="TextBox 31"/>
          <p:cNvSpPr txBox="1"/>
          <p:nvPr/>
        </p:nvSpPr>
        <p:spPr>
          <a:xfrm>
            <a:off x="914400" y="6810375"/>
            <a:ext cx="85725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Class imbalance handling:</a:t>
            </a:r>
          </a:p>
        </p:txBody>
      </p:sp>
      <p:sp>
        <p:nvSpPr>
          <p:cNvPr id="32" name="TextBox 32"/>
          <p:cNvSpPr txBox="1"/>
          <p:nvPr/>
        </p:nvSpPr>
        <p:spPr>
          <a:xfrm>
            <a:off x="914400" y="7096125"/>
            <a:ext cx="10001250" cy="24066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SMOTE applied inside the pipeline so it only affects training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16402050" y="8410575"/>
            <a:ext cx="47625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FFFFFF"/>
                </a:solidFill>
                <a:latin typeface="Open Sans"/>
                <a:ea typeface="Open Sans"/>
                <a:cs typeface="Open Sans"/>
                <a:sym typeface="Open Sans"/>
              </a:rPr>
              <a:t>83%</a:t>
            </a:r>
          </a:p>
        </p:txBody>
      </p:sp>
      <p:grpSp>
        <p:nvGrpSpPr>
          <p:cNvPr id="3" name="Group 3"/>
          <p:cNvGrpSpPr/>
          <p:nvPr/>
        </p:nvGrpSpPr>
        <p:grpSpPr>
          <a:xfrm>
            <a:off x="12477750" y="8420100"/>
            <a:ext cx="3590925" cy="171450"/>
            <a:chOff x="0" y="0"/>
            <a:chExt cx="4787900" cy="228600"/>
          </a:xfrm>
        </p:grpSpPr>
        <p:sp>
          <p:nvSpPr>
            <p:cNvPr id="4" name="Freeform 4"/>
            <p:cNvSpPr/>
            <p:nvPr/>
          </p:nvSpPr>
          <p:spPr>
            <a:xfrm>
              <a:off x="0" y="0"/>
              <a:ext cx="4787900" cy="228600"/>
            </a:xfrm>
            <a:custGeom>
              <a:avLst/>
              <a:gdLst/>
              <a:ahLst/>
              <a:cxnLst/>
              <a:rect l="l" t="t" r="r" b="b"/>
              <a:pathLst>
                <a:path w="4787900" h="228600">
                  <a:moveTo>
                    <a:pt x="22860" y="0"/>
                  </a:moveTo>
                  <a:lnTo>
                    <a:pt x="4765040" y="0"/>
                  </a:lnTo>
                  <a:cubicBezTo>
                    <a:pt x="4777665" y="0"/>
                    <a:pt x="4787900" y="10235"/>
                    <a:pt x="4787900" y="22860"/>
                  </a:cubicBezTo>
                  <a:lnTo>
                    <a:pt x="4787900" y="205740"/>
                  </a:lnTo>
                  <a:cubicBezTo>
                    <a:pt x="4787900" y="218365"/>
                    <a:pt x="4777665" y="228600"/>
                    <a:pt x="4765040" y="228600"/>
                  </a:cubicBezTo>
                  <a:lnTo>
                    <a:pt x="22860" y="228600"/>
                  </a:lnTo>
                  <a:cubicBezTo>
                    <a:pt x="10235" y="228600"/>
                    <a:pt x="0" y="218365"/>
                    <a:pt x="0" y="205740"/>
                  </a:cubicBezTo>
                  <a:lnTo>
                    <a:pt x="0" y="22860"/>
                  </a:lnTo>
                  <a:cubicBezTo>
                    <a:pt x="0" y="10235"/>
                    <a:pt x="10235" y="0"/>
                    <a:pt x="22860" y="0"/>
                  </a:cubicBezTo>
                  <a:close/>
                </a:path>
              </a:pathLst>
            </a:custGeom>
            <a:solidFill>
              <a:srgbClr val="1B3358"/>
            </a:solidFill>
          </p:spPr>
          <p:txBody>
            <a:bodyPr/>
            <a:lstStyle/>
            <a:p>
              <a:endParaRPr lang="en-KE"/>
            </a:p>
          </p:txBody>
        </p:sp>
        <p:sp>
          <p:nvSpPr>
            <p:cNvPr id="5" name="TextBox 5"/>
            <p:cNvSpPr txBox="1"/>
            <p:nvPr/>
          </p:nvSpPr>
          <p:spPr>
            <a:xfrm>
              <a:off x="0" y="-38100"/>
              <a:ext cx="4787900" cy="2667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1239500" y="8410575"/>
            <a:ext cx="1143000" cy="165100"/>
          </a:xfrm>
          <a:prstGeom prst="rect">
            <a:avLst/>
          </a:prstGeom>
        </p:spPr>
        <p:txBody>
          <a:bodyPr lIns="0" tIns="0" rIns="0" bIns="0" rtlCol="0" anchor="t">
            <a:spAutoFit/>
          </a:bodyPr>
          <a:lstStyle/>
          <a:p>
            <a:pPr marL="0" lvl="0" indent="0" algn="r">
              <a:lnSpc>
                <a:spcPts val="1399"/>
              </a:lnSpc>
              <a:spcBef>
                <a:spcPct val="0"/>
              </a:spcBef>
            </a:pPr>
            <a:r>
              <a:rPr lang="en-US" sz="999" u="none" strike="noStrike">
                <a:solidFill>
                  <a:srgbClr val="E2DDD5"/>
                </a:solidFill>
                <a:latin typeface="Open Sans"/>
                <a:ea typeface="Open Sans"/>
                <a:cs typeface="Open Sans"/>
                <a:sym typeface="Open Sans"/>
              </a:rPr>
              <a:t>XGB Cost</a:t>
            </a:r>
          </a:p>
        </p:txBody>
      </p:sp>
      <p:sp>
        <p:nvSpPr>
          <p:cNvPr id="7" name="TextBox 7"/>
          <p:cNvSpPr txBox="1"/>
          <p:nvPr/>
        </p:nvSpPr>
        <p:spPr>
          <a:xfrm>
            <a:off x="16087725" y="8162925"/>
            <a:ext cx="47625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C9902A"/>
                </a:solidFill>
                <a:latin typeface="Open Sans"/>
                <a:ea typeface="Open Sans"/>
                <a:cs typeface="Open Sans"/>
                <a:sym typeface="Open Sans"/>
              </a:rPr>
              <a:t>76%</a:t>
            </a:r>
          </a:p>
        </p:txBody>
      </p:sp>
      <p:grpSp>
        <p:nvGrpSpPr>
          <p:cNvPr id="8" name="Group 8"/>
          <p:cNvGrpSpPr/>
          <p:nvPr/>
        </p:nvGrpSpPr>
        <p:grpSpPr>
          <a:xfrm>
            <a:off x="12477750" y="8172450"/>
            <a:ext cx="3276600" cy="171450"/>
            <a:chOff x="0" y="0"/>
            <a:chExt cx="4368800" cy="228600"/>
          </a:xfrm>
        </p:grpSpPr>
        <p:sp>
          <p:nvSpPr>
            <p:cNvPr id="9" name="Freeform 9"/>
            <p:cNvSpPr/>
            <p:nvPr/>
          </p:nvSpPr>
          <p:spPr>
            <a:xfrm>
              <a:off x="0" y="0"/>
              <a:ext cx="4368800" cy="228600"/>
            </a:xfrm>
            <a:custGeom>
              <a:avLst/>
              <a:gdLst/>
              <a:ahLst/>
              <a:cxnLst/>
              <a:rect l="l" t="t" r="r" b="b"/>
              <a:pathLst>
                <a:path w="4368800" h="228600">
                  <a:moveTo>
                    <a:pt x="22860" y="0"/>
                  </a:moveTo>
                  <a:lnTo>
                    <a:pt x="4345940" y="0"/>
                  </a:lnTo>
                  <a:cubicBezTo>
                    <a:pt x="4358565" y="0"/>
                    <a:pt x="4368800" y="10235"/>
                    <a:pt x="4368800" y="22860"/>
                  </a:cubicBezTo>
                  <a:lnTo>
                    <a:pt x="4368800" y="205740"/>
                  </a:lnTo>
                  <a:cubicBezTo>
                    <a:pt x="4368800" y="218365"/>
                    <a:pt x="4358565" y="228600"/>
                    <a:pt x="4345940" y="228600"/>
                  </a:cubicBezTo>
                  <a:lnTo>
                    <a:pt x="22860" y="228600"/>
                  </a:lnTo>
                  <a:cubicBezTo>
                    <a:pt x="10235" y="228600"/>
                    <a:pt x="0" y="218365"/>
                    <a:pt x="0" y="205740"/>
                  </a:cubicBezTo>
                  <a:lnTo>
                    <a:pt x="0" y="22860"/>
                  </a:lnTo>
                  <a:cubicBezTo>
                    <a:pt x="0" y="10235"/>
                    <a:pt x="10235" y="0"/>
                    <a:pt x="22860" y="0"/>
                  </a:cubicBezTo>
                  <a:close/>
                </a:path>
              </a:pathLst>
            </a:custGeom>
            <a:solidFill>
              <a:srgbClr val="C9902A"/>
            </a:solidFill>
          </p:spPr>
          <p:txBody>
            <a:bodyPr/>
            <a:lstStyle/>
            <a:p>
              <a:endParaRPr lang="en-KE"/>
            </a:p>
          </p:txBody>
        </p:sp>
        <p:sp>
          <p:nvSpPr>
            <p:cNvPr id="10" name="TextBox 10"/>
            <p:cNvSpPr txBox="1"/>
            <p:nvPr/>
          </p:nvSpPr>
          <p:spPr>
            <a:xfrm>
              <a:off x="0" y="-38100"/>
              <a:ext cx="4368800" cy="266700"/>
            </a:xfrm>
            <a:prstGeom prst="rect">
              <a:avLst/>
            </a:prstGeom>
          </p:spPr>
          <p:txBody>
            <a:bodyPr lIns="50800" tIns="50800" rIns="50800" bIns="50800" rtlCol="0" anchor="ctr"/>
            <a:lstStyle/>
            <a:p>
              <a:pPr algn="l">
                <a:lnSpc>
                  <a:spcPts val="1679"/>
                </a:lnSpc>
              </a:pPr>
              <a:endParaRPr/>
            </a:p>
          </p:txBody>
        </p:sp>
      </p:grpSp>
      <p:sp>
        <p:nvSpPr>
          <p:cNvPr id="11" name="TextBox 11"/>
          <p:cNvSpPr txBox="1"/>
          <p:nvPr/>
        </p:nvSpPr>
        <p:spPr>
          <a:xfrm>
            <a:off x="11239500" y="8162925"/>
            <a:ext cx="1143000" cy="165100"/>
          </a:xfrm>
          <a:prstGeom prst="rect">
            <a:avLst/>
          </a:prstGeom>
        </p:spPr>
        <p:txBody>
          <a:bodyPr lIns="0" tIns="0" rIns="0" bIns="0" rtlCol="0" anchor="t">
            <a:spAutoFit/>
          </a:bodyPr>
          <a:lstStyle/>
          <a:p>
            <a:pPr marL="0" lvl="0" indent="0" algn="r">
              <a:lnSpc>
                <a:spcPts val="1399"/>
              </a:lnSpc>
              <a:spcBef>
                <a:spcPct val="0"/>
              </a:spcBef>
            </a:pPr>
            <a:r>
              <a:rPr lang="en-US" sz="999" u="none" strike="noStrike">
                <a:solidFill>
                  <a:srgbClr val="E2DDD5"/>
                </a:solidFill>
                <a:latin typeface="Open Sans"/>
                <a:ea typeface="Open Sans"/>
                <a:cs typeface="Open Sans"/>
                <a:sym typeface="Open Sans"/>
              </a:rPr>
              <a:t>XGB Bal</a:t>
            </a:r>
          </a:p>
        </p:txBody>
      </p:sp>
      <p:sp>
        <p:nvSpPr>
          <p:cNvPr id="12" name="TextBox 12"/>
          <p:cNvSpPr txBox="1"/>
          <p:nvPr/>
        </p:nvSpPr>
        <p:spPr>
          <a:xfrm>
            <a:off x="15630525" y="7915275"/>
            <a:ext cx="47625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FFFFFF"/>
                </a:solidFill>
                <a:latin typeface="Open Sans"/>
                <a:ea typeface="Open Sans"/>
                <a:cs typeface="Open Sans"/>
                <a:sym typeface="Open Sans"/>
              </a:rPr>
              <a:t>65%</a:t>
            </a:r>
          </a:p>
        </p:txBody>
      </p:sp>
      <p:grpSp>
        <p:nvGrpSpPr>
          <p:cNvPr id="13" name="Group 13"/>
          <p:cNvGrpSpPr/>
          <p:nvPr/>
        </p:nvGrpSpPr>
        <p:grpSpPr>
          <a:xfrm>
            <a:off x="12477750" y="7924800"/>
            <a:ext cx="2819400" cy="171450"/>
            <a:chOff x="0" y="0"/>
            <a:chExt cx="3759200" cy="228600"/>
          </a:xfrm>
        </p:grpSpPr>
        <p:sp>
          <p:nvSpPr>
            <p:cNvPr id="14" name="Freeform 14"/>
            <p:cNvSpPr/>
            <p:nvPr/>
          </p:nvSpPr>
          <p:spPr>
            <a:xfrm>
              <a:off x="0" y="0"/>
              <a:ext cx="3759200" cy="228600"/>
            </a:xfrm>
            <a:custGeom>
              <a:avLst/>
              <a:gdLst/>
              <a:ahLst/>
              <a:cxnLst/>
              <a:rect l="l" t="t" r="r" b="b"/>
              <a:pathLst>
                <a:path w="3759200" h="228600">
                  <a:moveTo>
                    <a:pt x="22860" y="0"/>
                  </a:moveTo>
                  <a:lnTo>
                    <a:pt x="3736340" y="0"/>
                  </a:lnTo>
                  <a:cubicBezTo>
                    <a:pt x="3748965" y="0"/>
                    <a:pt x="3759200" y="10235"/>
                    <a:pt x="3759200" y="22860"/>
                  </a:cubicBezTo>
                  <a:lnTo>
                    <a:pt x="3759200" y="205740"/>
                  </a:lnTo>
                  <a:cubicBezTo>
                    <a:pt x="3759200" y="218365"/>
                    <a:pt x="3748965" y="228600"/>
                    <a:pt x="3736340" y="228600"/>
                  </a:cubicBezTo>
                  <a:lnTo>
                    <a:pt x="22860" y="228600"/>
                  </a:lnTo>
                  <a:cubicBezTo>
                    <a:pt x="10235" y="228600"/>
                    <a:pt x="0" y="218365"/>
                    <a:pt x="0" y="205740"/>
                  </a:cubicBezTo>
                  <a:lnTo>
                    <a:pt x="0" y="22860"/>
                  </a:lnTo>
                  <a:cubicBezTo>
                    <a:pt x="0" y="10235"/>
                    <a:pt x="10235" y="0"/>
                    <a:pt x="22860" y="0"/>
                  </a:cubicBezTo>
                  <a:close/>
                </a:path>
              </a:pathLst>
            </a:custGeom>
            <a:solidFill>
              <a:srgbClr val="1B3358"/>
            </a:solidFill>
          </p:spPr>
          <p:txBody>
            <a:bodyPr/>
            <a:lstStyle/>
            <a:p>
              <a:endParaRPr lang="en-KE"/>
            </a:p>
          </p:txBody>
        </p:sp>
        <p:sp>
          <p:nvSpPr>
            <p:cNvPr id="15" name="TextBox 15"/>
            <p:cNvSpPr txBox="1"/>
            <p:nvPr/>
          </p:nvSpPr>
          <p:spPr>
            <a:xfrm>
              <a:off x="0" y="-38100"/>
              <a:ext cx="3759200" cy="2667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11239500" y="7915275"/>
            <a:ext cx="1143000" cy="165100"/>
          </a:xfrm>
          <a:prstGeom prst="rect">
            <a:avLst/>
          </a:prstGeom>
        </p:spPr>
        <p:txBody>
          <a:bodyPr lIns="0" tIns="0" rIns="0" bIns="0" rtlCol="0" anchor="t">
            <a:spAutoFit/>
          </a:bodyPr>
          <a:lstStyle/>
          <a:p>
            <a:pPr marL="0" lvl="0" indent="0" algn="r">
              <a:lnSpc>
                <a:spcPts val="1399"/>
              </a:lnSpc>
              <a:spcBef>
                <a:spcPct val="0"/>
              </a:spcBef>
            </a:pPr>
            <a:r>
              <a:rPr lang="en-US" sz="999" u="none" strike="noStrike">
                <a:solidFill>
                  <a:srgbClr val="E2DDD5"/>
                </a:solidFill>
                <a:latin typeface="Open Sans"/>
                <a:ea typeface="Open Sans"/>
                <a:cs typeface="Open Sans"/>
                <a:sym typeface="Open Sans"/>
              </a:rPr>
              <a:t>XGB Base</a:t>
            </a:r>
          </a:p>
        </p:txBody>
      </p:sp>
      <p:sp>
        <p:nvSpPr>
          <p:cNvPr id="17" name="TextBox 17"/>
          <p:cNvSpPr txBox="1"/>
          <p:nvPr/>
        </p:nvSpPr>
        <p:spPr>
          <a:xfrm>
            <a:off x="15163800" y="7667625"/>
            <a:ext cx="47625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FFFFFF"/>
                </a:solidFill>
                <a:latin typeface="Open Sans"/>
                <a:ea typeface="Open Sans"/>
                <a:cs typeface="Open Sans"/>
                <a:sym typeface="Open Sans"/>
              </a:rPr>
              <a:t>55%</a:t>
            </a:r>
          </a:p>
        </p:txBody>
      </p:sp>
      <p:grpSp>
        <p:nvGrpSpPr>
          <p:cNvPr id="18" name="Group 18"/>
          <p:cNvGrpSpPr/>
          <p:nvPr/>
        </p:nvGrpSpPr>
        <p:grpSpPr>
          <a:xfrm>
            <a:off x="12477750" y="7677150"/>
            <a:ext cx="2352675" cy="171450"/>
            <a:chOff x="0" y="0"/>
            <a:chExt cx="3136900" cy="228600"/>
          </a:xfrm>
        </p:grpSpPr>
        <p:sp>
          <p:nvSpPr>
            <p:cNvPr id="19" name="Freeform 19"/>
            <p:cNvSpPr/>
            <p:nvPr/>
          </p:nvSpPr>
          <p:spPr>
            <a:xfrm>
              <a:off x="0" y="0"/>
              <a:ext cx="3136900" cy="228600"/>
            </a:xfrm>
            <a:custGeom>
              <a:avLst/>
              <a:gdLst/>
              <a:ahLst/>
              <a:cxnLst/>
              <a:rect l="l" t="t" r="r" b="b"/>
              <a:pathLst>
                <a:path w="3136900" h="228600">
                  <a:moveTo>
                    <a:pt x="22860" y="0"/>
                  </a:moveTo>
                  <a:lnTo>
                    <a:pt x="3114040" y="0"/>
                  </a:lnTo>
                  <a:cubicBezTo>
                    <a:pt x="3120103" y="0"/>
                    <a:pt x="3125917" y="2408"/>
                    <a:pt x="3130204" y="6696"/>
                  </a:cubicBezTo>
                  <a:cubicBezTo>
                    <a:pt x="3134492" y="10983"/>
                    <a:pt x="3136900" y="16797"/>
                    <a:pt x="3136900" y="22860"/>
                  </a:cubicBezTo>
                  <a:lnTo>
                    <a:pt x="3136900" y="205740"/>
                  </a:lnTo>
                  <a:cubicBezTo>
                    <a:pt x="3136900" y="211803"/>
                    <a:pt x="3134492" y="217617"/>
                    <a:pt x="3130204" y="221904"/>
                  </a:cubicBezTo>
                  <a:cubicBezTo>
                    <a:pt x="3125917" y="226192"/>
                    <a:pt x="3120103" y="228600"/>
                    <a:pt x="3114040" y="228600"/>
                  </a:cubicBezTo>
                  <a:lnTo>
                    <a:pt x="22860" y="228600"/>
                  </a:lnTo>
                  <a:cubicBezTo>
                    <a:pt x="10235" y="228600"/>
                    <a:pt x="0" y="218365"/>
                    <a:pt x="0" y="205740"/>
                  </a:cubicBezTo>
                  <a:lnTo>
                    <a:pt x="0" y="22860"/>
                  </a:lnTo>
                  <a:cubicBezTo>
                    <a:pt x="0" y="10235"/>
                    <a:pt x="10235" y="0"/>
                    <a:pt x="22860" y="0"/>
                  </a:cubicBezTo>
                  <a:close/>
                </a:path>
              </a:pathLst>
            </a:custGeom>
            <a:solidFill>
              <a:srgbClr val="1B3358"/>
            </a:solidFill>
          </p:spPr>
          <p:txBody>
            <a:bodyPr/>
            <a:lstStyle/>
            <a:p>
              <a:endParaRPr lang="en-KE"/>
            </a:p>
          </p:txBody>
        </p:sp>
        <p:sp>
          <p:nvSpPr>
            <p:cNvPr id="20" name="TextBox 20"/>
            <p:cNvSpPr txBox="1"/>
            <p:nvPr/>
          </p:nvSpPr>
          <p:spPr>
            <a:xfrm>
              <a:off x="0" y="-38100"/>
              <a:ext cx="3136900" cy="266700"/>
            </a:xfrm>
            <a:prstGeom prst="rect">
              <a:avLst/>
            </a:prstGeom>
          </p:spPr>
          <p:txBody>
            <a:bodyPr lIns="50800" tIns="50800" rIns="50800" bIns="50800" rtlCol="0" anchor="ctr"/>
            <a:lstStyle/>
            <a:p>
              <a:pPr algn="l">
                <a:lnSpc>
                  <a:spcPts val="1679"/>
                </a:lnSpc>
              </a:pPr>
              <a:endParaRPr/>
            </a:p>
          </p:txBody>
        </p:sp>
      </p:grpSp>
      <p:sp>
        <p:nvSpPr>
          <p:cNvPr id="21" name="TextBox 21"/>
          <p:cNvSpPr txBox="1"/>
          <p:nvPr/>
        </p:nvSpPr>
        <p:spPr>
          <a:xfrm>
            <a:off x="11239500" y="7667625"/>
            <a:ext cx="1143000" cy="165100"/>
          </a:xfrm>
          <a:prstGeom prst="rect">
            <a:avLst/>
          </a:prstGeom>
        </p:spPr>
        <p:txBody>
          <a:bodyPr lIns="0" tIns="0" rIns="0" bIns="0" rtlCol="0" anchor="t">
            <a:spAutoFit/>
          </a:bodyPr>
          <a:lstStyle/>
          <a:p>
            <a:pPr marL="0" lvl="0" indent="0" algn="r">
              <a:lnSpc>
                <a:spcPts val="1399"/>
              </a:lnSpc>
              <a:spcBef>
                <a:spcPct val="0"/>
              </a:spcBef>
            </a:pPr>
            <a:r>
              <a:rPr lang="en-US" sz="999" u="none" strike="noStrike">
                <a:solidFill>
                  <a:srgbClr val="E2DDD5"/>
                </a:solidFill>
                <a:latin typeface="Open Sans"/>
                <a:ea typeface="Open Sans"/>
                <a:cs typeface="Open Sans"/>
                <a:sym typeface="Open Sans"/>
              </a:rPr>
              <a:t>RF</a:t>
            </a:r>
          </a:p>
        </p:txBody>
      </p:sp>
      <p:sp>
        <p:nvSpPr>
          <p:cNvPr id="22" name="TextBox 22"/>
          <p:cNvSpPr txBox="1"/>
          <p:nvPr/>
        </p:nvSpPr>
        <p:spPr>
          <a:xfrm>
            <a:off x="14735175" y="7419975"/>
            <a:ext cx="47625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FFFFFF"/>
                </a:solidFill>
                <a:latin typeface="Open Sans"/>
                <a:ea typeface="Open Sans"/>
                <a:cs typeface="Open Sans"/>
                <a:sym typeface="Open Sans"/>
              </a:rPr>
              <a:t>45%</a:t>
            </a:r>
          </a:p>
        </p:txBody>
      </p:sp>
      <p:grpSp>
        <p:nvGrpSpPr>
          <p:cNvPr id="23" name="Group 23"/>
          <p:cNvGrpSpPr/>
          <p:nvPr/>
        </p:nvGrpSpPr>
        <p:grpSpPr>
          <a:xfrm>
            <a:off x="12477750" y="7429500"/>
            <a:ext cx="1924050" cy="171450"/>
            <a:chOff x="0" y="0"/>
            <a:chExt cx="2565400" cy="228600"/>
          </a:xfrm>
        </p:grpSpPr>
        <p:sp>
          <p:nvSpPr>
            <p:cNvPr id="24" name="Freeform 24"/>
            <p:cNvSpPr/>
            <p:nvPr/>
          </p:nvSpPr>
          <p:spPr>
            <a:xfrm>
              <a:off x="0" y="0"/>
              <a:ext cx="2565400" cy="228600"/>
            </a:xfrm>
            <a:custGeom>
              <a:avLst/>
              <a:gdLst/>
              <a:ahLst/>
              <a:cxnLst/>
              <a:rect l="l" t="t" r="r" b="b"/>
              <a:pathLst>
                <a:path w="2565400" h="228600">
                  <a:moveTo>
                    <a:pt x="22860" y="0"/>
                  </a:moveTo>
                  <a:lnTo>
                    <a:pt x="2542540" y="0"/>
                  </a:lnTo>
                  <a:cubicBezTo>
                    <a:pt x="2548603" y="0"/>
                    <a:pt x="2554417" y="2408"/>
                    <a:pt x="2558704" y="6696"/>
                  </a:cubicBezTo>
                  <a:cubicBezTo>
                    <a:pt x="2562992" y="10983"/>
                    <a:pt x="2565400" y="16797"/>
                    <a:pt x="2565400" y="22860"/>
                  </a:cubicBezTo>
                  <a:lnTo>
                    <a:pt x="2565400" y="205740"/>
                  </a:lnTo>
                  <a:cubicBezTo>
                    <a:pt x="2565400" y="211803"/>
                    <a:pt x="2562992" y="217617"/>
                    <a:pt x="2558704" y="221904"/>
                  </a:cubicBezTo>
                  <a:cubicBezTo>
                    <a:pt x="2554417" y="226192"/>
                    <a:pt x="2548603" y="228600"/>
                    <a:pt x="2542540" y="228600"/>
                  </a:cubicBezTo>
                  <a:lnTo>
                    <a:pt x="22860" y="228600"/>
                  </a:lnTo>
                  <a:cubicBezTo>
                    <a:pt x="10235" y="228600"/>
                    <a:pt x="0" y="218365"/>
                    <a:pt x="0" y="205740"/>
                  </a:cubicBezTo>
                  <a:lnTo>
                    <a:pt x="0" y="22860"/>
                  </a:lnTo>
                  <a:cubicBezTo>
                    <a:pt x="0" y="10235"/>
                    <a:pt x="10235" y="0"/>
                    <a:pt x="22860" y="0"/>
                  </a:cubicBezTo>
                  <a:close/>
                </a:path>
              </a:pathLst>
            </a:custGeom>
            <a:solidFill>
              <a:srgbClr val="1B3358"/>
            </a:solidFill>
          </p:spPr>
          <p:txBody>
            <a:bodyPr/>
            <a:lstStyle/>
            <a:p>
              <a:endParaRPr lang="en-KE"/>
            </a:p>
          </p:txBody>
        </p:sp>
        <p:sp>
          <p:nvSpPr>
            <p:cNvPr id="25" name="TextBox 25"/>
            <p:cNvSpPr txBox="1"/>
            <p:nvPr/>
          </p:nvSpPr>
          <p:spPr>
            <a:xfrm>
              <a:off x="0" y="-38100"/>
              <a:ext cx="2565400" cy="266700"/>
            </a:xfrm>
            <a:prstGeom prst="rect">
              <a:avLst/>
            </a:prstGeom>
          </p:spPr>
          <p:txBody>
            <a:bodyPr lIns="50800" tIns="50800" rIns="50800" bIns="50800" rtlCol="0" anchor="ctr"/>
            <a:lstStyle/>
            <a:p>
              <a:pPr algn="l">
                <a:lnSpc>
                  <a:spcPts val="1679"/>
                </a:lnSpc>
              </a:pPr>
              <a:endParaRPr/>
            </a:p>
          </p:txBody>
        </p:sp>
      </p:grpSp>
      <p:sp>
        <p:nvSpPr>
          <p:cNvPr id="26" name="TextBox 26"/>
          <p:cNvSpPr txBox="1"/>
          <p:nvPr/>
        </p:nvSpPr>
        <p:spPr>
          <a:xfrm>
            <a:off x="11239500" y="7419975"/>
            <a:ext cx="1143000" cy="165100"/>
          </a:xfrm>
          <a:prstGeom prst="rect">
            <a:avLst/>
          </a:prstGeom>
        </p:spPr>
        <p:txBody>
          <a:bodyPr lIns="0" tIns="0" rIns="0" bIns="0" rtlCol="0" anchor="t">
            <a:spAutoFit/>
          </a:bodyPr>
          <a:lstStyle/>
          <a:p>
            <a:pPr marL="0" lvl="0" indent="0" algn="r">
              <a:lnSpc>
                <a:spcPts val="1399"/>
              </a:lnSpc>
              <a:spcBef>
                <a:spcPct val="0"/>
              </a:spcBef>
            </a:pPr>
            <a:r>
              <a:rPr lang="en-US" sz="999" u="none" strike="noStrike">
                <a:solidFill>
                  <a:srgbClr val="E2DDD5"/>
                </a:solidFill>
                <a:latin typeface="Open Sans"/>
                <a:ea typeface="Open Sans"/>
                <a:cs typeface="Open Sans"/>
                <a:sym typeface="Open Sans"/>
              </a:rPr>
              <a:t>LR</a:t>
            </a:r>
          </a:p>
        </p:txBody>
      </p:sp>
      <p:sp>
        <p:nvSpPr>
          <p:cNvPr id="27" name="TextBox 27"/>
          <p:cNvSpPr txBox="1"/>
          <p:nvPr/>
        </p:nvSpPr>
        <p:spPr>
          <a:xfrm>
            <a:off x="2476500" y="695325"/>
            <a:ext cx="13335000" cy="638175"/>
          </a:xfrm>
          <a:prstGeom prst="rect">
            <a:avLst/>
          </a:prstGeom>
        </p:spPr>
        <p:txBody>
          <a:bodyPr lIns="0" tIns="0" rIns="0" bIns="0" rtlCol="0" anchor="t">
            <a:spAutoFit/>
          </a:bodyPr>
          <a:lstStyle/>
          <a:p>
            <a:pPr marL="0" lvl="0" indent="0" algn="ctr">
              <a:lnSpc>
                <a:spcPts val="5023"/>
              </a:lnSpc>
              <a:spcBef>
                <a:spcPct val="0"/>
              </a:spcBef>
            </a:pPr>
            <a:r>
              <a:rPr lang="en-US" sz="3587" u="none" strike="noStrike">
                <a:solidFill>
                  <a:srgbClr val="C9902A"/>
                </a:solidFill>
                <a:latin typeface="Marcellus"/>
                <a:ea typeface="Marcellus"/>
                <a:cs typeface="Marcellus"/>
                <a:sym typeface="Marcellus"/>
              </a:rPr>
              <a:t>XGBoost Catches 76.5% of All Defaulters — Chosen as Champion</a:t>
            </a:r>
          </a:p>
        </p:txBody>
      </p:sp>
      <p:grpSp>
        <p:nvGrpSpPr>
          <p:cNvPr id="28" name="Group 28"/>
          <p:cNvGrpSpPr/>
          <p:nvPr/>
        </p:nvGrpSpPr>
        <p:grpSpPr>
          <a:xfrm>
            <a:off x="914400" y="1714500"/>
            <a:ext cx="16459200" cy="457200"/>
            <a:chOff x="0" y="0"/>
            <a:chExt cx="21945600" cy="609600"/>
          </a:xfrm>
        </p:grpSpPr>
        <p:sp>
          <p:nvSpPr>
            <p:cNvPr id="29" name="Freeform 29"/>
            <p:cNvSpPr/>
            <p:nvPr/>
          </p:nvSpPr>
          <p:spPr>
            <a:xfrm>
              <a:off x="0" y="0"/>
              <a:ext cx="21945600" cy="609600"/>
            </a:xfrm>
            <a:custGeom>
              <a:avLst/>
              <a:gdLst/>
              <a:ahLst/>
              <a:cxnLst/>
              <a:rect l="l" t="t" r="r" b="b"/>
              <a:pathLst>
                <a:path w="21945600" h="609600">
                  <a:moveTo>
                    <a:pt x="0" y="0"/>
                  </a:moveTo>
                  <a:lnTo>
                    <a:pt x="21945600" y="0"/>
                  </a:lnTo>
                  <a:lnTo>
                    <a:pt x="21945600" y="609600"/>
                  </a:lnTo>
                  <a:lnTo>
                    <a:pt x="0" y="609600"/>
                  </a:lnTo>
                  <a:close/>
                </a:path>
              </a:pathLst>
            </a:custGeom>
            <a:solidFill>
              <a:srgbClr val="1B3358"/>
            </a:solidFill>
          </p:spPr>
          <p:txBody>
            <a:bodyPr/>
            <a:lstStyle/>
            <a:p>
              <a:endParaRPr lang="en-KE"/>
            </a:p>
          </p:txBody>
        </p:sp>
        <p:sp>
          <p:nvSpPr>
            <p:cNvPr id="30" name="TextBox 30"/>
            <p:cNvSpPr txBox="1"/>
            <p:nvPr/>
          </p:nvSpPr>
          <p:spPr>
            <a:xfrm>
              <a:off x="0" y="-38100"/>
              <a:ext cx="21945600" cy="647700"/>
            </a:xfrm>
            <a:prstGeom prst="rect">
              <a:avLst/>
            </a:prstGeom>
          </p:spPr>
          <p:txBody>
            <a:bodyPr lIns="50800" tIns="50800" rIns="50800" bIns="50800" rtlCol="0" anchor="ctr"/>
            <a:lstStyle/>
            <a:p>
              <a:pPr algn="l">
                <a:lnSpc>
                  <a:spcPts val="1679"/>
                </a:lnSpc>
              </a:pPr>
              <a:endParaRPr/>
            </a:p>
          </p:txBody>
        </p:sp>
      </p:grpSp>
      <p:sp>
        <p:nvSpPr>
          <p:cNvPr id="31" name="TextBox 31"/>
          <p:cNvSpPr txBox="1"/>
          <p:nvPr/>
        </p:nvSpPr>
        <p:spPr>
          <a:xfrm>
            <a:off x="1009650" y="1800225"/>
            <a:ext cx="342900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Model</a:t>
            </a:r>
          </a:p>
        </p:txBody>
      </p:sp>
      <p:sp>
        <p:nvSpPr>
          <p:cNvPr id="32" name="TextBox 32"/>
          <p:cNvSpPr txBox="1"/>
          <p:nvPr/>
        </p:nvSpPr>
        <p:spPr>
          <a:xfrm>
            <a:off x="4629150" y="1800225"/>
            <a:ext cx="247650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Recall</a:t>
            </a:r>
          </a:p>
        </p:txBody>
      </p:sp>
      <p:sp>
        <p:nvSpPr>
          <p:cNvPr id="33" name="TextBox 33"/>
          <p:cNvSpPr txBox="1"/>
          <p:nvPr/>
        </p:nvSpPr>
        <p:spPr>
          <a:xfrm>
            <a:off x="7296150" y="1800225"/>
            <a:ext cx="247650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Precision</a:t>
            </a:r>
          </a:p>
        </p:txBody>
      </p:sp>
      <p:sp>
        <p:nvSpPr>
          <p:cNvPr id="34" name="TextBox 34"/>
          <p:cNvSpPr txBox="1"/>
          <p:nvPr/>
        </p:nvSpPr>
        <p:spPr>
          <a:xfrm>
            <a:off x="9963150" y="1800225"/>
            <a:ext cx="2476500" cy="240665"/>
          </a:xfrm>
          <a:prstGeom prst="rect">
            <a:avLst/>
          </a:prstGeom>
        </p:spPr>
        <p:txBody>
          <a:bodyPr lIns="0" tIns="0" rIns="0" bIns="0" rtlCol="0" anchor="t">
            <a:spAutoFit/>
          </a:bodyPr>
          <a:lstStyle/>
          <a:p>
            <a:pPr marL="0" lvl="0" indent="0" algn="l">
              <a:lnSpc>
                <a:spcPts val="1960"/>
              </a:lnSpc>
              <a:spcBef>
                <a:spcPct val="0"/>
              </a:spcBef>
            </a:pPr>
            <a:r>
              <a:rPr lang="en-US" sz="1400" b="1" u="none" strike="noStrike">
                <a:solidFill>
                  <a:srgbClr val="C9902A"/>
                </a:solidFill>
                <a:latin typeface="Open Sans Bold"/>
                <a:ea typeface="Open Sans Bold"/>
                <a:cs typeface="Open Sans Bold"/>
                <a:sym typeface="Open Sans Bold"/>
              </a:rPr>
              <a:t>ROC-AUC</a:t>
            </a:r>
          </a:p>
        </p:txBody>
      </p:sp>
      <p:grpSp>
        <p:nvGrpSpPr>
          <p:cNvPr id="35" name="Group 35"/>
          <p:cNvGrpSpPr/>
          <p:nvPr/>
        </p:nvGrpSpPr>
        <p:grpSpPr>
          <a:xfrm>
            <a:off x="914400" y="2171700"/>
            <a:ext cx="16459200" cy="457200"/>
            <a:chOff x="0" y="0"/>
            <a:chExt cx="21945600" cy="609600"/>
          </a:xfrm>
        </p:grpSpPr>
        <p:sp>
          <p:nvSpPr>
            <p:cNvPr id="36" name="Freeform 36"/>
            <p:cNvSpPr/>
            <p:nvPr/>
          </p:nvSpPr>
          <p:spPr>
            <a:xfrm>
              <a:off x="0" y="0"/>
              <a:ext cx="21945600" cy="609600"/>
            </a:xfrm>
            <a:custGeom>
              <a:avLst/>
              <a:gdLst/>
              <a:ahLst/>
              <a:cxnLst/>
              <a:rect l="l" t="t" r="r" b="b"/>
              <a:pathLst>
                <a:path w="21945600" h="609600">
                  <a:moveTo>
                    <a:pt x="0" y="0"/>
                  </a:moveTo>
                  <a:lnTo>
                    <a:pt x="21945600" y="0"/>
                  </a:lnTo>
                  <a:lnTo>
                    <a:pt x="21945600" y="609600"/>
                  </a:lnTo>
                  <a:lnTo>
                    <a:pt x="0" y="609600"/>
                  </a:lnTo>
                  <a:close/>
                </a:path>
              </a:pathLst>
            </a:custGeom>
            <a:solidFill>
              <a:srgbClr val="162640"/>
            </a:solidFill>
          </p:spPr>
          <p:txBody>
            <a:bodyPr/>
            <a:lstStyle/>
            <a:p>
              <a:endParaRPr lang="en-KE"/>
            </a:p>
          </p:txBody>
        </p:sp>
        <p:sp>
          <p:nvSpPr>
            <p:cNvPr id="37" name="TextBox 37"/>
            <p:cNvSpPr txBox="1"/>
            <p:nvPr/>
          </p:nvSpPr>
          <p:spPr>
            <a:xfrm>
              <a:off x="0" y="-38100"/>
              <a:ext cx="21945600" cy="647700"/>
            </a:xfrm>
            <a:prstGeom prst="rect">
              <a:avLst/>
            </a:prstGeom>
          </p:spPr>
          <p:txBody>
            <a:bodyPr lIns="50800" tIns="50800" rIns="50800" bIns="50800" rtlCol="0" anchor="ctr"/>
            <a:lstStyle/>
            <a:p>
              <a:pPr algn="l">
                <a:lnSpc>
                  <a:spcPts val="1679"/>
                </a:lnSpc>
              </a:pPr>
              <a:endParaRPr/>
            </a:p>
          </p:txBody>
        </p:sp>
      </p:grpSp>
      <p:sp>
        <p:nvSpPr>
          <p:cNvPr id="38" name="TextBox 38"/>
          <p:cNvSpPr txBox="1"/>
          <p:nvPr/>
        </p:nvSpPr>
        <p:spPr>
          <a:xfrm>
            <a:off x="1009650" y="2266950"/>
            <a:ext cx="3429000" cy="2241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Logistic Regression</a:t>
            </a:r>
          </a:p>
        </p:txBody>
      </p:sp>
      <p:sp>
        <p:nvSpPr>
          <p:cNvPr id="39" name="TextBox 39"/>
          <p:cNvSpPr txBox="1"/>
          <p:nvPr/>
        </p:nvSpPr>
        <p:spPr>
          <a:xfrm>
            <a:off x="4629150" y="22574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Lower</a:t>
            </a:r>
          </a:p>
        </p:txBody>
      </p:sp>
      <p:sp>
        <p:nvSpPr>
          <p:cNvPr id="40" name="TextBox 40"/>
          <p:cNvSpPr txBox="1"/>
          <p:nvPr/>
        </p:nvSpPr>
        <p:spPr>
          <a:xfrm>
            <a:off x="7296150" y="22574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Higher</a:t>
            </a:r>
          </a:p>
        </p:txBody>
      </p:sp>
      <p:sp>
        <p:nvSpPr>
          <p:cNvPr id="41" name="TextBox 41"/>
          <p:cNvSpPr txBox="1"/>
          <p:nvPr/>
        </p:nvSpPr>
        <p:spPr>
          <a:xfrm>
            <a:off x="9963150" y="22574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~0.68</a:t>
            </a:r>
          </a:p>
        </p:txBody>
      </p:sp>
      <p:grpSp>
        <p:nvGrpSpPr>
          <p:cNvPr id="42" name="Group 42"/>
          <p:cNvGrpSpPr/>
          <p:nvPr/>
        </p:nvGrpSpPr>
        <p:grpSpPr>
          <a:xfrm>
            <a:off x="914400" y="2628900"/>
            <a:ext cx="16459200" cy="457200"/>
            <a:chOff x="0" y="0"/>
            <a:chExt cx="21945600" cy="609600"/>
          </a:xfrm>
        </p:grpSpPr>
        <p:sp>
          <p:nvSpPr>
            <p:cNvPr id="43" name="Freeform 43"/>
            <p:cNvSpPr/>
            <p:nvPr/>
          </p:nvSpPr>
          <p:spPr>
            <a:xfrm>
              <a:off x="0" y="0"/>
              <a:ext cx="21945600" cy="609600"/>
            </a:xfrm>
            <a:custGeom>
              <a:avLst/>
              <a:gdLst/>
              <a:ahLst/>
              <a:cxnLst/>
              <a:rect l="l" t="t" r="r" b="b"/>
              <a:pathLst>
                <a:path w="21945600" h="609600">
                  <a:moveTo>
                    <a:pt x="0" y="0"/>
                  </a:moveTo>
                  <a:lnTo>
                    <a:pt x="21945600" y="0"/>
                  </a:lnTo>
                  <a:lnTo>
                    <a:pt x="21945600" y="609600"/>
                  </a:lnTo>
                  <a:lnTo>
                    <a:pt x="0" y="609600"/>
                  </a:lnTo>
                  <a:close/>
                </a:path>
              </a:pathLst>
            </a:custGeom>
            <a:solidFill>
              <a:srgbClr val="1B3358"/>
            </a:solidFill>
          </p:spPr>
          <p:txBody>
            <a:bodyPr/>
            <a:lstStyle/>
            <a:p>
              <a:endParaRPr lang="en-KE"/>
            </a:p>
          </p:txBody>
        </p:sp>
        <p:sp>
          <p:nvSpPr>
            <p:cNvPr id="44" name="TextBox 44"/>
            <p:cNvSpPr txBox="1"/>
            <p:nvPr/>
          </p:nvSpPr>
          <p:spPr>
            <a:xfrm>
              <a:off x="0" y="-38100"/>
              <a:ext cx="21945600" cy="647700"/>
            </a:xfrm>
            <a:prstGeom prst="rect">
              <a:avLst/>
            </a:prstGeom>
          </p:spPr>
          <p:txBody>
            <a:bodyPr lIns="50800" tIns="50800" rIns="50800" bIns="50800" rtlCol="0" anchor="ctr"/>
            <a:lstStyle/>
            <a:p>
              <a:pPr algn="l">
                <a:lnSpc>
                  <a:spcPts val="1679"/>
                </a:lnSpc>
              </a:pPr>
              <a:endParaRPr/>
            </a:p>
          </p:txBody>
        </p:sp>
      </p:grpSp>
      <p:sp>
        <p:nvSpPr>
          <p:cNvPr id="45" name="TextBox 45"/>
          <p:cNvSpPr txBox="1"/>
          <p:nvPr/>
        </p:nvSpPr>
        <p:spPr>
          <a:xfrm>
            <a:off x="1009650" y="2724150"/>
            <a:ext cx="3429000" cy="2241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Random Forest</a:t>
            </a:r>
          </a:p>
        </p:txBody>
      </p:sp>
      <p:sp>
        <p:nvSpPr>
          <p:cNvPr id="46" name="TextBox 46"/>
          <p:cNvSpPr txBox="1"/>
          <p:nvPr/>
        </p:nvSpPr>
        <p:spPr>
          <a:xfrm>
            <a:off x="4629150" y="27146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Medium</a:t>
            </a:r>
          </a:p>
        </p:txBody>
      </p:sp>
      <p:sp>
        <p:nvSpPr>
          <p:cNvPr id="47" name="TextBox 47"/>
          <p:cNvSpPr txBox="1"/>
          <p:nvPr/>
        </p:nvSpPr>
        <p:spPr>
          <a:xfrm>
            <a:off x="7296150" y="27146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Medium</a:t>
            </a:r>
          </a:p>
        </p:txBody>
      </p:sp>
      <p:sp>
        <p:nvSpPr>
          <p:cNvPr id="48" name="TextBox 48"/>
          <p:cNvSpPr txBox="1"/>
          <p:nvPr/>
        </p:nvSpPr>
        <p:spPr>
          <a:xfrm>
            <a:off x="9963150" y="27146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~0.73</a:t>
            </a:r>
          </a:p>
        </p:txBody>
      </p:sp>
      <p:grpSp>
        <p:nvGrpSpPr>
          <p:cNvPr id="49" name="Group 49"/>
          <p:cNvGrpSpPr/>
          <p:nvPr/>
        </p:nvGrpSpPr>
        <p:grpSpPr>
          <a:xfrm>
            <a:off x="914400" y="3086100"/>
            <a:ext cx="16459200" cy="457200"/>
            <a:chOff x="0" y="0"/>
            <a:chExt cx="21945600" cy="609600"/>
          </a:xfrm>
        </p:grpSpPr>
        <p:sp>
          <p:nvSpPr>
            <p:cNvPr id="50" name="Freeform 50"/>
            <p:cNvSpPr/>
            <p:nvPr/>
          </p:nvSpPr>
          <p:spPr>
            <a:xfrm>
              <a:off x="0" y="0"/>
              <a:ext cx="21945600" cy="609600"/>
            </a:xfrm>
            <a:custGeom>
              <a:avLst/>
              <a:gdLst/>
              <a:ahLst/>
              <a:cxnLst/>
              <a:rect l="l" t="t" r="r" b="b"/>
              <a:pathLst>
                <a:path w="21945600" h="609600">
                  <a:moveTo>
                    <a:pt x="0" y="0"/>
                  </a:moveTo>
                  <a:lnTo>
                    <a:pt x="21945600" y="0"/>
                  </a:lnTo>
                  <a:lnTo>
                    <a:pt x="21945600" y="609600"/>
                  </a:lnTo>
                  <a:lnTo>
                    <a:pt x="0" y="609600"/>
                  </a:lnTo>
                  <a:close/>
                </a:path>
              </a:pathLst>
            </a:custGeom>
            <a:solidFill>
              <a:srgbClr val="162640"/>
            </a:solidFill>
          </p:spPr>
          <p:txBody>
            <a:bodyPr/>
            <a:lstStyle/>
            <a:p>
              <a:endParaRPr lang="en-KE"/>
            </a:p>
          </p:txBody>
        </p:sp>
        <p:sp>
          <p:nvSpPr>
            <p:cNvPr id="51" name="TextBox 51"/>
            <p:cNvSpPr txBox="1"/>
            <p:nvPr/>
          </p:nvSpPr>
          <p:spPr>
            <a:xfrm>
              <a:off x="0" y="-38100"/>
              <a:ext cx="21945600" cy="647700"/>
            </a:xfrm>
            <a:prstGeom prst="rect">
              <a:avLst/>
            </a:prstGeom>
          </p:spPr>
          <p:txBody>
            <a:bodyPr lIns="50800" tIns="50800" rIns="50800" bIns="50800" rtlCol="0" anchor="ctr"/>
            <a:lstStyle/>
            <a:p>
              <a:pPr algn="l">
                <a:lnSpc>
                  <a:spcPts val="1679"/>
                </a:lnSpc>
              </a:pPr>
              <a:endParaRPr/>
            </a:p>
          </p:txBody>
        </p:sp>
      </p:grpSp>
      <p:sp>
        <p:nvSpPr>
          <p:cNvPr id="52" name="TextBox 52"/>
          <p:cNvSpPr txBox="1"/>
          <p:nvPr/>
        </p:nvSpPr>
        <p:spPr>
          <a:xfrm>
            <a:off x="1009650" y="3067050"/>
            <a:ext cx="3429000" cy="4527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XGBoost Baseline (scale_pos_weight = 11.39)</a:t>
            </a:r>
          </a:p>
        </p:txBody>
      </p:sp>
      <p:sp>
        <p:nvSpPr>
          <p:cNvPr id="53" name="TextBox 53"/>
          <p:cNvSpPr txBox="1"/>
          <p:nvPr/>
        </p:nvSpPr>
        <p:spPr>
          <a:xfrm>
            <a:off x="4629150" y="31718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65.8%</a:t>
            </a:r>
          </a:p>
        </p:txBody>
      </p:sp>
      <p:sp>
        <p:nvSpPr>
          <p:cNvPr id="54" name="TextBox 54"/>
          <p:cNvSpPr txBox="1"/>
          <p:nvPr/>
        </p:nvSpPr>
        <p:spPr>
          <a:xfrm>
            <a:off x="7296150" y="31718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17.6%</a:t>
            </a:r>
          </a:p>
        </p:txBody>
      </p:sp>
      <p:sp>
        <p:nvSpPr>
          <p:cNvPr id="55" name="TextBox 55"/>
          <p:cNvSpPr txBox="1"/>
          <p:nvPr/>
        </p:nvSpPr>
        <p:spPr>
          <a:xfrm>
            <a:off x="9963150" y="31718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0.7607</a:t>
            </a:r>
          </a:p>
        </p:txBody>
      </p:sp>
      <p:grpSp>
        <p:nvGrpSpPr>
          <p:cNvPr id="56" name="Group 56"/>
          <p:cNvGrpSpPr/>
          <p:nvPr/>
        </p:nvGrpSpPr>
        <p:grpSpPr>
          <a:xfrm>
            <a:off x="914400" y="3543300"/>
            <a:ext cx="16459200" cy="457200"/>
            <a:chOff x="0" y="0"/>
            <a:chExt cx="21945600" cy="609600"/>
          </a:xfrm>
        </p:grpSpPr>
        <p:sp>
          <p:nvSpPr>
            <p:cNvPr id="57" name="Freeform 57"/>
            <p:cNvSpPr/>
            <p:nvPr/>
          </p:nvSpPr>
          <p:spPr>
            <a:xfrm>
              <a:off x="0" y="0"/>
              <a:ext cx="21945600" cy="609600"/>
            </a:xfrm>
            <a:custGeom>
              <a:avLst/>
              <a:gdLst/>
              <a:ahLst/>
              <a:cxnLst/>
              <a:rect l="l" t="t" r="r" b="b"/>
              <a:pathLst>
                <a:path w="21945600" h="609600">
                  <a:moveTo>
                    <a:pt x="0" y="0"/>
                  </a:moveTo>
                  <a:lnTo>
                    <a:pt x="21945600" y="0"/>
                  </a:lnTo>
                  <a:lnTo>
                    <a:pt x="21945600" y="609600"/>
                  </a:lnTo>
                  <a:lnTo>
                    <a:pt x="0" y="609600"/>
                  </a:lnTo>
                  <a:close/>
                </a:path>
              </a:pathLst>
            </a:custGeom>
            <a:solidFill>
              <a:srgbClr val="1F3D6A"/>
            </a:solidFill>
          </p:spPr>
          <p:txBody>
            <a:bodyPr/>
            <a:lstStyle/>
            <a:p>
              <a:endParaRPr lang="en-KE"/>
            </a:p>
          </p:txBody>
        </p:sp>
        <p:sp>
          <p:nvSpPr>
            <p:cNvPr id="58" name="TextBox 58"/>
            <p:cNvSpPr txBox="1"/>
            <p:nvPr/>
          </p:nvSpPr>
          <p:spPr>
            <a:xfrm>
              <a:off x="0" y="-38100"/>
              <a:ext cx="21945600" cy="647700"/>
            </a:xfrm>
            <a:prstGeom prst="rect">
              <a:avLst/>
            </a:prstGeom>
          </p:spPr>
          <p:txBody>
            <a:bodyPr lIns="50800" tIns="50800" rIns="50800" bIns="50800" rtlCol="0" anchor="ctr"/>
            <a:lstStyle/>
            <a:p>
              <a:pPr algn="l">
                <a:lnSpc>
                  <a:spcPts val="1679"/>
                </a:lnSpc>
              </a:pPr>
              <a:endParaRPr/>
            </a:p>
          </p:txBody>
        </p:sp>
      </p:grpSp>
      <p:grpSp>
        <p:nvGrpSpPr>
          <p:cNvPr id="59" name="Group 59"/>
          <p:cNvGrpSpPr/>
          <p:nvPr/>
        </p:nvGrpSpPr>
        <p:grpSpPr>
          <a:xfrm>
            <a:off x="914400" y="3543300"/>
            <a:ext cx="38100" cy="457200"/>
            <a:chOff x="0" y="0"/>
            <a:chExt cx="50800" cy="609600"/>
          </a:xfrm>
        </p:grpSpPr>
        <p:sp>
          <p:nvSpPr>
            <p:cNvPr id="60" name="Freeform 60"/>
            <p:cNvSpPr/>
            <p:nvPr/>
          </p:nvSpPr>
          <p:spPr>
            <a:xfrm>
              <a:off x="0" y="0"/>
              <a:ext cx="50800" cy="609600"/>
            </a:xfrm>
            <a:custGeom>
              <a:avLst/>
              <a:gdLst/>
              <a:ahLst/>
              <a:cxnLst/>
              <a:rect l="l" t="t" r="r" b="b"/>
              <a:pathLst>
                <a:path w="50800" h="609600">
                  <a:moveTo>
                    <a:pt x="0" y="0"/>
                  </a:moveTo>
                  <a:lnTo>
                    <a:pt x="50800" y="0"/>
                  </a:lnTo>
                  <a:lnTo>
                    <a:pt x="50800" y="609600"/>
                  </a:lnTo>
                  <a:lnTo>
                    <a:pt x="0" y="609600"/>
                  </a:lnTo>
                  <a:close/>
                </a:path>
              </a:pathLst>
            </a:custGeom>
            <a:solidFill>
              <a:srgbClr val="C9902A"/>
            </a:solidFill>
          </p:spPr>
          <p:txBody>
            <a:bodyPr/>
            <a:lstStyle/>
            <a:p>
              <a:endParaRPr lang="en-KE"/>
            </a:p>
          </p:txBody>
        </p:sp>
        <p:sp>
          <p:nvSpPr>
            <p:cNvPr id="61" name="TextBox 61"/>
            <p:cNvSpPr txBox="1"/>
            <p:nvPr/>
          </p:nvSpPr>
          <p:spPr>
            <a:xfrm>
              <a:off x="0" y="-38100"/>
              <a:ext cx="50800" cy="647700"/>
            </a:xfrm>
            <a:prstGeom prst="rect">
              <a:avLst/>
            </a:prstGeom>
          </p:spPr>
          <p:txBody>
            <a:bodyPr lIns="50800" tIns="50800" rIns="50800" bIns="50800" rtlCol="0" anchor="ctr"/>
            <a:lstStyle/>
            <a:p>
              <a:pPr algn="l">
                <a:lnSpc>
                  <a:spcPts val="1679"/>
                </a:lnSpc>
              </a:pPr>
              <a:endParaRPr/>
            </a:p>
          </p:txBody>
        </p:sp>
      </p:grpSp>
      <p:sp>
        <p:nvSpPr>
          <p:cNvPr id="62" name="TextBox 62"/>
          <p:cNvSpPr txBox="1"/>
          <p:nvPr/>
        </p:nvSpPr>
        <p:spPr>
          <a:xfrm>
            <a:off x="1009650" y="3524250"/>
            <a:ext cx="3429000" cy="452755"/>
          </a:xfrm>
          <a:prstGeom prst="rect">
            <a:avLst/>
          </a:prstGeom>
        </p:spPr>
        <p:txBody>
          <a:bodyPr lIns="0" tIns="0" rIns="0" bIns="0" rtlCol="0" anchor="t">
            <a:spAutoFit/>
          </a:bodyPr>
          <a:lstStyle/>
          <a:p>
            <a:pPr marL="0" lvl="0" indent="0" algn="l">
              <a:lnSpc>
                <a:spcPts val="1819"/>
              </a:lnSpc>
              <a:spcBef>
                <a:spcPct val="0"/>
              </a:spcBef>
            </a:pPr>
            <a:r>
              <a:rPr lang="en-US" sz="1299" b="1" u="none" strike="noStrike">
                <a:solidFill>
                  <a:srgbClr val="FFFFFF"/>
                </a:solidFill>
                <a:latin typeface="IBM Plex Mono Bold"/>
                <a:ea typeface="IBM Plex Mono Bold"/>
                <a:cs typeface="IBM Plex Mono Bold"/>
                <a:sym typeface="IBM Plex Mono Bold"/>
              </a:rPr>
              <a:t>XGBoost Balanced (scale_pos_weight = 15)</a:t>
            </a:r>
          </a:p>
        </p:txBody>
      </p:sp>
      <p:sp>
        <p:nvSpPr>
          <p:cNvPr id="63" name="TextBox 63"/>
          <p:cNvSpPr txBox="1"/>
          <p:nvPr/>
        </p:nvSpPr>
        <p:spPr>
          <a:xfrm>
            <a:off x="4629150" y="36290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b="1" u="none" strike="noStrike">
                <a:solidFill>
                  <a:srgbClr val="FFFFFF"/>
                </a:solidFill>
                <a:latin typeface="Open Sans Bold"/>
                <a:ea typeface="Open Sans Bold"/>
                <a:cs typeface="Open Sans Bold"/>
                <a:sym typeface="Open Sans Bold"/>
              </a:rPr>
              <a:t>76.5%</a:t>
            </a:r>
          </a:p>
        </p:txBody>
      </p:sp>
      <p:sp>
        <p:nvSpPr>
          <p:cNvPr id="64" name="TextBox 64"/>
          <p:cNvSpPr txBox="1"/>
          <p:nvPr/>
        </p:nvSpPr>
        <p:spPr>
          <a:xfrm>
            <a:off x="7296150" y="36290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b="1" u="none" strike="noStrike">
                <a:solidFill>
                  <a:srgbClr val="FFFFFF"/>
                </a:solidFill>
                <a:latin typeface="Open Sans Bold"/>
                <a:ea typeface="Open Sans Bold"/>
                <a:cs typeface="Open Sans Bold"/>
                <a:sym typeface="Open Sans Bold"/>
              </a:rPr>
              <a:t>15.0%</a:t>
            </a:r>
          </a:p>
        </p:txBody>
      </p:sp>
      <p:sp>
        <p:nvSpPr>
          <p:cNvPr id="65" name="TextBox 65"/>
          <p:cNvSpPr txBox="1"/>
          <p:nvPr/>
        </p:nvSpPr>
        <p:spPr>
          <a:xfrm>
            <a:off x="9963150" y="36290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b="1" u="none" strike="noStrike">
                <a:solidFill>
                  <a:srgbClr val="FFFFFF"/>
                </a:solidFill>
                <a:latin typeface="Open Sans Bold"/>
                <a:ea typeface="Open Sans Bold"/>
                <a:cs typeface="Open Sans Bold"/>
                <a:sym typeface="Open Sans Bold"/>
              </a:rPr>
              <a:t>0.7609</a:t>
            </a:r>
          </a:p>
        </p:txBody>
      </p:sp>
      <p:grpSp>
        <p:nvGrpSpPr>
          <p:cNvPr id="66" name="Group 66"/>
          <p:cNvGrpSpPr/>
          <p:nvPr/>
        </p:nvGrpSpPr>
        <p:grpSpPr>
          <a:xfrm>
            <a:off x="914400" y="4000500"/>
            <a:ext cx="16459200" cy="457200"/>
            <a:chOff x="0" y="0"/>
            <a:chExt cx="21945600" cy="609600"/>
          </a:xfrm>
        </p:grpSpPr>
        <p:sp>
          <p:nvSpPr>
            <p:cNvPr id="67" name="Freeform 67"/>
            <p:cNvSpPr/>
            <p:nvPr/>
          </p:nvSpPr>
          <p:spPr>
            <a:xfrm>
              <a:off x="0" y="0"/>
              <a:ext cx="21945600" cy="609600"/>
            </a:xfrm>
            <a:custGeom>
              <a:avLst/>
              <a:gdLst/>
              <a:ahLst/>
              <a:cxnLst/>
              <a:rect l="l" t="t" r="r" b="b"/>
              <a:pathLst>
                <a:path w="21945600" h="609600">
                  <a:moveTo>
                    <a:pt x="0" y="0"/>
                  </a:moveTo>
                  <a:lnTo>
                    <a:pt x="21945600" y="0"/>
                  </a:lnTo>
                  <a:lnTo>
                    <a:pt x="21945600" y="609600"/>
                  </a:lnTo>
                  <a:lnTo>
                    <a:pt x="0" y="609600"/>
                  </a:lnTo>
                  <a:close/>
                </a:path>
              </a:pathLst>
            </a:custGeom>
            <a:solidFill>
              <a:srgbClr val="162640"/>
            </a:solidFill>
          </p:spPr>
          <p:txBody>
            <a:bodyPr/>
            <a:lstStyle/>
            <a:p>
              <a:endParaRPr lang="en-KE"/>
            </a:p>
          </p:txBody>
        </p:sp>
        <p:sp>
          <p:nvSpPr>
            <p:cNvPr id="68" name="TextBox 68"/>
            <p:cNvSpPr txBox="1"/>
            <p:nvPr/>
          </p:nvSpPr>
          <p:spPr>
            <a:xfrm>
              <a:off x="0" y="-38100"/>
              <a:ext cx="21945600" cy="647700"/>
            </a:xfrm>
            <a:prstGeom prst="rect">
              <a:avLst/>
            </a:prstGeom>
          </p:spPr>
          <p:txBody>
            <a:bodyPr lIns="50800" tIns="50800" rIns="50800" bIns="50800" rtlCol="0" anchor="ctr"/>
            <a:lstStyle/>
            <a:p>
              <a:pPr algn="l">
                <a:lnSpc>
                  <a:spcPts val="1679"/>
                </a:lnSpc>
              </a:pPr>
              <a:endParaRPr/>
            </a:p>
          </p:txBody>
        </p:sp>
      </p:grpSp>
      <p:sp>
        <p:nvSpPr>
          <p:cNvPr id="69" name="TextBox 69"/>
          <p:cNvSpPr txBox="1"/>
          <p:nvPr/>
        </p:nvSpPr>
        <p:spPr>
          <a:xfrm>
            <a:off x="1009650" y="3981450"/>
            <a:ext cx="3429000" cy="452755"/>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IBM Plex Mono"/>
                <a:ea typeface="IBM Plex Mono"/>
                <a:cs typeface="IBM Plex Mono"/>
                <a:sym typeface="IBM Plex Mono"/>
              </a:rPr>
              <a:t>XGBoost Cost-Optimised (scale_pos_weight = 22.77)</a:t>
            </a:r>
          </a:p>
        </p:txBody>
      </p:sp>
      <p:sp>
        <p:nvSpPr>
          <p:cNvPr id="70" name="TextBox 70"/>
          <p:cNvSpPr txBox="1"/>
          <p:nvPr/>
        </p:nvSpPr>
        <p:spPr>
          <a:xfrm>
            <a:off x="4629150" y="40862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83.8%</a:t>
            </a:r>
          </a:p>
        </p:txBody>
      </p:sp>
      <p:sp>
        <p:nvSpPr>
          <p:cNvPr id="71" name="TextBox 71"/>
          <p:cNvSpPr txBox="1"/>
          <p:nvPr/>
        </p:nvSpPr>
        <p:spPr>
          <a:xfrm>
            <a:off x="7296150" y="40862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12.9%</a:t>
            </a:r>
          </a:p>
        </p:txBody>
      </p:sp>
      <p:sp>
        <p:nvSpPr>
          <p:cNvPr id="72" name="TextBox 72"/>
          <p:cNvSpPr txBox="1"/>
          <p:nvPr/>
        </p:nvSpPr>
        <p:spPr>
          <a:xfrm>
            <a:off x="9963150" y="4086225"/>
            <a:ext cx="2476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0.7605</a:t>
            </a:r>
          </a:p>
        </p:txBody>
      </p:sp>
      <p:sp>
        <p:nvSpPr>
          <p:cNvPr id="73" name="TextBox 73"/>
          <p:cNvSpPr txBox="1"/>
          <p:nvPr/>
        </p:nvSpPr>
        <p:spPr>
          <a:xfrm>
            <a:off x="914400" y="4810125"/>
            <a:ext cx="11430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Champion model selected:</a:t>
            </a:r>
            <a:r>
              <a:rPr lang="en-US" sz="1500" u="none" strike="noStrike">
                <a:solidFill>
                  <a:srgbClr val="C9902A"/>
                </a:solidFill>
                <a:latin typeface="Open Sans"/>
                <a:ea typeface="Open Sans"/>
                <a:cs typeface="Open Sans"/>
                <a:sym typeface="Open Sans"/>
              </a:rPr>
              <a:t> XGBoost Balanced</a:t>
            </a:r>
          </a:p>
        </p:txBody>
      </p:sp>
      <p:sp>
        <p:nvSpPr>
          <p:cNvPr id="74" name="TextBox 74"/>
          <p:cNvSpPr txBox="1"/>
          <p:nvPr/>
        </p:nvSpPr>
        <p:spPr>
          <a:xfrm>
            <a:off x="914400" y="5143500"/>
            <a:ext cx="104775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Best balance of recall and ROC-AUC. Meets the ROC-AUC target of 0.75. Achieves 76.5% recall — catching 76 out of every 100 real defaulters.</a:t>
            </a:r>
          </a:p>
        </p:txBody>
      </p:sp>
      <p:sp>
        <p:nvSpPr>
          <p:cNvPr id="75" name="TextBox 75"/>
          <p:cNvSpPr txBox="1"/>
          <p:nvPr/>
        </p:nvSpPr>
        <p:spPr>
          <a:xfrm>
            <a:off x="914400" y="5619750"/>
            <a:ext cx="11430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Business translation of ROC-AUC 0.761:</a:t>
            </a:r>
          </a:p>
        </p:txBody>
      </p:sp>
      <p:sp>
        <p:nvSpPr>
          <p:cNvPr id="76" name="TextBox 76"/>
          <p:cNvSpPr txBox="1"/>
          <p:nvPr/>
        </p:nvSpPr>
        <p:spPr>
          <a:xfrm>
            <a:off x="914400" y="5905500"/>
            <a:ext cx="104775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The model is 52% better than random guessing. Without the model, a coin flip would catch 50% of defaulters by chance. Our model catches 76.5%.</a:t>
            </a:r>
          </a:p>
        </p:txBody>
      </p:sp>
      <p:sp>
        <p:nvSpPr>
          <p:cNvPr id="77" name="TextBox 77"/>
          <p:cNvSpPr txBox="1"/>
          <p:nvPr/>
        </p:nvSpPr>
        <p:spPr>
          <a:xfrm>
            <a:off x="914400" y="6381750"/>
            <a:ext cx="11430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Cross-validation confirmation:</a:t>
            </a:r>
          </a:p>
        </p:txBody>
      </p:sp>
      <p:sp>
        <p:nvSpPr>
          <p:cNvPr id="78" name="TextBox 78"/>
          <p:cNvSpPr txBox="1"/>
          <p:nvPr/>
        </p:nvSpPr>
        <p:spPr>
          <a:xfrm>
            <a:off x="914400" y="6667500"/>
            <a:ext cx="104775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5-fold CV mean ROC-AUC: consistent with test set result. Low standard deviation confirms the model is genuinely learning, not getting lucky on one split.</a:t>
            </a:r>
          </a:p>
        </p:txBody>
      </p:sp>
      <p:grpSp>
        <p:nvGrpSpPr>
          <p:cNvPr id="79" name="Group 79"/>
          <p:cNvGrpSpPr/>
          <p:nvPr/>
        </p:nvGrpSpPr>
        <p:grpSpPr>
          <a:xfrm>
            <a:off x="12858750" y="5029200"/>
            <a:ext cx="3810000" cy="1905000"/>
            <a:chOff x="0" y="0"/>
            <a:chExt cx="5080000" cy="2540000"/>
          </a:xfrm>
        </p:grpSpPr>
        <p:sp>
          <p:nvSpPr>
            <p:cNvPr id="80" name="Freeform 80"/>
            <p:cNvSpPr/>
            <p:nvPr/>
          </p:nvSpPr>
          <p:spPr>
            <a:xfrm>
              <a:off x="0" y="0"/>
              <a:ext cx="5080000" cy="2540000"/>
            </a:xfrm>
            <a:custGeom>
              <a:avLst/>
              <a:gdLst/>
              <a:ahLst/>
              <a:cxnLst/>
              <a:rect l="l" t="t" r="r" b="b"/>
              <a:pathLst>
                <a:path w="5080000" h="2540000">
                  <a:moveTo>
                    <a:pt x="254000" y="0"/>
                  </a:moveTo>
                  <a:lnTo>
                    <a:pt x="4826000" y="0"/>
                  </a:lnTo>
                  <a:cubicBezTo>
                    <a:pt x="4966280" y="0"/>
                    <a:pt x="5080000" y="113720"/>
                    <a:pt x="5080000" y="254000"/>
                  </a:cubicBezTo>
                  <a:lnTo>
                    <a:pt x="5080000" y="2286000"/>
                  </a:lnTo>
                  <a:cubicBezTo>
                    <a:pt x="5080000" y="2426280"/>
                    <a:pt x="4966280" y="2540000"/>
                    <a:pt x="4826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p:spPr>
          <p:txBody>
            <a:bodyPr/>
            <a:lstStyle/>
            <a:p>
              <a:endParaRPr lang="en-KE"/>
            </a:p>
          </p:txBody>
        </p:sp>
        <p:sp>
          <p:nvSpPr>
            <p:cNvPr id="81" name="TextBox 81"/>
            <p:cNvSpPr txBox="1"/>
            <p:nvPr/>
          </p:nvSpPr>
          <p:spPr>
            <a:xfrm>
              <a:off x="0" y="-38100"/>
              <a:ext cx="5080000" cy="2578100"/>
            </a:xfrm>
            <a:prstGeom prst="rect">
              <a:avLst/>
            </a:prstGeom>
          </p:spPr>
          <p:txBody>
            <a:bodyPr lIns="50800" tIns="50800" rIns="50800" bIns="50800" rtlCol="0" anchor="ctr"/>
            <a:lstStyle/>
            <a:p>
              <a:pPr algn="l">
                <a:lnSpc>
                  <a:spcPts val="1679"/>
                </a:lnSpc>
              </a:pPr>
              <a:endParaRPr/>
            </a:p>
          </p:txBody>
        </p:sp>
      </p:grpSp>
      <p:sp>
        <p:nvSpPr>
          <p:cNvPr id="82" name="TextBox 82"/>
          <p:cNvSpPr txBox="1"/>
          <p:nvPr/>
        </p:nvSpPr>
        <p:spPr>
          <a:xfrm>
            <a:off x="13096875" y="5019675"/>
            <a:ext cx="3333750" cy="862744"/>
          </a:xfrm>
          <a:prstGeom prst="rect">
            <a:avLst/>
          </a:prstGeom>
        </p:spPr>
        <p:txBody>
          <a:bodyPr lIns="0" tIns="0" rIns="0" bIns="0" rtlCol="0" anchor="t">
            <a:spAutoFit/>
          </a:bodyPr>
          <a:lstStyle/>
          <a:p>
            <a:pPr marL="0" lvl="0" indent="0" algn="ctr">
              <a:lnSpc>
                <a:spcPts val="7047"/>
              </a:lnSpc>
              <a:spcBef>
                <a:spcPct val="0"/>
              </a:spcBef>
            </a:pPr>
            <a:r>
              <a:rPr lang="en-US" sz="5033" u="none" strike="noStrike">
                <a:solidFill>
                  <a:srgbClr val="C9902A"/>
                </a:solidFill>
                <a:latin typeface="IBM Plex Mono"/>
                <a:ea typeface="IBM Plex Mono"/>
                <a:cs typeface="IBM Plex Mono"/>
                <a:sym typeface="IBM Plex Mono"/>
              </a:rPr>
              <a:t>0.761</a:t>
            </a:r>
          </a:p>
        </p:txBody>
      </p:sp>
      <p:sp>
        <p:nvSpPr>
          <p:cNvPr id="83" name="TextBox 83"/>
          <p:cNvSpPr txBox="1"/>
          <p:nvPr/>
        </p:nvSpPr>
        <p:spPr>
          <a:xfrm>
            <a:off x="13335000" y="6010275"/>
            <a:ext cx="2857500" cy="462280"/>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E2DDD5"/>
                </a:solidFill>
                <a:latin typeface="Open Sans"/>
                <a:ea typeface="Open Sans"/>
                <a:cs typeface="Open Sans"/>
                <a:sym typeface="Open Sans"/>
              </a:rPr>
              <a:t>ROC-AUC</a:t>
            </a:r>
          </a:p>
          <a:p>
            <a:pPr marL="0" lvl="0" indent="0" algn="ctr">
              <a:lnSpc>
                <a:spcPts val="1819"/>
              </a:lnSpc>
              <a:spcBef>
                <a:spcPct val="0"/>
              </a:spcBef>
            </a:pPr>
            <a:r>
              <a:rPr lang="en-US" sz="1299" u="none" strike="noStrike">
                <a:solidFill>
                  <a:srgbClr val="E2DDD5"/>
                </a:solidFill>
                <a:latin typeface="Open Sans"/>
                <a:ea typeface="Open Sans"/>
                <a:cs typeface="Open Sans"/>
                <a:sym typeface="Open Sans"/>
              </a:rPr>
              <a:t>Champion Score</a:t>
            </a:r>
          </a:p>
        </p:txBody>
      </p:sp>
      <p:sp>
        <p:nvSpPr>
          <p:cNvPr id="84" name="TextBox 84"/>
          <p:cNvSpPr txBox="1"/>
          <p:nvPr/>
        </p:nvSpPr>
        <p:spPr>
          <a:xfrm>
            <a:off x="13096875" y="7124700"/>
            <a:ext cx="28575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C9902A"/>
                </a:solidFill>
                <a:latin typeface="Open Sans"/>
                <a:ea typeface="Open Sans"/>
                <a:cs typeface="Open Sans"/>
                <a:sym typeface="Open Sans"/>
              </a:rPr>
              <a:t>Recall Comparison</a:t>
            </a:r>
          </a:p>
        </p:txBody>
      </p:sp>
      <p:sp>
        <p:nvSpPr>
          <p:cNvPr id="85" name="TextBox 85"/>
          <p:cNvSpPr txBox="1"/>
          <p:nvPr/>
        </p:nvSpPr>
        <p:spPr>
          <a:xfrm>
            <a:off x="4819650" y="9124950"/>
            <a:ext cx="571500" cy="3009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XGB</a:t>
            </a:r>
          </a:p>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Cost</a:t>
            </a:r>
          </a:p>
        </p:txBody>
      </p:sp>
      <p:sp>
        <p:nvSpPr>
          <p:cNvPr id="86" name="TextBox 86"/>
          <p:cNvSpPr txBox="1"/>
          <p:nvPr/>
        </p:nvSpPr>
        <p:spPr>
          <a:xfrm>
            <a:off x="4819650" y="7458075"/>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FFFFFF"/>
                </a:solidFill>
                <a:latin typeface="Open Sans"/>
                <a:ea typeface="Open Sans"/>
                <a:cs typeface="Open Sans"/>
                <a:sym typeface="Open Sans"/>
              </a:rPr>
              <a:t>0.7605</a:t>
            </a:r>
          </a:p>
        </p:txBody>
      </p:sp>
      <p:grpSp>
        <p:nvGrpSpPr>
          <p:cNvPr id="87" name="Group 87"/>
          <p:cNvGrpSpPr/>
          <p:nvPr/>
        </p:nvGrpSpPr>
        <p:grpSpPr>
          <a:xfrm>
            <a:off x="4819650" y="7658100"/>
            <a:ext cx="571500" cy="1485900"/>
            <a:chOff x="0" y="0"/>
            <a:chExt cx="762000" cy="1981200"/>
          </a:xfrm>
        </p:grpSpPr>
        <p:sp>
          <p:nvSpPr>
            <p:cNvPr id="88" name="Freeform 88"/>
            <p:cNvSpPr/>
            <p:nvPr/>
          </p:nvSpPr>
          <p:spPr>
            <a:xfrm>
              <a:off x="0" y="0"/>
              <a:ext cx="762000" cy="1981200"/>
            </a:xfrm>
            <a:custGeom>
              <a:avLst/>
              <a:gdLst/>
              <a:ahLst/>
              <a:cxnLst/>
              <a:rect l="l" t="t" r="r" b="b"/>
              <a:pathLst>
                <a:path w="762000" h="1981200">
                  <a:moveTo>
                    <a:pt x="76200" y="0"/>
                  </a:moveTo>
                  <a:lnTo>
                    <a:pt x="685800" y="0"/>
                  </a:lnTo>
                  <a:cubicBezTo>
                    <a:pt x="727884" y="0"/>
                    <a:pt x="762000" y="34116"/>
                    <a:pt x="762000" y="76200"/>
                  </a:cubicBezTo>
                  <a:lnTo>
                    <a:pt x="762000" y="1905000"/>
                  </a:lnTo>
                  <a:cubicBezTo>
                    <a:pt x="762000" y="1947084"/>
                    <a:pt x="727884" y="1981200"/>
                    <a:pt x="685800" y="1981200"/>
                  </a:cubicBezTo>
                  <a:lnTo>
                    <a:pt x="76200" y="1981200"/>
                  </a:lnTo>
                  <a:cubicBezTo>
                    <a:pt x="34116" y="1981200"/>
                    <a:pt x="0" y="1947084"/>
                    <a:pt x="0" y="1905000"/>
                  </a:cubicBezTo>
                  <a:lnTo>
                    <a:pt x="0" y="76200"/>
                  </a:lnTo>
                  <a:cubicBezTo>
                    <a:pt x="0" y="34116"/>
                    <a:pt x="34116" y="0"/>
                    <a:pt x="76200" y="0"/>
                  </a:cubicBezTo>
                  <a:close/>
                </a:path>
              </a:pathLst>
            </a:custGeom>
            <a:solidFill>
              <a:srgbClr val="1B3358"/>
            </a:solidFill>
          </p:spPr>
          <p:txBody>
            <a:bodyPr/>
            <a:lstStyle/>
            <a:p>
              <a:endParaRPr lang="en-KE"/>
            </a:p>
          </p:txBody>
        </p:sp>
        <p:sp>
          <p:nvSpPr>
            <p:cNvPr id="89" name="TextBox 89"/>
            <p:cNvSpPr txBox="1"/>
            <p:nvPr/>
          </p:nvSpPr>
          <p:spPr>
            <a:xfrm>
              <a:off x="0" y="-38100"/>
              <a:ext cx="762000" cy="2019300"/>
            </a:xfrm>
            <a:prstGeom prst="rect">
              <a:avLst/>
            </a:prstGeom>
          </p:spPr>
          <p:txBody>
            <a:bodyPr lIns="50800" tIns="50800" rIns="50800" bIns="50800" rtlCol="0" anchor="ctr"/>
            <a:lstStyle/>
            <a:p>
              <a:pPr algn="l">
                <a:lnSpc>
                  <a:spcPts val="1679"/>
                </a:lnSpc>
              </a:pPr>
              <a:endParaRPr/>
            </a:p>
          </p:txBody>
        </p:sp>
      </p:grpSp>
      <p:sp>
        <p:nvSpPr>
          <p:cNvPr id="90" name="TextBox 90"/>
          <p:cNvSpPr txBox="1"/>
          <p:nvPr/>
        </p:nvSpPr>
        <p:spPr>
          <a:xfrm>
            <a:off x="3962400" y="9124950"/>
            <a:ext cx="571500" cy="3009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XGB</a:t>
            </a:r>
          </a:p>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Bal</a:t>
            </a:r>
          </a:p>
        </p:txBody>
      </p:sp>
      <p:sp>
        <p:nvSpPr>
          <p:cNvPr id="91" name="TextBox 91"/>
          <p:cNvSpPr txBox="1"/>
          <p:nvPr/>
        </p:nvSpPr>
        <p:spPr>
          <a:xfrm>
            <a:off x="3962400" y="7458075"/>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FFFFFF"/>
                </a:solidFill>
                <a:latin typeface="Open Sans"/>
                <a:ea typeface="Open Sans"/>
                <a:cs typeface="Open Sans"/>
                <a:sym typeface="Open Sans"/>
              </a:rPr>
              <a:t>0.7609</a:t>
            </a:r>
          </a:p>
        </p:txBody>
      </p:sp>
      <p:grpSp>
        <p:nvGrpSpPr>
          <p:cNvPr id="92" name="Group 92"/>
          <p:cNvGrpSpPr/>
          <p:nvPr/>
        </p:nvGrpSpPr>
        <p:grpSpPr>
          <a:xfrm>
            <a:off x="3962400" y="7658100"/>
            <a:ext cx="571500" cy="1485900"/>
            <a:chOff x="0" y="0"/>
            <a:chExt cx="762000" cy="1981200"/>
          </a:xfrm>
        </p:grpSpPr>
        <p:sp>
          <p:nvSpPr>
            <p:cNvPr id="93" name="Freeform 93"/>
            <p:cNvSpPr/>
            <p:nvPr/>
          </p:nvSpPr>
          <p:spPr>
            <a:xfrm>
              <a:off x="0" y="0"/>
              <a:ext cx="762000" cy="1981200"/>
            </a:xfrm>
            <a:custGeom>
              <a:avLst/>
              <a:gdLst/>
              <a:ahLst/>
              <a:cxnLst/>
              <a:rect l="l" t="t" r="r" b="b"/>
              <a:pathLst>
                <a:path w="762000" h="1981200">
                  <a:moveTo>
                    <a:pt x="76200" y="0"/>
                  </a:moveTo>
                  <a:lnTo>
                    <a:pt x="685800" y="0"/>
                  </a:lnTo>
                  <a:cubicBezTo>
                    <a:pt x="727884" y="0"/>
                    <a:pt x="762000" y="34116"/>
                    <a:pt x="762000" y="76200"/>
                  </a:cubicBezTo>
                  <a:lnTo>
                    <a:pt x="762000" y="1905000"/>
                  </a:lnTo>
                  <a:cubicBezTo>
                    <a:pt x="762000" y="1947084"/>
                    <a:pt x="727884" y="1981200"/>
                    <a:pt x="685800" y="1981200"/>
                  </a:cubicBezTo>
                  <a:lnTo>
                    <a:pt x="76200" y="1981200"/>
                  </a:lnTo>
                  <a:cubicBezTo>
                    <a:pt x="34116" y="1981200"/>
                    <a:pt x="0" y="1947084"/>
                    <a:pt x="0" y="1905000"/>
                  </a:cubicBezTo>
                  <a:lnTo>
                    <a:pt x="0" y="76200"/>
                  </a:lnTo>
                  <a:cubicBezTo>
                    <a:pt x="0" y="34116"/>
                    <a:pt x="34116" y="0"/>
                    <a:pt x="76200" y="0"/>
                  </a:cubicBezTo>
                  <a:close/>
                </a:path>
              </a:pathLst>
            </a:custGeom>
            <a:solidFill>
              <a:srgbClr val="C9902A"/>
            </a:solidFill>
          </p:spPr>
          <p:txBody>
            <a:bodyPr/>
            <a:lstStyle/>
            <a:p>
              <a:endParaRPr lang="en-KE"/>
            </a:p>
          </p:txBody>
        </p:sp>
        <p:sp>
          <p:nvSpPr>
            <p:cNvPr id="94" name="TextBox 94"/>
            <p:cNvSpPr txBox="1"/>
            <p:nvPr/>
          </p:nvSpPr>
          <p:spPr>
            <a:xfrm>
              <a:off x="0" y="-38100"/>
              <a:ext cx="762000" cy="2019300"/>
            </a:xfrm>
            <a:prstGeom prst="rect">
              <a:avLst/>
            </a:prstGeom>
          </p:spPr>
          <p:txBody>
            <a:bodyPr lIns="50800" tIns="50800" rIns="50800" bIns="50800" rtlCol="0" anchor="ctr"/>
            <a:lstStyle/>
            <a:p>
              <a:pPr algn="l">
                <a:lnSpc>
                  <a:spcPts val="1679"/>
                </a:lnSpc>
              </a:pPr>
              <a:endParaRPr/>
            </a:p>
          </p:txBody>
        </p:sp>
      </p:grpSp>
      <p:sp>
        <p:nvSpPr>
          <p:cNvPr id="95" name="TextBox 95"/>
          <p:cNvSpPr txBox="1"/>
          <p:nvPr/>
        </p:nvSpPr>
        <p:spPr>
          <a:xfrm>
            <a:off x="3105150" y="9124950"/>
            <a:ext cx="571500" cy="3009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XGB</a:t>
            </a:r>
          </a:p>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Base</a:t>
            </a:r>
          </a:p>
        </p:txBody>
      </p:sp>
      <p:sp>
        <p:nvSpPr>
          <p:cNvPr id="96" name="TextBox 96"/>
          <p:cNvSpPr txBox="1"/>
          <p:nvPr/>
        </p:nvSpPr>
        <p:spPr>
          <a:xfrm>
            <a:off x="3105150" y="7458075"/>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FFFFFF"/>
                </a:solidFill>
                <a:latin typeface="Open Sans"/>
                <a:ea typeface="Open Sans"/>
                <a:cs typeface="Open Sans"/>
                <a:sym typeface="Open Sans"/>
              </a:rPr>
              <a:t>0.7607</a:t>
            </a:r>
          </a:p>
        </p:txBody>
      </p:sp>
      <p:grpSp>
        <p:nvGrpSpPr>
          <p:cNvPr id="97" name="Group 97"/>
          <p:cNvGrpSpPr/>
          <p:nvPr/>
        </p:nvGrpSpPr>
        <p:grpSpPr>
          <a:xfrm>
            <a:off x="3105150" y="7658100"/>
            <a:ext cx="571500" cy="1485900"/>
            <a:chOff x="0" y="0"/>
            <a:chExt cx="762000" cy="1981200"/>
          </a:xfrm>
        </p:grpSpPr>
        <p:sp>
          <p:nvSpPr>
            <p:cNvPr id="98" name="Freeform 98"/>
            <p:cNvSpPr/>
            <p:nvPr/>
          </p:nvSpPr>
          <p:spPr>
            <a:xfrm>
              <a:off x="0" y="0"/>
              <a:ext cx="762000" cy="1981200"/>
            </a:xfrm>
            <a:custGeom>
              <a:avLst/>
              <a:gdLst/>
              <a:ahLst/>
              <a:cxnLst/>
              <a:rect l="l" t="t" r="r" b="b"/>
              <a:pathLst>
                <a:path w="762000" h="1981200">
                  <a:moveTo>
                    <a:pt x="76200" y="0"/>
                  </a:moveTo>
                  <a:lnTo>
                    <a:pt x="685800" y="0"/>
                  </a:lnTo>
                  <a:cubicBezTo>
                    <a:pt x="727884" y="0"/>
                    <a:pt x="762000" y="34116"/>
                    <a:pt x="762000" y="76200"/>
                  </a:cubicBezTo>
                  <a:lnTo>
                    <a:pt x="762000" y="1905000"/>
                  </a:lnTo>
                  <a:cubicBezTo>
                    <a:pt x="762000" y="1947084"/>
                    <a:pt x="727884" y="1981200"/>
                    <a:pt x="685800" y="1981200"/>
                  </a:cubicBezTo>
                  <a:lnTo>
                    <a:pt x="76200" y="1981200"/>
                  </a:lnTo>
                  <a:cubicBezTo>
                    <a:pt x="34116" y="1981200"/>
                    <a:pt x="0" y="1947084"/>
                    <a:pt x="0" y="1905000"/>
                  </a:cubicBezTo>
                  <a:lnTo>
                    <a:pt x="0" y="76200"/>
                  </a:lnTo>
                  <a:cubicBezTo>
                    <a:pt x="0" y="34116"/>
                    <a:pt x="34116" y="0"/>
                    <a:pt x="76200" y="0"/>
                  </a:cubicBezTo>
                  <a:close/>
                </a:path>
              </a:pathLst>
            </a:custGeom>
            <a:solidFill>
              <a:srgbClr val="1B3358"/>
            </a:solidFill>
          </p:spPr>
          <p:txBody>
            <a:bodyPr/>
            <a:lstStyle/>
            <a:p>
              <a:endParaRPr lang="en-KE"/>
            </a:p>
          </p:txBody>
        </p:sp>
        <p:sp>
          <p:nvSpPr>
            <p:cNvPr id="99" name="TextBox 99"/>
            <p:cNvSpPr txBox="1"/>
            <p:nvPr/>
          </p:nvSpPr>
          <p:spPr>
            <a:xfrm>
              <a:off x="0" y="-38100"/>
              <a:ext cx="762000" cy="2019300"/>
            </a:xfrm>
            <a:prstGeom prst="rect">
              <a:avLst/>
            </a:prstGeom>
          </p:spPr>
          <p:txBody>
            <a:bodyPr lIns="50800" tIns="50800" rIns="50800" bIns="50800" rtlCol="0" anchor="ctr"/>
            <a:lstStyle/>
            <a:p>
              <a:pPr algn="l">
                <a:lnSpc>
                  <a:spcPts val="1679"/>
                </a:lnSpc>
              </a:pPr>
              <a:endParaRPr/>
            </a:p>
          </p:txBody>
        </p:sp>
      </p:grpSp>
      <p:sp>
        <p:nvSpPr>
          <p:cNvPr id="100" name="TextBox 100"/>
          <p:cNvSpPr txBox="1"/>
          <p:nvPr/>
        </p:nvSpPr>
        <p:spPr>
          <a:xfrm>
            <a:off x="2247900" y="9201150"/>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RF</a:t>
            </a:r>
          </a:p>
        </p:txBody>
      </p:sp>
      <p:sp>
        <p:nvSpPr>
          <p:cNvPr id="101" name="TextBox 101"/>
          <p:cNvSpPr txBox="1"/>
          <p:nvPr/>
        </p:nvSpPr>
        <p:spPr>
          <a:xfrm>
            <a:off x="2247900" y="7639050"/>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FFFFFF"/>
                </a:solidFill>
                <a:latin typeface="Open Sans"/>
                <a:ea typeface="Open Sans"/>
                <a:cs typeface="Open Sans"/>
                <a:sym typeface="Open Sans"/>
              </a:rPr>
              <a:t>0.73</a:t>
            </a:r>
          </a:p>
        </p:txBody>
      </p:sp>
      <p:grpSp>
        <p:nvGrpSpPr>
          <p:cNvPr id="102" name="Group 102"/>
          <p:cNvGrpSpPr/>
          <p:nvPr/>
        </p:nvGrpSpPr>
        <p:grpSpPr>
          <a:xfrm>
            <a:off x="2247900" y="7839075"/>
            <a:ext cx="571500" cy="1304925"/>
            <a:chOff x="0" y="0"/>
            <a:chExt cx="762000" cy="1739900"/>
          </a:xfrm>
        </p:grpSpPr>
        <p:sp>
          <p:nvSpPr>
            <p:cNvPr id="103" name="Freeform 103"/>
            <p:cNvSpPr/>
            <p:nvPr/>
          </p:nvSpPr>
          <p:spPr>
            <a:xfrm>
              <a:off x="0" y="0"/>
              <a:ext cx="762000" cy="1739900"/>
            </a:xfrm>
            <a:custGeom>
              <a:avLst/>
              <a:gdLst/>
              <a:ahLst/>
              <a:cxnLst/>
              <a:rect l="l" t="t" r="r" b="b"/>
              <a:pathLst>
                <a:path w="762000" h="1739900">
                  <a:moveTo>
                    <a:pt x="76200" y="0"/>
                  </a:moveTo>
                  <a:lnTo>
                    <a:pt x="685800" y="0"/>
                  </a:lnTo>
                  <a:cubicBezTo>
                    <a:pt x="727884" y="0"/>
                    <a:pt x="762000" y="34116"/>
                    <a:pt x="762000" y="76200"/>
                  </a:cubicBezTo>
                  <a:lnTo>
                    <a:pt x="762000" y="1663700"/>
                  </a:lnTo>
                  <a:cubicBezTo>
                    <a:pt x="762000" y="1705784"/>
                    <a:pt x="727884" y="1739900"/>
                    <a:pt x="685800" y="1739900"/>
                  </a:cubicBezTo>
                  <a:lnTo>
                    <a:pt x="76200" y="1739900"/>
                  </a:lnTo>
                  <a:cubicBezTo>
                    <a:pt x="34116" y="1739900"/>
                    <a:pt x="0" y="1705784"/>
                    <a:pt x="0" y="1663700"/>
                  </a:cubicBezTo>
                  <a:lnTo>
                    <a:pt x="0" y="76200"/>
                  </a:lnTo>
                  <a:cubicBezTo>
                    <a:pt x="0" y="34116"/>
                    <a:pt x="34116" y="0"/>
                    <a:pt x="76200" y="0"/>
                  </a:cubicBezTo>
                  <a:close/>
                </a:path>
              </a:pathLst>
            </a:custGeom>
            <a:solidFill>
              <a:srgbClr val="1B3358"/>
            </a:solidFill>
          </p:spPr>
          <p:txBody>
            <a:bodyPr/>
            <a:lstStyle/>
            <a:p>
              <a:endParaRPr lang="en-KE"/>
            </a:p>
          </p:txBody>
        </p:sp>
        <p:sp>
          <p:nvSpPr>
            <p:cNvPr id="104" name="TextBox 104"/>
            <p:cNvSpPr txBox="1"/>
            <p:nvPr/>
          </p:nvSpPr>
          <p:spPr>
            <a:xfrm>
              <a:off x="0" y="-38100"/>
              <a:ext cx="762000" cy="1778000"/>
            </a:xfrm>
            <a:prstGeom prst="rect">
              <a:avLst/>
            </a:prstGeom>
          </p:spPr>
          <p:txBody>
            <a:bodyPr lIns="50800" tIns="50800" rIns="50800" bIns="50800" rtlCol="0" anchor="ctr"/>
            <a:lstStyle/>
            <a:p>
              <a:pPr algn="l">
                <a:lnSpc>
                  <a:spcPts val="1679"/>
                </a:lnSpc>
              </a:pPr>
              <a:endParaRPr/>
            </a:p>
          </p:txBody>
        </p:sp>
      </p:grpSp>
      <p:sp>
        <p:nvSpPr>
          <p:cNvPr id="105" name="TextBox 105"/>
          <p:cNvSpPr txBox="1"/>
          <p:nvPr/>
        </p:nvSpPr>
        <p:spPr>
          <a:xfrm>
            <a:off x="1390650" y="9201150"/>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E2DDD5"/>
                </a:solidFill>
                <a:latin typeface="Open Sans"/>
                <a:ea typeface="Open Sans"/>
                <a:cs typeface="Open Sans"/>
                <a:sym typeface="Open Sans"/>
              </a:rPr>
              <a:t>LR</a:t>
            </a:r>
          </a:p>
        </p:txBody>
      </p:sp>
      <p:sp>
        <p:nvSpPr>
          <p:cNvPr id="106" name="TextBox 106"/>
          <p:cNvSpPr txBox="1"/>
          <p:nvPr/>
        </p:nvSpPr>
        <p:spPr>
          <a:xfrm>
            <a:off x="1390650" y="7915275"/>
            <a:ext cx="571500" cy="148590"/>
          </a:xfrm>
          <a:prstGeom prst="rect">
            <a:avLst/>
          </a:prstGeom>
        </p:spPr>
        <p:txBody>
          <a:bodyPr lIns="0" tIns="0" rIns="0" bIns="0" rtlCol="0" anchor="t">
            <a:spAutoFit/>
          </a:bodyPr>
          <a:lstStyle/>
          <a:p>
            <a:pPr marL="0" lvl="0" indent="0" algn="ctr">
              <a:lnSpc>
                <a:spcPts val="1260"/>
              </a:lnSpc>
              <a:spcBef>
                <a:spcPct val="0"/>
              </a:spcBef>
            </a:pPr>
            <a:r>
              <a:rPr lang="en-US" sz="900" u="none" strike="noStrike">
                <a:solidFill>
                  <a:srgbClr val="FFFFFF"/>
                </a:solidFill>
                <a:latin typeface="Open Sans"/>
                <a:ea typeface="Open Sans"/>
                <a:cs typeface="Open Sans"/>
                <a:sym typeface="Open Sans"/>
              </a:rPr>
              <a:t>0.68</a:t>
            </a:r>
          </a:p>
        </p:txBody>
      </p:sp>
      <p:grpSp>
        <p:nvGrpSpPr>
          <p:cNvPr id="107" name="Group 107"/>
          <p:cNvGrpSpPr/>
          <p:nvPr/>
        </p:nvGrpSpPr>
        <p:grpSpPr>
          <a:xfrm>
            <a:off x="1390650" y="8115300"/>
            <a:ext cx="571500" cy="1028700"/>
            <a:chOff x="0" y="0"/>
            <a:chExt cx="762000" cy="1371600"/>
          </a:xfrm>
        </p:grpSpPr>
        <p:sp>
          <p:nvSpPr>
            <p:cNvPr id="108" name="Freeform 108"/>
            <p:cNvSpPr/>
            <p:nvPr/>
          </p:nvSpPr>
          <p:spPr>
            <a:xfrm>
              <a:off x="0" y="0"/>
              <a:ext cx="762000" cy="1371600"/>
            </a:xfrm>
            <a:custGeom>
              <a:avLst/>
              <a:gdLst/>
              <a:ahLst/>
              <a:cxnLst/>
              <a:rect l="l" t="t" r="r" b="b"/>
              <a:pathLst>
                <a:path w="762000" h="1371600">
                  <a:moveTo>
                    <a:pt x="76200" y="0"/>
                  </a:moveTo>
                  <a:lnTo>
                    <a:pt x="685800" y="0"/>
                  </a:lnTo>
                  <a:cubicBezTo>
                    <a:pt x="727884" y="0"/>
                    <a:pt x="762000" y="34116"/>
                    <a:pt x="762000" y="76200"/>
                  </a:cubicBezTo>
                  <a:lnTo>
                    <a:pt x="762000" y="1295400"/>
                  </a:lnTo>
                  <a:cubicBezTo>
                    <a:pt x="762000" y="1337484"/>
                    <a:pt x="727884" y="1371600"/>
                    <a:pt x="685800" y="1371600"/>
                  </a:cubicBezTo>
                  <a:lnTo>
                    <a:pt x="76200" y="1371600"/>
                  </a:lnTo>
                  <a:cubicBezTo>
                    <a:pt x="34116" y="1371600"/>
                    <a:pt x="0" y="1337484"/>
                    <a:pt x="0" y="1295400"/>
                  </a:cubicBezTo>
                  <a:lnTo>
                    <a:pt x="0" y="76200"/>
                  </a:lnTo>
                  <a:cubicBezTo>
                    <a:pt x="0" y="34116"/>
                    <a:pt x="34116" y="0"/>
                    <a:pt x="76200" y="0"/>
                  </a:cubicBezTo>
                  <a:close/>
                </a:path>
              </a:pathLst>
            </a:custGeom>
            <a:solidFill>
              <a:srgbClr val="1B3358"/>
            </a:solidFill>
          </p:spPr>
          <p:txBody>
            <a:bodyPr/>
            <a:lstStyle/>
            <a:p>
              <a:endParaRPr lang="en-KE"/>
            </a:p>
          </p:txBody>
        </p:sp>
        <p:sp>
          <p:nvSpPr>
            <p:cNvPr id="109" name="TextBox 109"/>
            <p:cNvSpPr txBox="1"/>
            <p:nvPr/>
          </p:nvSpPr>
          <p:spPr>
            <a:xfrm>
              <a:off x="0" y="-38100"/>
              <a:ext cx="762000" cy="1409700"/>
            </a:xfrm>
            <a:prstGeom prst="rect">
              <a:avLst/>
            </a:prstGeom>
          </p:spPr>
          <p:txBody>
            <a:bodyPr lIns="50800" tIns="50800" rIns="50800" bIns="50800" rtlCol="0" anchor="ctr"/>
            <a:lstStyle/>
            <a:p>
              <a:pPr algn="l">
                <a:lnSpc>
                  <a:spcPts val="1679"/>
                </a:lnSpc>
              </a:pPr>
              <a:endParaRPr/>
            </a:p>
          </p:txBody>
        </p:sp>
      </p:grpSp>
      <p:sp>
        <p:nvSpPr>
          <p:cNvPr id="110" name="TextBox 110"/>
          <p:cNvSpPr txBox="1"/>
          <p:nvPr/>
        </p:nvSpPr>
        <p:spPr>
          <a:xfrm>
            <a:off x="914400" y="7172325"/>
            <a:ext cx="38100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C9902A"/>
                </a:solidFill>
                <a:latin typeface="Open Sans"/>
                <a:ea typeface="Open Sans"/>
                <a:cs typeface="Open Sans"/>
                <a:sym typeface="Open Sans"/>
              </a:rPr>
              <a:t>ROC-AUC Comparison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SHAP Reveals the Top 5 Warning Signs of Default</a:t>
            </a:r>
          </a:p>
        </p:txBody>
      </p:sp>
      <p:sp>
        <p:nvSpPr>
          <p:cNvPr id="3" name="TextBox 3"/>
          <p:cNvSpPr txBox="1"/>
          <p:nvPr/>
        </p:nvSpPr>
        <p:spPr>
          <a:xfrm>
            <a:off x="914400" y="1590675"/>
            <a:ext cx="104775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SHAP assigns every feature a contribution score for every prediction. It shows how much each factor pushed a borrower's risk score up or down. This opens the black box.</a:t>
            </a:r>
          </a:p>
        </p:txBody>
      </p:sp>
      <p:grpSp>
        <p:nvGrpSpPr>
          <p:cNvPr id="4" name="Group 4"/>
          <p:cNvGrpSpPr/>
          <p:nvPr/>
        </p:nvGrpSpPr>
        <p:grpSpPr>
          <a:xfrm>
            <a:off x="914400" y="2286000"/>
            <a:ext cx="419100" cy="466725"/>
            <a:chOff x="0" y="0"/>
            <a:chExt cx="558800" cy="622300"/>
          </a:xfrm>
        </p:grpSpPr>
        <p:sp>
          <p:nvSpPr>
            <p:cNvPr id="5" name="Freeform 5"/>
            <p:cNvSpPr/>
            <p:nvPr/>
          </p:nvSpPr>
          <p:spPr>
            <a:xfrm>
              <a:off x="0" y="0"/>
              <a:ext cx="558800" cy="622300"/>
            </a:xfrm>
            <a:custGeom>
              <a:avLst/>
              <a:gdLst/>
              <a:ahLst/>
              <a:cxnLst/>
              <a:rect l="l" t="t" r="r" b="b"/>
              <a:pathLst>
                <a:path w="558800" h="622300">
                  <a:moveTo>
                    <a:pt x="279400" y="0"/>
                  </a:moveTo>
                  <a:cubicBezTo>
                    <a:pt x="125092" y="0"/>
                    <a:pt x="0" y="139307"/>
                    <a:pt x="0" y="311150"/>
                  </a:cubicBezTo>
                  <a:cubicBezTo>
                    <a:pt x="0" y="482993"/>
                    <a:pt x="125092" y="622300"/>
                    <a:pt x="279400" y="622300"/>
                  </a:cubicBezTo>
                  <a:cubicBezTo>
                    <a:pt x="433708" y="622300"/>
                    <a:pt x="558800" y="482993"/>
                    <a:pt x="558800" y="311150"/>
                  </a:cubicBezTo>
                  <a:cubicBezTo>
                    <a:pt x="558800" y="139307"/>
                    <a:pt x="433708" y="0"/>
                    <a:pt x="279400" y="0"/>
                  </a:cubicBezTo>
                  <a:close/>
                </a:path>
              </a:pathLst>
            </a:custGeom>
            <a:solidFill>
              <a:srgbClr val="C9902A"/>
            </a:solidFill>
          </p:spPr>
          <p:txBody>
            <a:bodyPr/>
            <a:lstStyle/>
            <a:p>
              <a:endParaRPr lang="en-KE"/>
            </a:p>
          </p:txBody>
        </p:sp>
        <p:sp>
          <p:nvSpPr>
            <p:cNvPr id="6" name="TextBox 6"/>
            <p:cNvSpPr txBox="1"/>
            <p:nvPr/>
          </p:nvSpPr>
          <p:spPr>
            <a:xfrm>
              <a:off x="0" y="-28575"/>
              <a:ext cx="558800" cy="650875"/>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F2044"/>
                  </a:solidFill>
                  <a:latin typeface="Open Sans"/>
                  <a:ea typeface="Open Sans"/>
                  <a:cs typeface="Open Sans"/>
                  <a:sym typeface="Open Sans"/>
                </a:rPr>
                <a:t>1</a:t>
              </a:r>
            </a:p>
          </p:txBody>
        </p:sp>
      </p:grpSp>
      <p:sp>
        <p:nvSpPr>
          <p:cNvPr id="7" name="TextBox 7"/>
          <p:cNvSpPr txBox="1"/>
          <p:nvPr/>
        </p:nvSpPr>
        <p:spPr>
          <a:xfrm>
            <a:off x="1485900" y="2305050"/>
            <a:ext cx="5715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EXT_SOURCE_2</a:t>
            </a:r>
          </a:p>
        </p:txBody>
      </p:sp>
      <p:sp>
        <p:nvSpPr>
          <p:cNvPr id="8" name="TextBox 8"/>
          <p:cNvSpPr txBox="1"/>
          <p:nvPr/>
        </p:nvSpPr>
        <p:spPr>
          <a:xfrm>
            <a:off x="1485900" y="2552700"/>
            <a:ext cx="57150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External credit score from bureau</a:t>
            </a:r>
          </a:p>
        </p:txBody>
      </p:sp>
      <p:sp>
        <p:nvSpPr>
          <p:cNvPr id="9" name="TextBox 9"/>
          <p:cNvSpPr txBox="1"/>
          <p:nvPr/>
        </p:nvSpPr>
        <p:spPr>
          <a:xfrm>
            <a:off x="1485900" y="2800350"/>
            <a:ext cx="5715000" cy="198120"/>
          </a:xfrm>
          <a:prstGeom prst="rect">
            <a:avLst/>
          </a:prstGeom>
        </p:spPr>
        <p:txBody>
          <a:bodyPr lIns="0" tIns="0" rIns="0" bIns="0" rtlCol="0" anchor="t">
            <a:spAutoFit/>
          </a:bodyPr>
          <a:lstStyle/>
          <a:p>
            <a:pPr marL="0" lvl="0" indent="0" algn="l">
              <a:lnSpc>
                <a:spcPts val="1679"/>
              </a:lnSpc>
              <a:spcBef>
                <a:spcPct val="0"/>
              </a:spcBef>
            </a:pPr>
            <a:r>
              <a:rPr lang="en-US" sz="1200" u="none" strike="noStrike">
                <a:solidFill>
                  <a:srgbClr val="E74C3C"/>
                </a:solidFill>
                <a:latin typeface="Open Sans"/>
                <a:ea typeface="Open Sans"/>
                <a:cs typeface="Open Sans"/>
                <a:sym typeface="Open Sans"/>
              </a:rPr>
              <a:t>Low score = high risk</a:t>
            </a:r>
          </a:p>
        </p:txBody>
      </p:sp>
      <p:grpSp>
        <p:nvGrpSpPr>
          <p:cNvPr id="10" name="Group 10"/>
          <p:cNvGrpSpPr/>
          <p:nvPr/>
        </p:nvGrpSpPr>
        <p:grpSpPr>
          <a:xfrm>
            <a:off x="914400" y="3524250"/>
            <a:ext cx="419100" cy="466725"/>
            <a:chOff x="0" y="0"/>
            <a:chExt cx="558800" cy="622300"/>
          </a:xfrm>
        </p:grpSpPr>
        <p:sp>
          <p:nvSpPr>
            <p:cNvPr id="11" name="Freeform 11"/>
            <p:cNvSpPr/>
            <p:nvPr/>
          </p:nvSpPr>
          <p:spPr>
            <a:xfrm>
              <a:off x="0" y="0"/>
              <a:ext cx="558800" cy="622300"/>
            </a:xfrm>
            <a:custGeom>
              <a:avLst/>
              <a:gdLst/>
              <a:ahLst/>
              <a:cxnLst/>
              <a:rect l="l" t="t" r="r" b="b"/>
              <a:pathLst>
                <a:path w="558800" h="622300">
                  <a:moveTo>
                    <a:pt x="279400" y="0"/>
                  </a:moveTo>
                  <a:cubicBezTo>
                    <a:pt x="125092" y="0"/>
                    <a:pt x="0" y="139307"/>
                    <a:pt x="0" y="311150"/>
                  </a:cubicBezTo>
                  <a:cubicBezTo>
                    <a:pt x="0" y="482993"/>
                    <a:pt x="125092" y="622300"/>
                    <a:pt x="279400" y="622300"/>
                  </a:cubicBezTo>
                  <a:cubicBezTo>
                    <a:pt x="433708" y="622300"/>
                    <a:pt x="558800" y="482993"/>
                    <a:pt x="558800" y="311150"/>
                  </a:cubicBezTo>
                  <a:cubicBezTo>
                    <a:pt x="558800" y="139307"/>
                    <a:pt x="433708" y="0"/>
                    <a:pt x="279400" y="0"/>
                  </a:cubicBezTo>
                  <a:close/>
                </a:path>
              </a:pathLst>
            </a:custGeom>
            <a:solidFill>
              <a:srgbClr val="C9902A"/>
            </a:solidFill>
          </p:spPr>
          <p:txBody>
            <a:bodyPr/>
            <a:lstStyle/>
            <a:p>
              <a:endParaRPr lang="en-KE"/>
            </a:p>
          </p:txBody>
        </p:sp>
        <p:sp>
          <p:nvSpPr>
            <p:cNvPr id="12" name="TextBox 12"/>
            <p:cNvSpPr txBox="1"/>
            <p:nvPr/>
          </p:nvSpPr>
          <p:spPr>
            <a:xfrm>
              <a:off x="0" y="-28575"/>
              <a:ext cx="558800" cy="650875"/>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F2044"/>
                  </a:solidFill>
                  <a:latin typeface="Open Sans"/>
                  <a:ea typeface="Open Sans"/>
                  <a:cs typeface="Open Sans"/>
                  <a:sym typeface="Open Sans"/>
                </a:rPr>
                <a:t>2</a:t>
              </a:r>
            </a:p>
          </p:txBody>
        </p:sp>
      </p:grpSp>
      <p:sp>
        <p:nvSpPr>
          <p:cNvPr id="13" name="TextBox 13"/>
          <p:cNvSpPr txBox="1"/>
          <p:nvPr/>
        </p:nvSpPr>
        <p:spPr>
          <a:xfrm>
            <a:off x="1485900" y="3543300"/>
            <a:ext cx="5715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EXT_SOURCE_3</a:t>
            </a:r>
          </a:p>
        </p:txBody>
      </p:sp>
      <p:sp>
        <p:nvSpPr>
          <p:cNvPr id="14" name="TextBox 14"/>
          <p:cNvSpPr txBox="1"/>
          <p:nvPr/>
        </p:nvSpPr>
        <p:spPr>
          <a:xfrm>
            <a:off x="1485900" y="3790950"/>
            <a:ext cx="57150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Second external credit score</a:t>
            </a:r>
          </a:p>
        </p:txBody>
      </p:sp>
      <p:sp>
        <p:nvSpPr>
          <p:cNvPr id="15" name="TextBox 15"/>
          <p:cNvSpPr txBox="1"/>
          <p:nvPr/>
        </p:nvSpPr>
        <p:spPr>
          <a:xfrm>
            <a:off x="1485900" y="4038600"/>
            <a:ext cx="5715000" cy="198120"/>
          </a:xfrm>
          <a:prstGeom prst="rect">
            <a:avLst/>
          </a:prstGeom>
        </p:spPr>
        <p:txBody>
          <a:bodyPr lIns="0" tIns="0" rIns="0" bIns="0" rtlCol="0" anchor="t">
            <a:spAutoFit/>
          </a:bodyPr>
          <a:lstStyle/>
          <a:p>
            <a:pPr marL="0" lvl="0" indent="0" algn="l">
              <a:lnSpc>
                <a:spcPts val="1679"/>
              </a:lnSpc>
              <a:spcBef>
                <a:spcPct val="0"/>
              </a:spcBef>
            </a:pPr>
            <a:r>
              <a:rPr lang="en-US" sz="1200" u="none" strike="noStrike">
                <a:solidFill>
                  <a:srgbClr val="E74C3C"/>
                </a:solidFill>
                <a:latin typeface="Open Sans"/>
                <a:ea typeface="Open Sans"/>
                <a:cs typeface="Open Sans"/>
                <a:sym typeface="Open Sans"/>
              </a:rPr>
              <a:t>Low score = high risk</a:t>
            </a:r>
          </a:p>
        </p:txBody>
      </p:sp>
      <p:grpSp>
        <p:nvGrpSpPr>
          <p:cNvPr id="16" name="Group 16"/>
          <p:cNvGrpSpPr/>
          <p:nvPr/>
        </p:nvGrpSpPr>
        <p:grpSpPr>
          <a:xfrm>
            <a:off x="914400" y="4762500"/>
            <a:ext cx="419100" cy="466725"/>
            <a:chOff x="0" y="0"/>
            <a:chExt cx="558800" cy="622300"/>
          </a:xfrm>
        </p:grpSpPr>
        <p:sp>
          <p:nvSpPr>
            <p:cNvPr id="17" name="Freeform 17"/>
            <p:cNvSpPr/>
            <p:nvPr/>
          </p:nvSpPr>
          <p:spPr>
            <a:xfrm>
              <a:off x="0" y="0"/>
              <a:ext cx="558800" cy="622300"/>
            </a:xfrm>
            <a:custGeom>
              <a:avLst/>
              <a:gdLst/>
              <a:ahLst/>
              <a:cxnLst/>
              <a:rect l="l" t="t" r="r" b="b"/>
              <a:pathLst>
                <a:path w="558800" h="622300">
                  <a:moveTo>
                    <a:pt x="279400" y="0"/>
                  </a:moveTo>
                  <a:cubicBezTo>
                    <a:pt x="125092" y="0"/>
                    <a:pt x="0" y="139307"/>
                    <a:pt x="0" y="311150"/>
                  </a:cubicBezTo>
                  <a:cubicBezTo>
                    <a:pt x="0" y="482993"/>
                    <a:pt x="125092" y="622300"/>
                    <a:pt x="279400" y="622300"/>
                  </a:cubicBezTo>
                  <a:cubicBezTo>
                    <a:pt x="433708" y="622300"/>
                    <a:pt x="558800" y="482993"/>
                    <a:pt x="558800" y="311150"/>
                  </a:cubicBezTo>
                  <a:cubicBezTo>
                    <a:pt x="558800" y="139307"/>
                    <a:pt x="433708" y="0"/>
                    <a:pt x="279400" y="0"/>
                  </a:cubicBezTo>
                  <a:close/>
                </a:path>
              </a:pathLst>
            </a:custGeom>
            <a:solidFill>
              <a:srgbClr val="C9902A"/>
            </a:solidFill>
          </p:spPr>
          <p:txBody>
            <a:bodyPr/>
            <a:lstStyle/>
            <a:p>
              <a:endParaRPr lang="en-KE"/>
            </a:p>
          </p:txBody>
        </p:sp>
        <p:sp>
          <p:nvSpPr>
            <p:cNvPr id="18" name="TextBox 18"/>
            <p:cNvSpPr txBox="1"/>
            <p:nvPr/>
          </p:nvSpPr>
          <p:spPr>
            <a:xfrm>
              <a:off x="0" y="-28575"/>
              <a:ext cx="558800" cy="650875"/>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F2044"/>
                  </a:solidFill>
                  <a:latin typeface="Open Sans"/>
                  <a:ea typeface="Open Sans"/>
                  <a:cs typeface="Open Sans"/>
                  <a:sym typeface="Open Sans"/>
                </a:rPr>
                <a:t>3</a:t>
              </a:r>
            </a:p>
          </p:txBody>
        </p:sp>
      </p:grpSp>
      <p:sp>
        <p:nvSpPr>
          <p:cNvPr id="19" name="TextBox 19"/>
          <p:cNvSpPr txBox="1"/>
          <p:nvPr/>
        </p:nvSpPr>
        <p:spPr>
          <a:xfrm>
            <a:off x="1485900" y="4781550"/>
            <a:ext cx="5715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EXT_SOURCE_1</a:t>
            </a:r>
          </a:p>
        </p:txBody>
      </p:sp>
      <p:sp>
        <p:nvSpPr>
          <p:cNvPr id="20" name="TextBox 20"/>
          <p:cNvSpPr txBox="1"/>
          <p:nvPr/>
        </p:nvSpPr>
        <p:spPr>
          <a:xfrm>
            <a:off x="1485900" y="5029200"/>
            <a:ext cx="57150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Third external credit score</a:t>
            </a:r>
          </a:p>
        </p:txBody>
      </p:sp>
      <p:sp>
        <p:nvSpPr>
          <p:cNvPr id="21" name="TextBox 21"/>
          <p:cNvSpPr txBox="1"/>
          <p:nvPr/>
        </p:nvSpPr>
        <p:spPr>
          <a:xfrm>
            <a:off x="1485900" y="5276850"/>
            <a:ext cx="5715000" cy="198120"/>
          </a:xfrm>
          <a:prstGeom prst="rect">
            <a:avLst/>
          </a:prstGeom>
        </p:spPr>
        <p:txBody>
          <a:bodyPr lIns="0" tIns="0" rIns="0" bIns="0" rtlCol="0" anchor="t">
            <a:spAutoFit/>
          </a:bodyPr>
          <a:lstStyle/>
          <a:p>
            <a:pPr marL="0" lvl="0" indent="0" algn="l">
              <a:lnSpc>
                <a:spcPts val="1679"/>
              </a:lnSpc>
              <a:spcBef>
                <a:spcPct val="0"/>
              </a:spcBef>
            </a:pPr>
            <a:r>
              <a:rPr lang="en-US" sz="1200" u="none" strike="noStrike">
                <a:solidFill>
                  <a:srgbClr val="E74C3C"/>
                </a:solidFill>
                <a:latin typeface="Open Sans"/>
                <a:ea typeface="Open Sans"/>
                <a:cs typeface="Open Sans"/>
                <a:sym typeface="Open Sans"/>
              </a:rPr>
              <a:t>Low score = high risk</a:t>
            </a:r>
          </a:p>
        </p:txBody>
      </p:sp>
      <p:grpSp>
        <p:nvGrpSpPr>
          <p:cNvPr id="22" name="Group 22"/>
          <p:cNvGrpSpPr/>
          <p:nvPr/>
        </p:nvGrpSpPr>
        <p:grpSpPr>
          <a:xfrm>
            <a:off x="914400" y="6000750"/>
            <a:ext cx="419100" cy="466725"/>
            <a:chOff x="0" y="0"/>
            <a:chExt cx="558800" cy="622300"/>
          </a:xfrm>
        </p:grpSpPr>
        <p:sp>
          <p:nvSpPr>
            <p:cNvPr id="23" name="Freeform 23"/>
            <p:cNvSpPr/>
            <p:nvPr/>
          </p:nvSpPr>
          <p:spPr>
            <a:xfrm>
              <a:off x="0" y="0"/>
              <a:ext cx="558800" cy="622300"/>
            </a:xfrm>
            <a:custGeom>
              <a:avLst/>
              <a:gdLst/>
              <a:ahLst/>
              <a:cxnLst/>
              <a:rect l="l" t="t" r="r" b="b"/>
              <a:pathLst>
                <a:path w="558800" h="622300">
                  <a:moveTo>
                    <a:pt x="279400" y="0"/>
                  </a:moveTo>
                  <a:cubicBezTo>
                    <a:pt x="125092" y="0"/>
                    <a:pt x="0" y="139307"/>
                    <a:pt x="0" y="311150"/>
                  </a:cubicBezTo>
                  <a:cubicBezTo>
                    <a:pt x="0" y="482993"/>
                    <a:pt x="125092" y="622300"/>
                    <a:pt x="279400" y="622300"/>
                  </a:cubicBezTo>
                  <a:cubicBezTo>
                    <a:pt x="433708" y="622300"/>
                    <a:pt x="558800" y="482993"/>
                    <a:pt x="558800" y="311150"/>
                  </a:cubicBezTo>
                  <a:cubicBezTo>
                    <a:pt x="558800" y="139307"/>
                    <a:pt x="433708" y="0"/>
                    <a:pt x="279400" y="0"/>
                  </a:cubicBezTo>
                  <a:close/>
                </a:path>
              </a:pathLst>
            </a:custGeom>
            <a:solidFill>
              <a:srgbClr val="C9902A"/>
            </a:solidFill>
          </p:spPr>
          <p:txBody>
            <a:bodyPr/>
            <a:lstStyle/>
            <a:p>
              <a:endParaRPr lang="en-KE"/>
            </a:p>
          </p:txBody>
        </p:sp>
        <p:sp>
          <p:nvSpPr>
            <p:cNvPr id="24" name="TextBox 24"/>
            <p:cNvSpPr txBox="1"/>
            <p:nvPr/>
          </p:nvSpPr>
          <p:spPr>
            <a:xfrm>
              <a:off x="0" y="-28575"/>
              <a:ext cx="558800" cy="650875"/>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F2044"/>
                  </a:solidFill>
                  <a:latin typeface="Open Sans"/>
                  <a:ea typeface="Open Sans"/>
                  <a:cs typeface="Open Sans"/>
                  <a:sym typeface="Open Sans"/>
                </a:rPr>
                <a:t>4</a:t>
              </a:r>
            </a:p>
          </p:txBody>
        </p:sp>
      </p:grpSp>
      <p:sp>
        <p:nvSpPr>
          <p:cNvPr id="25" name="TextBox 25"/>
          <p:cNvSpPr txBox="1"/>
          <p:nvPr/>
        </p:nvSpPr>
        <p:spPr>
          <a:xfrm>
            <a:off x="1485900" y="6019800"/>
            <a:ext cx="5715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Education type</a:t>
            </a:r>
          </a:p>
        </p:txBody>
      </p:sp>
      <p:sp>
        <p:nvSpPr>
          <p:cNvPr id="26" name="TextBox 26"/>
          <p:cNvSpPr txBox="1"/>
          <p:nvPr/>
        </p:nvSpPr>
        <p:spPr>
          <a:xfrm>
            <a:off x="1485900" y="6267450"/>
            <a:ext cx="57150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Higher education = lower risk</a:t>
            </a:r>
          </a:p>
        </p:txBody>
      </p:sp>
      <p:sp>
        <p:nvSpPr>
          <p:cNvPr id="27" name="TextBox 27"/>
          <p:cNvSpPr txBox="1"/>
          <p:nvPr/>
        </p:nvSpPr>
        <p:spPr>
          <a:xfrm>
            <a:off x="1485900" y="6515100"/>
            <a:ext cx="5715000" cy="198120"/>
          </a:xfrm>
          <a:prstGeom prst="rect">
            <a:avLst/>
          </a:prstGeom>
        </p:spPr>
        <p:txBody>
          <a:bodyPr lIns="0" tIns="0" rIns="0" bIns="0" rtlCol="0" anchor="t">
            <a:spAutoFit/>
          </a:bodyPr>
          <a:lstStyle/>
          <a:p>
            <a:pPr marL="0" lvl="0" indent="0" algn="l">
              <a:lnSpc>
                <a:spcPts val="1679"/>
              </a:lnSpc>
              <a:spcBef>
                <a:spcPct val="0"/>
              </a:spcBef>
            </a:pPr>
            <a:r>
              <a:rPr lang="en-US" sz="1200" u="none" strike="noStrike">
                <a:solidFill>
                  <a:srgbClr val="E74C3C"/>
                </a:solidFill>
                <a:latin typeface="Open Sans"/>
                <a:ea typeface="Open Sans"/>
                <a:cs typeface="Open Sans"/>
                <a:sym typeface="Open Sans"/>
              </a:rPr>
              <a:t>Secondary only = higher risk</a:t>
            </a:r>
          </a:p>
        </p:txBody>
      </p:sp>
      <p:grpSp>
        <p:nvGrpSpPr>
          <p:cNvPr id="28" name="Group 28"/>
          <p:cNvGrpSpPr/>
          <p:nvPr/>
        </p:nvGrpSpPr>
        <p:grpSpPr>
          <a:xfrm>
            <a:off x="914400" y="7239000"/>
            <a:ext cx="419100" cy="466725"/>
            <a:chOff x="0" y="0"/>
            <a:chExt cx="558800" cy="622300"/>
          </a:xfrm>
        </p:grpSpPr>
        <p:sp>
          <p:nvSpPr>
            <p:cNvPr id="29" name="Freeform 29"/>
            <p:cNvSpPr/>
            <p:nvPr/>
          </p:nvSpPr>
          <p:spPr>
            <a:xfrm>
              <a:off x="0" y="0"/>
              <a:ext cx="558800" cy="622300"/>
            </a:xfrm>
            <a:custGeom>
              <a:avLst/>
              <a:gdLst/>
              <a:ahLst/>
              <a:cxnLst/>
              <a:rect l="l" t="t" r="r" b="b"/>
              <a:pathLst>
                <a:path w="558800" h="622300">
                  <a:moveTo>
                    <a:pt x="279400" y="0"/>
                  </a:moveTo>
                  <a:cubicBezTo>
                    <a:pt x="125092" y="0"/>
                    <a:pt x="0" y="139307"/>
                    <a:pt x="0" y="311150"/>
                  </a:cubicBezTo>
                  <a:cubicBezTo>
                    <a:pt x="0" y="482993"/>
                    <a:pt x="125092" y="622300"/>
                    <a:pt x="279400" y="622300"/>
                  </a:cubicBezTo>
                  <a:cubicBezTo>
                    <a:pt x="433708" y="622300"/>
                    <a:pt x="558800" y="482993"/>
                    <a:pt x="558800" y="311150"/>
                  </a:cubicBezTo>
                  <a:cubicBezTo>
                    <a:pt x="558800" y="139307"/>
                    <a:pt x="433708" y="0"/>
                    <a:pt x="279400" y="0"/>
                  </a:cubicBezTo>
                  <a:close/>
                </a:path>
              </a:pathLst>
            </a:custGeom>
            <a:solidFill>
              <a:srgbClr val="C9902A"/>
            </a:solidFill>
          </p:spPr>
          <p:txBody>
            <a:bodyPr/>
            <a:lstStyle/>
            <a:p>
              <a:endParaRPr lang="en-KE"/>
            </a:p>
          </p:txBody>
        </p:sp>
        <p:sp>
          <p:nvSpPr>
            <p:cNvPr id="30" name="TextBox 30"/>
            <p:cNvSpPr txBox="1"/>
            <p:nvPr/>
          </p:nvSpPr>
          <p:spPr>
            <a:xfrm>
              <a:off x="0" y="-28575"/>
              <a:ext cx="558800" cy="650875"/>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F2044"/>
                  </a:solidFill>
                  <a:latin typeface="Open Sans"/>
                  <a:ea typeface="Open Sans"/>
                  <a:cs typeface="Open Sans"/>
                  <a:sym typeface="Open Sans"/>
                </a:rPr>
                <a:t>5</a:t>
              </a:r>
            </a:p>
          </p:txBody>
        </p:sp>
      </p:grpSp>
      <p:sp>
        <p:nvSpPr>
          <p:cNvPr id="31" name="TextBox 31"/>
          <p:cNvSpPr txBox="1"/>
          <p:nvPr/>
        </p:nvSpPr>
        <p:spPr>
          <a:xfrm>
            <a:off x="1485900" y="7258050"/>
            <a:ext cx="5715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Employment / Income type</a:t>
            </a:r>
          </a:p>
        </p:txBody>
      </p:sp>
      <p:sp>
        <p:nvSpPr>
          <p:cNvPr id="32" name="TextBox 32"/>
          <p:cNvSpPr txBox="1"/>
          <p:nvPr/>
        </p:nvSpPr>
        <p:spPr>
          <a:xfrm>
            <a:off x="1485900" y="7505700"/>
            <a:ext cx="57150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Working = safer; unemployed = riskier</a:t>
            </a:r>
          </a:p>
        </p:txBody>
      </p:sp>
      <p:sp>
        <p:nvSpPr>
          <p:cNvPr id="33" name="TextBox 33"/>
          <p:cNvSpPr txBox="1"/>
          <p:nvPr/>
        </p:nvSpPr>
        <p:spPr>
          <a:xfrm>
            <a:off x="1485900" y="7753350"/>
            <a:ext cx="5715000" cy="198120"/>
          </a:xfrm>
          <a:prstGeom prst="rect">
            <a:avLst/>
          </a:prstGeom>
        </p:spPr>
        <p:txBody>
          <a:bodyPr lIns="0" tIns="0" rIns="0" bIns="0" rtlCol="0" anchor="t">
            <a:spAutoFit/>
          </a:bodyPr>
          <a:lstStyle/>
          <a:p>
            <a:pPr marL="0" lvl="0" indent="0" algn="l">
              <a:lnSpc>
                <a:spcPts val="1679"/>
              </a:lnSpc>
              <a:spcBef>
                <a:spcPct val="0"/>
              </a:spcBef>
            </a:pPr>
            <a:r>
              <a:rPr lang="en-US" sz="1200" u="none" strike="noStrike">
                <a:solidFill>
                  <a:srgbClr val="E74C3C"/>
                </a:solidFill>
                <a:latin typeface="Open Sans"/>
                <a:ea typeface="Open Sans"/>
                <a:cs typeface="Open Sans"/>
                <a:sym typeface="Open Sans"/>
              </a:rPr>
              <a:t>Unstable employment = high risk</a:t>
            </a:r>
          </a:p>
        </p:txBody>
      </p:sp>
      <p:grpSp>
        <p:nvGrpSpPr>
          <p:cNvPr id="34" name="Group 34"/>
          <p:cNvGrpSpPr/>
          <p:nvPr/>
        </p:nvGrpSpPr>
        <p:grpSpPr>
          <a:xfrm>
            <a:off x="11906250" y="2667000"/>
            <a:ext cx="4762500" cy="2381250"/>
            <a:chOff x="0" y="0"/>
            <a:chExt cx="6350000" cy="3175000"/>
          </a:xfrm>
        </p:grpSpPr>
        <p:sp>
          <p:nvSpPr>
            <p:cNvPr id="35" name="Freeform 35"/>
            <p:cNvSpPr/>
            <p:nvPr/>
          </p:nvSpPr>
          <p:spPr>
            <a:xfrm>
              <a:off x="0" y="0"/>
              <a:ext cx="6350000" cy="3175000"/>
            </a:xfrm>
            <a:custGeom>
              <a:avLst/>
              <a:gdLst/>
              <a:ahLst/>
              <a:cxnLst/>
              <a:rect l="l" t="t" r="r" b="b"/>
              <a:pathLst>
                <a:path w="6350000" h="3175000">
                  <a:moveTo>
                    <a:pt x="317500" y="0"/>
                  </a:moveTo>
                  <a:lnTo>
                    <a:pt x="6032500" y="0"/>
                  </a:lnTo>
                  <a:cubicBezTo>
                    <a:pt x="6207851" y="0"/>
                    <a:pt x="6350000" y="142150"/>
                    <a:pt x="6350000" y="317500"/>
                  </a:cubicBezTo>
                  <a:lnTo>
                    <a:pt x="6350000" y="2857500"/>
                  </a:lnTo>
                  <a:cubicBezTo>
                    <a:pt x="6350000" y="3032850"/>
                    <a:pt x="6207851" y="3175000"/>
                    <a:pt x="6032500" y="3175000"/>
                  </a:cubicBezTo>
                  <a:lnTo>
                    <a:pt x="317500" y="3175000"/>
                  </a:lnTo>
                  <a:cubicBezTo>
                    <a:pt x="142150" y="3175000"/>
                    <a:pt x="0" y="3032850"/>
                    <a:pt x="0" y="2857500"/>
                  </a:cubicBezTo>
                  <a:lnTo>
                    <a:pt x="0" y="317500"/>
                  </a:lnTo>
                  <a:cubicBezTo>
                    <a:pt x="0" y="142150"/>
                    <a:pt x="142150" y="0"/>
                    <a:pt x="317500" y="0"/>
                  </a:cubicBezTo>
                  <a:close/>
                </a:path>
              </a:pathLst>
            </a:custGeom>
            <a:solidFill>
              <a:srgbClr val="1B3358"/>
            </a:solidFill>
          </p:spPr>
          <p:txBody>
            <a:bodyPr/>
            <a:lstStyle/>
            <a:p>
              <a:endParaRPr lang="en-KE"/>
            </a:p>
          </p:txBody>
        </p:sp>
        <p:sp>
          <p:nvSpPr>
            <p:cNvPr id="36" name="TextBox 36"/>
            <p:cNvSpPr txBox="1"/>
            <p:nvPr/>
          </p:nvSpPr>
          <p:spPr>
            <a:xfrm>
              <a:off x="0" y="-38100"/>
              <a:ext cx="6350000" cy="3213100"/>
            </a:xfrm>
            <a:prstGeom prst="rect">
              <a:avLst/>
            </a:prstGeom>
          </p:spPr>
          <p:txBody>
            <a:bodyPr lIns="50800" tIns="50800" rIns="50800" bIns="50800" rtlCol="0" anchor="ctr"/>
            <a:lstStyle/>
            <a:p>
              <a:pPr algn="l">
                <a:lnSpc>
                  <a:spcPts val="1679"/>
                </a:lnSpc>
              </a:pPr>
              <a:endParaRPr/>
            </a:p>
          </p:txBody>
        </p:sp>
      </p:grpSp>
      <p:sp>
        <p:nvSpPr>
          <p:cNvPr id="37" name="TextBox 37"/>
          <p:cNvSpPr txBox="1"/>
          <p:nvPr/>
        </p:nvSpPr>
        <p:spPr>
          <a:xfrm>
            <a:off x="12382500" y="2933700"/>
            <a:ext cx="38100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C9902A"/>
                </a:solidFill>
                <a:latin typeface="Open Sans"/>
                <a:ea typeface="Open Sans"/>
                <a:cs typeface="Open Sans"/>
                <a:sym typeface="Open Sans"/>
              </a:rPr>
              <a:t>KEY THRESHOLD</a:t>
            </a:r>
          </a:p>
        </p:txBody>
      </p:sp>
      <p:sp>
        <p:nvSpPr>
          <p:cNvPr id="38" name="TextBox 38"/>
          <p:cNvSpPr txBox="1"/>
          <p:nvPr/>
        </p:nvSpPr>
        <p:spPr>
          <a:xfrm>
            <a:off x="12858750" y="3257550"/>
            <a:ext cx="2857500" cy="736199"/>
          </a:xfrm>
          <a:prstGeom prst="rect">
            <a:avLst/>
          </a:prstGeom>
        </p:spPr>
        <p:txBody>
          <a:bodyPr lIns="0" tIns="0" rIns="0" bIns="0" rtlCol="0" anchor="t">
            <a:spAutoFit/>
          </a:bodyPr>
          <a:lstStyle/>
          <a:p>
            <a:pPr marL="0" lvl="0" indent="0" algn="ctr">
              <a:lnSpc>
                <a:spcPts val="6147"/>
              </a:lnSpc>
              <a:spcBef>
                <a:spcPct val="0"/>
              </a:spcBef>
            </a:pPr>
            <a:r>
              <a:rPr lang="en-US" sz="4390" u="none" strike="noStrike">
                <a:solidFill>
                  <a:srgbClr val="C9902A"/>
                </a:solidFill>
                <a:latin typeface="IBM Plex Mono"/>
                <a:ea typeface="IBM Plex Mono"/>
                <a:cs typeface="IBM Plex Mono"/>
                <a:sym typeface="IBM Plex Mono"/>
              </a:rPr>
              <a:t>0.35</a:t>
            </a:r>
          </a:p>
        </p:txBody>
      </p:sp>
      <p:sp>
        <p:nvSpPr>
          <p:cNvPr id="39" name="TextBox 39"/>
          <p:cNvSpPr txBox="1"/>
          <p:nvPr/>
        </p:nvSpPr>
        <p:spPr>
          <a:xfrm>
            <a:off x="12287250" y="4057650"/>
            <a:ext cx="4000500" cy="462280"/>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E2DDD5"/>
                </a:solidFill>
                <a:latin typeface="Open Sans"/>
                <a:ea typeface="Open Sans"/>
                <a:cs typeface="Open Sans"/>
                <a:sym typeface="Open Sans"/>
              </a:rPr>
              <a:t>EXT_SOURCE_2 below 0.35 = high-risk zone</a:t>
            </a:r>
          </a:p>
          <a:p>
            <a:pPr marL="0" lvl="0" indent="0" algn="ctr">
              <a:lnSpc>
                <a:spcPts val="1819"/>
              </a:lnSpc>
              <a:spcBef>
                <a:spcPct val="0"/>
              </a:spcBef>
            </a:pPr>
            <a:r>
              <a:rPr lang="en-US" sz="1299" u="none" strike="noStrike">
                <a:solidFill>
                  <a:srgbClr val="E2DDD5"/>
                </a:solidFill>
                <a:latin typeface="Open Sans"/>
                <a:ea typeface="Open Sans"/>
                <a:cs typeface="Open Sans"/>
                <a:sym typeface="Open Sans"/>
              </a:rPr>
              <a:t>Above 0.60 = consistently safe</a:t>
            </a:r>
          </a:p>
        </p:txBody>
      </p:sp>
      <p:sp>
        <p:nvSpPr>
          <p:cNvPr id="40" name="TextBox 40"/>
          <p:cNvSpPr txBox="1"/>
          <p:nvPr/>
        </p:nvSpPr>
        <p:spPr>
          <a:xfrm>
            <a:off x="914400" y="8724900"/>
            <a:ext cx="11430000" cy="4622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SHAP vs Permutation Importance: Both methods agreed on the top features. Strong agreement between two independent methods = high confidence in findings.</a:t>
            </a:r>
          </a:p>
        </p:txBody>
      </p:sp>
      <p:grpSp>
        <p:nvGrpSpPr>
          <p:cNvPr id="41" name="Group 41"/>
          <p:cNvGrpSpPr/>
          <p:nvPr/>
        </p:nvGrpSpPr>
        <p:grpSpPr>
          <a:xfrm>
            <a:off x="13144500" y="7143750"/>
            <a:ext cx="1495425" cy="209550"/>
            <a:chOff x="0" y="0"/>
            <a:chExt cx="1993900" cy="279400"/>
          </a:xfrm>
        </p:grpSpPr>
        <p:sp>
          <p:nvSpPr>
            <p:cNvPr id="42" name="Freeform 42"/>
            <p:cNvSpPr/>
            <p:nvPr/>
          </p:nvSpPr>
          <p:spPr>
            <a:xfrm>
              <a:off x="0" y="0"/>
              <a:ext cx="1993900" cy="279400"/>
            </a:xfrm>
            <a:custGeom>
              <a:avLst/>
              <a:gdLst/>
              <a:ahLst/>
              <a:cxnLst/>
              <a:rect l="l" t="t" r="r" b="b"/>
              <a:pathLst>
                <a:path w="1993900" h="279400">
                  <a:moveTo>
                    <a:pt x="27940" y="0"/>
                  </a:moveTo>
                  <a:lnTo>
                    <a:pt x="1965960" y="0"/>
                  </a:lnTo>
                  <a:cubicBezTo>
                    <a:pt x="1981391" y="0"/>
                    <a:pt x="1993900" y="12509"/>
                    <a:pt x="1993900" y="27940"/>
                  </a:cubicBezTo>
                  <a:lnTo>
                    <a:pt x="1993900" y="251460"/>
                  </a:lnTo>
                  <a:cubicBezTo>
                    <a:pt x="1993900" y="266891"/>
                    <a:pt x="1981391" y="279400"/>
                    <a:pt x="1965960" y="279400"/>
                  </a:cubicBezTo>
                  <a:lnTo>
                    <a:pt x="27940" y="279400"/>
                  </a:lnTo>
                  <a:cubicBezTo>
                    <a:pt x="20530" y="279400"/>
                    <a:pt x="13423" y="276456"/>
                    <a:pt x="8183" y="271217"/>
                  </a:cubicBezTo>
                  <a:cubicBezTo>
                    <a:pt x="2944" y="265977"/>
                    <a:pt x="0" y="258870"/>
                    <a:pt x="0" y="251460"/>
                  </a:cubicBezTo>
                  <a:lnTo>
                    <a:pt x="0" y="27940"/>
                  </a:lnTo>
                  <a:cubicBezTo>
                    <a:pt x="0" y="12509"/>
                    <a:pt x="12509" y="0"/>
                    <a:pt x="27940" y="0"/>
                  </a:cubicBezTo>
                  <a:close/>
                </a:path>
              </a:pathLst>
            </a:custGeom>
            <a:solidFill>
              <a:srgbClr val="C9902A">
                <a:alpha val="31765"/>
              </a:srgbClr>
            </a:solidFill>
          </p:spPr>
          <p:txBody>
            <a:bodyPr/>
            <a:lstStyle/>
            <a:p>
              <a:endParaRPr lang="en-KE"/>
            </a:p>
          </p:txBody>
        </p:sp>
        <p:sp>
          <p:nvSpPr>
            <p:cNvPr id="43" name="TextBox 43"/>
            <p:cNvSpPr txBox="1"/>
            <p:nvPr/>
          </p:nvSpPr>
          <p:spPr>
            <a:xfrm>
              <a:off x="0" y="-38100"/>
              <a:ext cx="1993900" cy="317500"/>
            </a:xfrm>
            <a:prstGeom prst="rect">
              <a:avLst/>
            </a:prstGeom>
          </p:spPr>
          <p:txBody>
            <a:bodyPr lIns="50800" tIns="50800" rIns="50800" bIns="50800" rtlCol="0" anchor="ctr"/>
            <a:lstStyle/>
            <a:p>
              <a:pPr algn="l">
                <a:lnSpc>
                  <a:spcPts val="1679"/>
                </a:lnSpc>
              </a:pPr>
              <a:endParaRPr/>
            </a:p>
          </p:txBody>
        </p:sp>
      </p:grpSp>
      <p:sp>
        <p:nvSpPr>
          <p:cNvPr id="44" name="TextBox 44"/>
          <p:cNvSpPr txBox="1"/>
          <p:nvPr/>
        </p:nvSpPr>
        <p:spPr>
          <a:xfrm>
            <a:off x="11906250" y="7153275"/>
            <a:ext cx="190500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E2DDD5"/>
                </a:solidFill>
                <a:latin typeface="Open Sans"/>
                <a:ea typeface="Open Sans"/>
                <a:cs typeface="Open Sans"/>
                <a:sym typeface="Open Sans"/>
              </a:rPr>
              <a:t>Employment</a:t>
            </a:r>
          </a:p>
        </p:txBody>
      </p:sp>
      <p:grpSp>
        <p:nvGrpSpPr>
          <p:cNvPr id="45" name="Group 45"/>
          <p:cNvGrpSpPr/>
          <p:nvPr/>
        </p:nvGrpSpPr>
        <p:grpSpPr>
          <a:xfrm>
            <a:off x="13144500" y="6762750"/>
            <a:ext cx="1924050" cy="209550"/>
            <a:chOff x="0" y="0"/>
            <a:chExt cx="2565400" cy="279400"/>
          </a:xfrm>
        </p:grpSpPr>
        <p:sp>
          <p:nvSpPr>
            <p:cNvPr id="46" name="Freeform 46"/>
            <p:cNvSpPr/>
            <p:nvPr/>
          </p:nvSpPr>
          <p:spPr>
            <a:xfrm>
              <a:off x="0" y="0"/>
              <a:ext cx="2565400" cy="279400"/>
            </a:xfrm>
            <a:custGeom>
              <a:avLst/>
              <a:gdLst/>
              <a:ahLst/>
              <a:cxnLst/>
              <a:rect l="l" t="t" r="r" b="b"/>
              <a:pathLst>
                <a:path w="2565400" h="279400">
                  <a:moveTo>
                    <a:pt x="27940" y="0"/>
                  </a:moveTo>
                  <a:lnTo>
                    <a:pt x="2537460" y="0"/>
                  </a:lnTo>
                  <a:cubicBezTo>
                    <a:pt x="2552891" y="0"/>
                    <a:pt x="2565400" y="12509"/>
                    <a:pt x="2565400" y="27940"/>
                  </a:cubicBezTo>
                  <a:lnTo>
                    <a:pt x="2565400" y="251460"/>
                  </a:lnTo>
                  <a:cubicBezTo>
                    <a:pt x="2565400" y="266891"/>
                    <a:pt x="2552891" y="279400"/>
                    <a:pt x="2537460" y="279400"/>
                  </a:cubicBezTo>
                  <a:lnTo>
                    <a:pt x="27940" y="279400"/>
                  </a:lnTo>
                  <a:cubicBezTo>
                    <a:pt x="20530" y="279400"/>
                    <a:pt x="13423" y="276456"/>
                    <a:pt x="8183" y="271217"/>
                  </a:cubicBezTo>
                  <a:cubicBezTo>
                    <a:pt x="2944" y="265977"/>
                    <a:pt x="0" y="258870"/>
                    <a:pt x="0" y="251460"/>
                  </a:cubicBezTo>
                  <a:lnTo>
                    <a:pt x="0" y="27940"/>
                  </a:lnTo>
                  <a:cubicBezTo>
                    <a:pt x="0" y="12509"/>
                    <a:pt x="12509" y="0"/>
                    <a:pt x="27940" y="0"/>
                  </a:cubicBezTo>
                  <a:close/>
                </a:path>
              </a:pathLst>
            </a:custGeom>
            <a:solidFill>
              <a:srgbClr val="C9902A">
                <a:alpha val="43922"/>
              </a:srgbClr>
            </a:solidFill>
          </p:spPr>
          <p:txBody>
            <a:bodyPr/>
            <a:lstStyle/>
            <a:p>
              <a:endParaRPr lang="en-KE"/>
            </a:p>
          </p:txBody>
        </p:sp>
        <p:sp>
          <p:nvSpPr>
            <p:cNvPr id="47" name="TextBox 47"/>
            <p:cNvSpPr txBox="1"/>
            <p:nvPr/>
          </p:nvSpPr>
          <p:spPr>
            <a:xfrm>
              <a:off x="0" y="-38100"/>
              <a:ext cx="2565400" cy="317500"/>
            </a:xfrm>
            <a:prstGeom prst="rect">
              <a:avLst/>
            </a:prstGeom>
          </p:spPr>
          <p:txBody>
            <a:bodyPr lIns="50800" tIns="50800" rIns="50800" bIns="50800" rtlCol="0" anchor="ctr"/>
            <a:lstStyle/>
            <a:p>
              <a:pPr algn="l">
                <a:lnSpc>
                  <a:spcPts val="1679"/>
                </a:lnSpc>
              </a:pPr>
              <a:endParaRPr/>
            </a:p>
          </p:txBody>
        </p:sp>
      </p:grpSp>
      <p:sp>
        <p:nvSpPr>
          <p:cNvPr id="48" name="TextBox 48"/>
          <p:cNvSpPr txBox="1"/>
          <p:nvPr/>
        </p:nvSpPr>
        <p:spPr>
          <a:xfrm>
            <a:off x="11906250" y="6772275"/>
            <a:ext cx="190500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E2DDD5"/>
                </a:solidFill>
                <a:latin typeface="Open Sans"/>
                <a:ea typeface="Open Sans"/>
                <a:cs typeface="Open Sans"/>
                <a:sym typeface="Open Sans"/>
              </a:rPr>
              <a:t>Education</a:t>
            </a:r>
          </a:p>
        </p:txBody>
      </p:sp>
      <p:grpSp>
        <p:nvGrpSpPr>
          <p:cNvPr id="49" name="Group 49"/>
          <p:cNvGrpSpPr/>
          <p:nvPr/>
        </p:nvGrpSpPr>
        <p:grpSpPr>
          <a:xfrm>
            <a:off x="13144500" y="6381750"/>
            <a:ext cx="3000375" cy="209550"/>
            <a:chOff x="0" y="0"/>
            <a:chExt cx="4000500" cy="279400"/>
          </a:xfrm>
        </p:grpSpPr>
        <p:sp>
          <p:nvSpPr>
            <p:cNvPr id="50" name="Freeform 50"/>
            <p:cNvSpPr/>
            <p:nvPr/>
          </p:nvSpPr>
          <p:spPr>
            <a:xfrm>
              <a:off x="0" y="0"/>
              <a:ext cx="4000500" cy="279400"/>
            </a:xfrm>
            <a:custGeom>
              <a:avLst/>
              <a:gdLst/>
              <a:ahLst/>
              <a:cxnLst/>
              <a:rect l="l" t="t" r="r" b="b"/>
              <a:pathLst>
                <a:path w="4000500" h="279400">
                  <a:moveTo>
                    <a:pt x="27940" y="0"/>
                  </a:moveTo>
                  <a:lnTo>
                    <a:pt x="3972560" y="0"/>
                  </a:lnTo>
                  <a:cubicBezTo>
                    <a:pt x="3979970" y="0"/>
                    <a:pt x="3987077" y="2944"/>
                    <a:pt x="3992316" y="8183"/>
                  </a:cubicBezTo>
                  <a:cubicBezTo>
                    <a:pt x="3997556" y="13423"/>
                    <a:pt x="4000500" y="20530"/>
                    <a:pt x="4000500" y="27940"/>
                  </a:cubicBezTo>
                  <a:lnTo>
                    <a:pt x="4000500" y="251460"/>
                  </a:lnTo>
                  <a:cubicBezTo>
                    <a:pt x="4000500" y="258870"/>
                    <a:pt x="3997556" y="265977"/>
                    <a:pt x="3992316" y="271217"/>
                  </a:cubicBezTo>
                  <a:cubicBezTo>
                    <a:pt x="3987077" y="276456"/>
                    <a:pt x="3979970" y="279400"/>
                    <a:pt x="3972560" y="279400"/>
                  </a:cubicBezTo>
                  <a:lnTo>
                    <a:pt x="27940" y="279400"/>
                  </a:lnTo>
                  <a:cubicBezTo>
                    <a:pt x="20530" y="279400"/>
                    <a:pt x="13423" y="276456"/>
                    <a:pt x="8183" y="271217"/>
                  </a:cubicBezTo>
                  <a:cubicBezTo>
                    <a:pt x="2944" y="265977"/>
                    <a:pt x="0" y="258870"/>
                    <a:pt x="0" y="251460"/>
                  </a:cubicBezTo>
                  <a:lnTo>
                    <a:pt x="0" y="27940"/>
                  </a:lnTo>
                  <a:cubicBezTo>
                    <a:pt x="0" y="12509"/>
                    <a:pt x="12509" y="0"/>
                    <a:pt x="27940" y="0"/>
                  </a:cubicBezTo>
                  <a:close/>
                </a:path>
              </a:pathLst>
            </a:custGeom>
            <a:solidFill>
              <a:srgbClr val="C9902A">
                <a:alpha val="55686"/>
              </a:srgbClr>
            </a:solidFill>
          </p:spPr>
          <p:txBody>
            <a:bodyPr/>
            <a:lstStyle/>
            <a:p>
              <a:endParaRPr lang="en-KE"/>
            </a:p>
          </p:txBody>
        </p:sp>
        <p:sp>
          <p:nvSpPr>
            <p:cNvPr id="51" name="TextBox 51"/>
            <p:cNvSpPr txBox="1"/>
            <p:nvPr/>
          </p:nvSpPr>
          <p:spPr>
            <a:xfrm>
              <a:off x="0" y="-38100"/>
              <a:ext cx="4000500" cy="317500"/>
            </a:xfrm>
            <a:prstGeom prst="rect">
              <a:avLst/>
            </a:prstGeom>
          </p:spPr>
          <p:txBody>
            <a:bodyPr lIns="50800" tIns="50800" rIns="50800" bIns="50800" rtlCol="0" anchor="ctr"/>
            <a:lstStyle/>
            <a:p>
              <a:pPr algn="l">
                <a:lnSpc>
                  <a:spcPts val="1679"/>
                </a:lnSpc>
              </a:pPr>
              <a:endParaRPr/>
            </a:p>
          </p:txBody>
        </p:sp>
      </p:grpSp>
      <p:sp>
        <p:nvSpPr>
          <p:cNvPr id="52" name="TextBox 52"/>
          <p:cNvSpPr txBox="1"/>
          <p:nvPr/>
        </p:nvSpPr>
        <p:spPr>
          <a:xfrm>
            <a:off x="11906250" y="6391275"/>
            <a:ext cx="190500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E2DDD5"/>
                </a:solidFill>
                <a:latin typeface="Open Sans"/>
                <a:ea typeface="Open Sans"/>
                <a:cs typeface="Open Sans"/>
                <a:sym typeface="Open Sans"/>
              </a:rPr>
              <a:t>EXT_SOURCE_1</a:t>
            </a:r>
          </a:p>
        </p:txBody>
      </p:sp>
      <p:grpSp>
        <p:nvGrpSpPr>
          <p:cNvPr id="53" name="Group 53"/>
          <p:cNvGrpSpPr/>
          <p:nvPr/>
        </p:nvGrpSpPr>
        <p:grpSpPr>
          <a:xfrm>
            <a:off x="13144500" y="6000750"/>
            <a:ext cx="3638550" cy="209550"/>
            <a:chOff x="0" y="0"/>
            <a:chExt cx="4851400" cy="279400"/>
          </a:xfrm>
        </p:grpSpPr>
        <p:sp>
          <p:nvSpPr>
            <p:cNvPr id="54" name="Freeform 54"/>
            <p:cNvSpPr/>
            <p:nvPr/>
          </p:nvSpPr>
          <p:spPr>
            <a:xfrm>
              <a:off x="0" y="0"/>
              <a:ext cx="4851400" cy="279400"/>
            </a:xfrm>
            <a:custGeom>
              <a:avLst/>
              <a:gdLst/>
              <a:ahLst/>
              <a:cxnLst/>
              <a:rect l="l" t="t" r="r" b="b"/>
              <a:pathLst>
                <a:path w="4851400" h="279400">
                  <a:moveTo>
                    <a:pt x="27940" y="0"/>
                  </a:moveTo>
                  <a:lnTo>
                    <a:pt x="4823460" y="0"/>
                  </a:lnTo>
                  <a:cubicBezTo>
                    <a:pt x="4830870" y="0"/>
                    <a:pt x="4837977" y="2944"/>
                    <a:pt x="4843216" y="8183"/>
                  </a:cubicBezTo>
                  <a:cubicBezTo>
                    <a:pt x="4848456" y="13423"/>
                    <a:pt x="4851400" y="20530"/>
                    <a:pt x="4851400" y="27940"/>
                  </a:cubicBezTo>
                  <a:lnTo>
                    <a:pt x="4851400" y="251460"/>
                  </a:lnTo>
                  <a:cubicBezTo>
                    <a:pt x="4851400" y="258870"/>
                    <a:pt x="4848456" y="265977"/>
                    <a:pt x="4843216" y="271217"/>
                  </a:cubicBezTo>
                  <a:cubicBezTo>
                    <a:pt x="4837977" y="276456"/>
                    <a:pt x="4830870" y="279400"/>
                    <a:pt x="4823460" y="279400"/>
                  </a:cubicBezTo>
                  <a:lnTo>
                    <a:pt x="27940" y="279400"/>
                  </a:lnTo>
                  <a:cubicBezTo>
                    <a:pt x="20530" y="279400"/>
                    <a:pt x="13423" y="276456"/>
                    <a:pt x="8183" y="271217"/>
                  </a:cubicBezTo>
                  <a:cubicBezTo>
                    <a:pt x="2944" y="265977"/>
                    <a:pt x="0" y="258870"/>
                    <a:pt x="0" y="251460"/>
                  </a:cubicBezTo>
                  <a:lnTo>
                    <a:pt x="0" y="27940"/>
                  </a:lnTo>
                  <a:cubicBezTo>
                    <a:pt x="0" y="12509"/>
                    <a:pt x="12509" y="0"/>
                    <a:pt x="27940" y="0"/>
                  </a:cubicBezTo>
                  <a:close/>
                </a:path>
              </a:pathLst>
            </a:custGeom>
            <a:solidFill>
              <a:srgbClr val="C9902A">
                <a:alpha val="67843"/>
              </a:srgbClr>
            </a:solidFill>
          </p:spPr>
          <p:txBody>
            <a:bodyPr/>
            <a:lstStyle/>
            <a:p>
              <a:endParaRPr lang="en-KE"/>
            </a:p>
          </p:txBody>
        </p:sp>
        <p:sp>
          <p:nvSpPr>
            <p:cNvPr id="55" name="TextBox 55"/>
            <p:cNvSpPr txBox="1"/>
            <p:nvPr/>
          </p:nvSpPr>
          <p:spPr>
            <a:xfrm>
              <a:off x="0" y="-38100"/>
              <a:ext cx="4851400" cy="317500"/>
            </a:xfrm>
            <a:prstGeom prst="rect">
              <a:avLst/>
            </a:prstGeom>
          </p:spPr>
          <p:txBody>
            <a:bodyPr lIns="50800" tIns="50800" rIns="50800" bIns="50800" rtlCol="0" anchor="ctr"/>
            <a:lstStyle/>
            <a:p>
              <a:pPr algn="l">
                <a:lnSpc>
                  <a:spcPts val="1679"/>
                </a:lnSpc>
              </a:pPr>
              <a:endParaRPr/>
            </a:p>
          </p:txBody>
        </p:sp>
      </p:grpSp>
      <p:sp>
        <p:nvSpPr>
          <p:cNvPr id="56" name="TextBox 56"/>
          <p:cNvSpPr txBox="1"/>
          <p:nvPr/>
        </p:nvSpPr>
        <p:spPr>
          <a:xfrm>
            <a:off x="11906250" y="6010275"/>
            <a:ext cx="190500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E2DDD5"/>
                </a:solidFill>
                <a:latin typeface="Open Sans"/>
                <a:ea typeface="Open Sans"/>
                <a:cs typeface="Open Sans"/>
                <a:sym typeface="Open Sans"/>
              </a:rPr>
              <a:t>EXT_SOURCE_3</a:t>
            </a:r>
          </a:p>
        </p:txBody>
      </p:sp>
      <p:grpSp>
        <p:nvGrpSpPr>
          <p:cNvPr id="57" name="Group 57"/>
          <p:cNvGrpSpPr/>
          <p:nvPr/>
        </p:nvGrpSpPr>
        <p:grpSpPr>
          <a:xfrm>
            <a:off x="13144500" y="5619750"/>
            <a:ext cx="4286250" cy="209550"/>
            <a:chOff x="0" y="0"/>
            <a:chExt cx="5715000" cy="279400"/>
          </a:xfrm>
        </p:grpSpPr>
        <p:sp>
          <p:nvSpPr>
            <p:cNvPr id="58" name="Freeform 58"/>
            <p:cNvSpPr/>
            <p:nvPr/>
          </p:nvSpPr>
          <p:spPr>
            <a:xfrm>
              <a:off x="0" y="0"/>
              <a:ext cx="5715000" cy="279400"/>
            </a:xfrm>
            <a:custGeom>
              <a:avLst/>
              <a:gdLst/>
              <a:ahLst/>
              <a:cxnLst/>
              <a:rect l="l" t="t" r="r" b="b"/>
              <a:pathLst>
                <a:path w="5715000" h="279400">
                  <a:moveTo>
                    <a:pt x="27940" y="0"/>
                  </a:moveTo>
                  <a:lnTo>
                    <a:pt x="5687060" y="0"/>
                  </a:lnTo>
                  <a:cubicBezTo>
                    <a:pt x="5694470" y="0"/>
                    <a:pt x="5701577" y="2944"/>
                    <a:pt x="5706816" y="8183"/>
                  </a:cubicBezTo>
                  <a:cubicBezTo>
                    <a:pt x="5712056" y="13423"/>
                    <a:pt x="5715000" y="20530"/>
                    <a:pt x="5715000" y="27940"/>
                  </a:cubicBezTo>
                  <a:lnTo>
                    <a:pt x="5715000" y="251460"/>
                  </a:lnTo>
                  <a:cubicBezTo>
                    <a:pt x="5715000" y="258870"/>
                    <a:pt x="5712056" y="265977"/>
                    <a:pt x="5706816" y="271217"/>
                  </a:cubicBezTo>
                  <a:cubicBezTo>
                    <a:pt x="5701577" y="276456"/>
                    <a:pt x="5694470" y="279400"/>
                    <a:pt x="5687060" y="279400"/>
                  </a:cubicBezTo>
                  <a:lnTo>
                    <a:pt x="27940" y="279400"/>
                  </a:lnTo>
                  <a:cubicBezTo>
                    <a:pt x="20530" y="279400"/>
                    <a:pt x="13423" y="276456"/>
                    <a:pt x="8183" y="271217"/>
                  </a:cubicBezTo>
                  <a:cubicBezTo>
                    <a:pt x="2944" y="265977"/>
                    <a:pt x="0" y="258870"/>
                    <a:pt x="0" y="251460"/>
                  </a:cubicBezTo>
                  <a:lnTo>
                    <a:pt x="0" y="27940"/>
                  </a:lnTo>
                  <a:cubicBezTo>
                    <a:pt x="0" y="12509"/>
                    <a:pt x="12509" y="0"/>
                    <a:pt x="27940" y="0"/>
                  </a:cubicBezTo>
                  <a:close/>
                </a:path>
              </a:pathLst>
            </a:custGeom>
            <a:solidFill>
              <a:srgbClr val="C9902A">
                <a:alpha val="80000"/>
              </a:srgbClr>
            </a:solidFill>
          </p:spPr>
          <p:txBody>
            <a:bodyPr/>
            <a:lstStyle/>
            <a:p>
              <a:endParaRPr lang="en-KE"/>
            </a:p>
          </p:txBody>
        </p:sp>
        <p:sp>
          <p:nvSpPr>
            <p:cNvPr id="59" name="TextBox 59"/>
            <p:cNvSpPr txBox="1"/>
            <p:nvPr/>
          </p:nvSpPr>
          <p:spPr>
            <a:xfrm>
              <a:off x="0" y="-38100"/>
              <a:ext cx="5715000" cy="317500"/>
            </a:xfrm>
            <a:prstGeom prst="rect">
              <a:avLst/>
            </a:prstGeom>
          </p:spPr>
          <p:txBody>
            <a:bodyPr lIns="50800" tIns="50800" rIns="50800" bIns="50800" rtlCol="0" anchor="ctr"/>
            <a:lstStyle/>
            <a:p>
              <a:pPr algn="l">
                <a:lnSpc>
                  <a:spcPts val="1679"/>
                </a:lnSpc>
              </a:pPr>
              <a:endParaRPr/>
            </a:p>
          </p:txBody>
        </p:sp>
      </p:grpSp>
      <p:sp>
        <p:nvSpPr>
          <p:cNvPr id="60" name="TextBox 60"/>
          <p:cNvSpPr txBox="1"/>
          <p:nvPr/>
        </p:nvSpPr>
        <p:spPr>
          <a:xfrm>
            <a:off x="11906250" y="5629275"/>
            <a:ext cx="1905000" cy="165100"/>
          </a:xfrm>
          <a:prstGeom prst="rect">
            <a:avLst/>
          </a:prstGeom>
        </p:spPr>
        <p:txBody>
          <a:bodyPr lIns="0" tIns="0" rIns="0" bIns="0" rtlCol="0" anchor="t">
            <a:spAutoFit/>
          </a:bodyPr>
          <a:lstStyle/>
          <a:p>
            <a:pPr marL="0" lvl="0" indent="0" algn="l">
              <a:lnSpc>
                <a:spcPts val="1399"/>
              </a:lnSpc>
              <a:spcBef>
                <a:spcPct val="0"/>
              </a:spcBef>
            </a:pPr>
            <a:r>
              <a:rPr lang="en-US" sz="999" u="none" strike="noStrike">
                <a:solidFill>
                  <a:srgbClr val="E2DDD5"/>
                </a:solidFill>
                <a:latin typeface="Open Sans"/>
                <a:ea typeface="Open Sans"/>
                <a:cs typeface="Open Sans"/>
                <a:sym typeface="Open Sans"/>
              </a:rPr>
              <a:t>EXT_SOURCE_2</a:t>
            </a:r>
          </a:p>
        </p:txBody>
      </p:sp>
      <p:sp>
        <p:nvSpPr>
          <p:cNvPr id="61" name="TextBox 61"/>
          <p:cNvSpPr txBox="1"/>
          <p:nvPr/>
        </p:nvSpPr>
        <p:spPr>
          <a:xfrm>
            <a:off x="12144375" y="5314950"/>
            <a:ext cx="3810000" cy="181610"/>
          </a:xfrm>
          <a:prstGeom prst="rect">
            <a:avLst/>
          </a:prstGeom>
        </p:spPr>
        <p:txBody>
          <a:bodyPr lIns="0" tIns="0" rIns="0" bIns="0" rtlCol="0" anchor="t">
            <a:spAutoFit/>
          </a:bodyPr>
          <a:lstStyle/>
          <a:p>
            <a:pPr marL="0" lvl="0" indent="0" algn="ctr">
              <a:lnSpc>
                <a:spcPts val="1540"/>
              </a:lnSpc>
              <a:spcBef>
                <a:spcPct val="0"/>
              </a:spcBef>
            </a:pPr>
            <a:r>
              <a:rPr lang="en-US" sz="1100" u="none" strike="noStrike">
                <a:solidFill>
                  <a:srgbClr val="C9902A"/>
                </a:solidFill>
                <a:latin typeface="Open Sans"/>
                <a:ea typeface="Open Sans"/>
                <a:cs typeface="Open Sans"/>
                <a:sym typeface="Open Sans"/>
              </a:rPr>
              <a:t>FEATURE IMPORTANCE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Every Rejection Can Now Be Explained — Feature by Feature</a:t>
            </a:r>
          </a:p>
        </p:txBody>
      </p:sp>
      <p:sp>
        <p:nvSpPr>
          <p:cNvPr id="3" name="TextBox 3"/>
          <p:cNvSpPr txBox="1"/>
          <p:nvPr/>
        </p:nvSpPr>
        <p:spPr>
          <a:xfrm>
            <a:off x="914400" y="1590675"/>
            <a:ext cx="133350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The model starts from the average portfolio default rate (base value ~8%). Each feature pushes the prediction up or down. The final position is the individual's predicted default probability.</a:t>
            </a:r>
          </a:p>
        </p:txBody>
      </p:sp>
      <p:grpSp>
        <p:nvGrpSpPr>
          <p:cNvPr id="4" name="Group 4"/>
          <p:cNvGrpSpPr/>
          <p:nvPr/>
        </p:nvGrpSpPr>
        <p:grpSpPr>
          <a:xfrm>
            <a:off x="1333500" y="2857500"/>
            <a:ext cx="2667000" cy="1905000"/>
            <a:chOff x="0" y="0"/>
            <a:chExt cx="3556000" cy="2540000"/>
          </a:xfrm>
        </p:grpSpPr>
        <p:sp>
          <p:nvSpPr>
            <p:cNvPr id="5" name="Freeform 5"/>
            <p:cNvSpPr/>
            <p:nvPr/>
          </p:nvSpPr>
          <p:spPr>
            <a:xfrm>
              <a:off x="0" y="0"/>
              <a:ext cx="3556000" cy="2540000"/>
            </a:xfrm>
            <a:custGeom>
              <a:avLst/>
              <a:gdLst/>
              <a:ahLst/>
              <a:cxnLst/>
              <a:rect l="l" t="t" r="r" b="b"/>
              <a:pathLst>
                <a:path w="3556000" h="2540000">
                  <a:moveTo>
                    <a:pt x="254000" y="0"/>
                  </a:moveTo>
                  <a:lnTo>
                    <a:pt x="3302000" y="0"/>
                  </a:lnTo>
                  <a:cubicBezTo>
                    <a:pt x="3442280" y="0"/>
                    <a:pt x="3556000" y="113720"/>
                    <a:pt x="3556000" y="254000"/>
                  </a:cubicBezTo>
                  <a:lnTo>
                    <a:pt x="3556000" y="2286000"/>
                  </a:lnTo>
                  <a:cubicBezTo>
                    <a:pt x="3556000" y="2426280"/>
                    <a:pt x="3442280" y="2540000"/>
                    <a:pt x="3302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p:spPr>
          <p:txBody>
            <a:bodyPr/>
            <a:lstStyle/>
            <a:p>
              <a:endParaRPr lang="en-KE"/>
            </a:p>
          </p:txBody>
        </p:sp>
        <p:sp>
          <p:nvSpPr>
            <p:cNvPr id="6" name="TextBox 6"/>
            <p:cNvSpPr txBox="1"/>
            <p:nvPr/>
          </p:nvSpPr>
          <p:spPr>
            <a:xfrm>
              <a:off x="0" y="-38100"/>
              <a:ext cx="3556000" cy="2578100"/>
            </a:xfrm>
            <a:prstGeom prst="rect">
              <a:avLst/>
            </a:prstGeom>
          </p:spPr>
          <p:txBody>
            <a:bodyPr lIns="50800" tIns="50800" rIns="50800" bIns="50800" rtlCol="0" anchor="ctr"/>
            <a:lstStyle/>
            <a:p>
              <a:pPr algn="l">
                <a:lnSpc>
                  <a:spcPts val="1679"/>
                </a:lnSpc>
              </a:pPr>
              <a:endParaRPr/>
            </a:p>
          </p:txBody>
        </p:sp>
      </p:grpSp>
      <p:sp>
        <p:nvSpPr>
          <p:cNvPr id="7" name="TextBox 7"/>
          <p:cNvSpPr txBox="1"/>
          <p:nvPr/>
        </p:nvSpPr>
        <p:spPr>
          <a:xfrm>
            <a:off x="1524000" y="3124200"/>
            <a:ext cx="22860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E2DDD5"/>
                </a:solidFill>
                <a:latin typeface="Open Sans"/>
                <a:ea typeface="Open Sans"/>
                <a:cs typeface="Open Sans"/>
                <a:sym typeface="Open Sans"/>
              </a:rPr>
              <a:t>BASE RISK</a:t>
            </a:r>
          </a:p>
        </p:txBody>
      </p:sp>
      <p:sp>
        <p:nvSpPr>
          <p:cNvPr id="8" name="TextBox 8"/>
          <p:cNvSpPr txBox="1"/>
          <p:nvPr/>
        </p:nvSpPr>
        <p:spPr>
          <a:xfrm>
            <a:off x="1714500" y="3352800"/>
            <a:ext cx="1905000" cy="646392"/>
          </a:xfrm>
          <a:prstGeom prst="rect">
            <a:avLst/>
          </a:prstGeom>
        </p:spPr>
        <p:txBody>
          <a:bodyPr lIns="0" tIns="0" rIns="0" bIns="0" rtlCol="0" anchor="t">
            <a:spAutoFit/>
          </a:bodyPr>
          <a:lstStyle/>
          <a:p>
            <a:pPr marL="0" lvl="0" indent="0" algn="ctr">
              <a:lnSpc>
                <a:spcPts val="5322"/>
              </a:lnSpc>
              <a:spcBef>
                <a:spcPct val="0"/>
              </a:spcBef>
            </a:pPr>
            <a:r>
              <a:rPr lang="en-US" sz="3801" u="none" strike="noStrike">
                <a:solidFill>
                  <a:srgbClr val="FFFFFF"/>
                </a:solidFill>
                <a:latin typeface="IBM Plex Mono"/>
                <a:ea typeface="IBM Plex Mono"/>
                <a:cs typeface="IBM Plex Mono"/>
                <a:sym typeface="IBM Plex Mono"/>
              </a:rPr>
              <a:t>8%</a:t>
            </a:r>
          </a:p>
        </p:txBody>
      </p:sp>
      <p:sp>
        <p:nvSpPr>
          <p:cNvPr id="9" name="TextBox 9"/>
          <p:cNvSpPr txBox="1"/>
          <p:nvPr/>
        </p:nvSpPr>
        <p:spPr>
          <a:xfrm>
            <a:off x="1524000" y="4067175"/>
            <a:ext cx="2286000" cy="40767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E2DDD5"/>
                </a:solidFill>
                <a:latin typeface="Open Sans"/>
                <a:ea typeface="Open Sans"/>
                <a:cs typeface="Open Sans"/>
                <a:sym typeface="Open Sans"/>
              </a:rPr>
              <a:t>Average portfolio</a:t>
            </a:r>
          </a:p>
          <a:p>
            <a:pPr marL="0" lvl="0" indent="0" algn="ctr">
              <a:lnSpc>
                <a:spcPts val="1679"/>
              </a:lnSpc>
              <a:spcBef>
                <a:spcPct val="0"/>
              </a:spcBef>
            </a:pPr>
            <a:r>
              <a:rPr lang="en-US" sz="1200" u="none" strike="noStrike">
                <a:solidFill>
                  <a:srgbClr val="E2DDD5"/>
                </a:solidFill>
                <a:latin typeface="Open Sans"/>
                <a:ea typeface="Open Sans"/>
                <a:cs typeface="Open Sans"/>
                <a:sym typeface="Open Sans"/>
              </a:rPr>
              <a:t>default rate</a:t>
            </a:r>
          </a:p>
        </p:txBody>
      </p:sp>
      <p:sp>
        <p:nvSpPr>
          <p:cNvPr id="10" name="AutoShape 10"/>
          <p:cNvSpPr/>
          <p:nvPr/>
        </p:nvSpPr>
        <p:spPr>
          <a:xfrm>
            <a:off x="4095750" y="3810000"/>
            <a:ext cx="381000" cy="0"/>
          </a:xfrm>
          <a:prstGeom prst="line">
            <a:avLst/>
          </a:prstGeom>
          <a:ln w="28575" cap="flat">
            <a:solidFill>
              <a:srgbClr val="E74C3C"/>
            </a:solidFill>
            <a:prstDash val="solid"/>
            <a:headEnd type="none" w="sm" len="sm"/>
            <a:tailEnd type="triangle" w="lg" len="med"/>
          </a:ln>
        </p:spPr>
        <p:txBody>
          <a:bodyPr/>
          <a:lstStyle/>
          <a:p>
            <a:endParaRPr lang="en-KE"/>
          </a:p>
        </p:txBody>
      </p:sp>
      <p:grpSp>
        <p:nvGrpSpPr>
          <p:cNvPr id="11" name="Group 11"/>
          <p:cNvGrpSpPr/>
          <p:nvPr/>
        </p:nvGrpSpPr>
        <p:grpSpPr>
          <a:xfrm>
            <a:off x="4572000" y="2857500"/>
            <a:ext cx="2667000" cy="1905000"/>
            <a:chOff x="0" y="0"/>
            <a:chExt cx="3556000" cy="2540000"/>
          </a:xfrm>
        </p:grpSpPr>
        <p:sp>
          <p:nvSpPr>
            <p:cNvPr id="12" name="Freeform 12"/>
            <p:cNvSpPr/>
            <p:nvPr/>
          </p:nvSpPr>
          <p:spPr>
            <a:xfrm>
              <a:off x="0" y="0"/>
              <a:ext cx="3556000" cy="2540000"/>
            </a:xfrm>
            <a:custGeom>
              <a:avLst/>
              <a:gdLst/>
              <a:ahLst/>
              <a:cxnLst/>
              <a:rect l="l" t="t" r="r" b="b"/>
              <a:pathLst>
                <a:path w="3556000" h="2540000">
                  <a:moveTo>
                    <a:pt x="254000" y="0"/>
                  </a:moveTo>
                  <a:lnTo>
                    <a:pt x="3302000" y="0"/>
                  </a:lnTo>
                  <a:cubicBezTo>
                    <a:pt x="3442280" y="0"/>
                    <a:pt x="3556000" y="113720"/>
                    <a:pt x="3556000" y="254000"/>
                  </a:cubicBezTo>
                  <a:lnTo>
                    <a:pt x="3556000" y="2286000"/>
                  </a:lnTo>
                  <a:cubicBezTo>
                    <a:pt x="3556000" y="2426280"/>
                    <a:pt x="3442280" y="2540000"/>
                    <a:pt x="3302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a:ln w="19050" cap="sq">
              <a:solidFill>
                <a:srgbClr val="E74C3C"/>
              </a:solidFill>
              <a:prstDash val="solid"/>
              <a:miter/>
            </a:ln>
          </p:spPr>
          <p:txBody>
            <a:bodyPr/>
            <a:lstStyle/>
            <a:p>
              <a:endParaRPr lang="en-KE"/>
            </a:p>
          </p:txBody>
        </p:sp>
        <p:sp>
          <p:nvSpPr>
            <p:cNvPr id="13" name="TextBox 13"/>
            <p:cNvSpPr txBox="1"/>
            <p:nvPr/>
          </p:nvSpPr>
          <p:spPr>
            <a:xfrm>
              <a:off x="0" y="-38100"/>
              <a:ext cx="3556000" cy="2578100"/>
            </a:xfrm>
            <a:prstGeom prst="rect">
              <a:avLst/>
            </a:prstGeom>
          </p:spPr>
          <p:txBody>
            <a:bodyPr lIns="50800" tIns="50800" rIns="50800" bIns="50800" rtlCol="0" anchor="ctr"/>
            <a:lstStyle/>
            <a:p>
              <a:pPr algn="l">
                <a:lnSpc>
                  <a:spcPts val="1679"/>
                </a:lnSpc>
              </a:pPr>
              <a:endParaRPr/>
            </a:p>
          </p:txBody>
        </p:sp>
      </p:grpSp>
      <p:sp>
        <p:nvSpPr>
          <p:cNvPr id="14" name="TextBox 14"/>
          <p:cNvSpPr txBox="1"/>
          <p:nvPr/>
        </p:nvSpPr>
        <p:spPr>
          <a:xfrm>
            <a:off x="4762500" y="3038475"/>
            <a:ext cx="2286000" cy="181610"/>
          </a:xfrm>
          <a:prstGeom prst="rect">
            <a:avLst/>
          </a:prstGeom>
        </p:spPr>
        <p:txBody>
          <a:bodyPr lIns="0" tIns="0" rIns="0" bIns="0" rtlCol="0" anchor="t">
            <a:spAutoFit/>
          </a:bodyPr>
          <a:lstStyle/>
          <a:p>
            <a:pPr marL="0" lvl="0" indent="0" algn="ctr">
              <a:lnSpc>
                <a:spcPts val="1540"/>
              </a:lnSpc>
              <a:spcBef>
                <a:spcPct val="0"/>
              </a:spcBef>
            </a:pPr>
            <a:r>
              <a:rPr lang="en-US" sz="1100" u="none" strike="noStrike">
                <a:solidFill>
                  <a:srgbClr val="E74C3C"/>
                </a:solidFill>
                <a:latin typeface="Open Sans"/>
                <a:ea typeface="Open Sans"/>
                <a:cs typeface="Open Sans"/>
                <a:sym typeface="Open Sans"/>
              </a:rPr>
              <a:t>RISK FACTOR</a:t>
            </a:r>
          </a:p>
        </p:txBody>
      </p:sp>
      <p:sp>
        <p:nvSpPr>
          <p:cNvPr id="15" name="TextBox 15"/>
          <p:cNvSpPr txBox="1"/>
          <p:nvPr/>
        </p:nvSpPr>
        <p:spPr>
          <a:xfrm>
            <a:off x="4762500" y="3305175"/>
            <a:ext cx="2286000" cy="48831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Low</a:t>
            </a:r>
          </a:p>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EXT_SOURCE_2</a:t>
            </a:r>
          </a:p>
        </p:txBody>
      </p:sp>
      <p:sp>
        <p:nvSpPr>
          <p:cNvPr id="16" name="TextBox 16"/>
          <p:cNvSpPr txBox="1"/>
          <p:nvPr/>
        </p:nvSpPr>
        <p:spPr>
          <a:xfrm>
            <a:off x="4762500" y="4171950"/>
            <a:ext cx="22860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E74C3C"/>
                </a:solidFill>
                <a:latin typeface="Open Sans"/>
                <a:ea typeface="Open Sans"/>
                <a:cs typeface="Open Sans"/>
                <a:sym typeface="Open Sans"/>
              </a:rPr>
              <a:t>Pushes risk UP</a:t>
            </a:r>
          </a:p>
        </p:txBody>
      </p:sp>
      <p:sp>
        <p:nvSpPr>
          <p:cNvPr id="17" name="AutoShape 17"/>
          <p:cNvSpPr/>
          <p:nvPr/>
        </p:nvSpPr>
        <p:spPr>
          <a:xfrm>
            <a:off x="7334250" y="3810000"/>
            <a:ext cx="381000" cy="0"/>
          </a:xfrm>
          <a:prstGeom prst="line">
            <a:avLst/>
          </a:prstGeom>
          <a:ln w="28575" cap="flat">
            <a:solidFill>
              <a:srgbClr val="E74C3C"/>
            </a:solidFill>
            <a:prstDash val="solid"/>
            <a:headEnd type="none" w="sm" len="sm"/>
            <a:tailEnd type="triangle" w="lg" len="med"/>
          </a:ln>
        </p:spPr>
        <p:txBody>
          <a:bodyPr/>
          <a:lstStyle/>
          <a:p>
            <a:endParaRPr lang="en-KE"/>
          </a:p>
        </p:txBody>
      </p:sp>
      <p:grpSp>
        <p:nvGrpSpPr>
          <p:cNvPr id="18" name="Group 18"/>
          <p:cNvGrpSpPr/>
          <p:nvPr/>
        </p:nvGrpSpPr>
        <p:grpSpPr>
          <a:xfrm>
            <a:off x="7810500" y="2857500"/>
            <a:ext cx="2667000" cy="1905000"/>
            <a:chOff x="0" y="0"/>
            <a:chExt cx="3556000" cy="2540000"/>
          </a:xfrm>
        </p:grpSpPr>
        <p:sp>
          <p:nvSpPr>
            <p:cNvPr id="19" name="Freeform 19"/>
            <p:cNvSpPr/>
            <p:nvPr/>
          </p:nvSpPr>
          <p:spPr>
            <a:xfrm>
              <a:off x="0" y="0"/>
              <a:ext cx="3556000" cy="2540000"/>
            </a:xfrm>
            <a:custGeom>
              <a:avLst/>
              <a:gdLst/>
              <a:ahLst/>
              <a:cxnLst/>
              <a:rect l="l" t="t" r="r" b="b"/>
              <a:pathLst>
                <a:path w="3556000" h="2540000">
                  <a:moveTo>
                    <a:pt x="254000" y="0"/>
                  </a:moveTo>
                  <a:lnTo>
                    <a:pt x="3302000" y="0"/>
                  </a:lnTo>
                  <a:cubicBezTo>
                    <a:pt x="3442280" y="0"/>
                    <a:pt x="3556000" y="113720"/>
                    <a:pt x="3556000" y="254000"/>
                  </a:cubicBezTo>
                  <a:lnTo>
                    <a:pt x="3556000" y="2286000"/>
                  </a:lnTo>
                  <a:cubicBezTo>
                    <a:pt x="3556000" y="2426280"/>
                    <a:pt x="3442280" y="2540000"/>
                    <a:pt x="3302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a:ln w="19050" cap="sq">
              <a:solidFill>
                <a:srgbClr val="E74C3C"/>
              </a:solidFill>
              <a:prstDash val="solid"/>
              <a:miter/>
            </a:ln>
          </p:spPr>
          <p:txBody>
            <a:bodyPr/>
            <a:lstStyle/>
            <a:p>
              <a:endParaRPr lang="en-KE"/>
            </a:p>
          </p:txBody>
        </p:sp>
        <p:sp>
          <p:nvSpPr>
            <p:cNvPr id="20" name="TextBox 20"/>
            <p:cNvSpPr txBox="1"/>
            <p:nvPr/>
          </p:nvSpPr>
          <p:spPr>
            <a:xfrm>
              <a:off x="0" y="-38100"/>
              <a:ext cx="3556000" cy="2578100"/>
            </a:xfrm>
            <a:prstGeom prst="rect">
              <a:avLst/>
            </a:prstGeom>
          </p:spPr>
          <p:txBody>
            <a:bodyPr lIns="50800" tIns="50800" rIns="50800" bIns="50800" rtlCol="0" anchor="ctr"/>
            <a:lstStyle/>
            <a:p>
              <a:pPr algn="l">
                <a:lnSpc>
                  <a:spcPts val="1679"/>
                </a:lnSpc>
              </a:pPr>
              <a:endParaRPr/>
            </a:p>
          </p:txBody>
        </p:sp>
      </p:grpSp>
      <p:sp>
        <p:nvSpPr>
          <p:cNvPr id="21" name="TextBox 21"/>
          <p:cNvSpPr txBox="1"/>
          <p:nvPr/>
        </p:nvSpPr>
        <p:spPr>
          <a:xfrm>
            <a:off x="8001000" y="3038475"/>
            <a:ext cx="2286000" cy="181610"/>
          </a:xfrm>
          <a:prstGeom prst="rect">
            <a:avLst/>
          </a:prstGeom>
        </p:spPr>
        <p:txBody>
          <a:bodyPr lIns="0" tIns="0" rIns="0" bIns="0" rtlCol="0" anchor="t">
            <a:spAutoFit/>
          </a:bodyPr>
          <a:lstStyle/>
          <a:p>
            <a:pPr marL="0" lvl="0" indent="0" algn="ctr">
              <a:lnSpc>
                <a:spcPts val="1540"/>
              </a:lnSpc>
              <a:spcBef>
                <a:spcPct val="0"/>
              </a:spcBef>
            </a:pPr>
            <a:r>
              <a:rPr lang="en-US" sz="1100" u="none" strike="noStrike">
                <a:solidFill>
                  <a:srgbClr val="E74C3C"/>
                </a:solidFill>
                <a:latin typeface="Open Sans"/>
                <a:ea typeface="Open Sans"/>
                <a:cs typeface="Open Sans"/>
                <a:sym typeface="Open Sans"/>
              </a:rPr>
              <a:t>RISK FACTOR</a:t>
            </a:r>
          </a:p>
        </p:txBody>
      </p:sp>
      <p:sp>
        <p:nvSpPr>
          <p:cNvPr id="22" name="TextBox 22"/>
          <p:cNvSpPr txBox="1"/>
          <p:nvPr/>
        </p:nvSpPr>
        <p:spPr>
          <a:xfrm>
            <a:off x="8001000" y="3305175"/>
            <a:ext cx="2286000" cy="48831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Low</a:t>
            </a:r>
          </a:p>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EXT_SOURCE_3</a:t>
            </a:r>
          </a:p>
        </p:txBody>
      </p:sp>
      <p:sp>
        <p:nvSpPr>
          <p:cNvPr id="23" name="TextBox 23"/>
          <p:cNvSpPr txBox="1"/>
          <p:nvPr/>
        </p:nvSpPr>
        <p:spPr>
          <a:xfrm>
            <a:off x="8001000" y="4171950"/>
            <a:ext cx="22860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E74C3C"/>
                </a:solidFill>
                <a:latin typeface="Open Sans"/>
                <a:ea typeface="Open Sans"/>
                <a:cs typeface="Open Sans"/>
                <a:sym typeface="Open Sans"/>
              </a:rPr>
              <a:t>Pushes risk UP</a:t>
            </a:r>
          </a:p>
        </p:txBody>
      </p:sp>
      <p:sp>
        <p:nvSpPr>
          <p:cNvPr id="24" name="AutoShape 24"/>
          <p:cNvSpPr/>
          <p:nvPr/>
        </p:nvSpPr>
        <p:spPr>
          <a:xfrm>
            <a:off x="10572750" y="3810000"/>
            <a:ext cx="381000" cy="0"/>
          </a:xfrm>
          <a:prstGeom prst="line">
            <a:avLst/>
          </a:prstGeom>
          <a:ln w="28575" cap="flat">
            <a:solidFill>
              <a:srgbClr val="3498DB"/>
            </a:solidFill>
            <a:prstDash val="solid"/>
            <a:headEnd type="none" w="sm" len="sm"/>
            <a:tailEnd type="triangle" w="lg" len="med"/>
          </a:ln>
        </p:spPr>
        <p:txBody>
          <a:bodyPr/>
          <a:lstStyle/>
          <a:p>
            <a:endParaRPr lang="en-KE"/>
          </a:p>
        </p:txBody>
      </p:sp>
      <p:grpSp>
        <p:nvGrpSpPr>
          <p:cNvPr id="25" name="Group 25"/>
          <p:cNvGrpSpPr/>
          <p:nvPr/>
        </p:nvGrpSpPr>
        <p:grpSpPr>
          <a:xfrm>
            <a:off x="11049000" y="2857500"/>
            <a:ext cx="2667000" cy="1905000"/>
            <a:chOff x="0" y="0"/>
            <a:chExt cx="3556000" cy="2540000"/>
          </a:xfrm>
        </p:grpSpPr>
        <p:sp>
          <p:nvSpPr>
            <p:cNvPr id="26" name="Freeform 26"/>
            <p:cNvSpPr/>
            <p:nvPr/>
          </p:nvSpPr>
          <p:spPr>
            <a:xfrm>
              <a:off x="0" y="0"/>
              <a:ext cx="3556000" cy="2540000"/>
            </a:xfrm>
            <a:custGeom>
              <a:avLst/>
              <a:gdLst/>
              <a:ahLst/>
              <a:cxnLst/>
              <a:rect l="l" t="t" r="r" b="b"/>
              <a:pathLst>
                <a:path w="3556000" h="2540000">
                  <a:moveTo>
                    <a:pt x="254000" y="0"/>
                  </a:moveTo>
                  <a:lnTo>
                    <a:pt x="3302000" y="0"/>
                  </a:lnTo>
                  <a:cubicBezTo>
                    <a:pt x="3442280" y="0"/>
                    <a:pt x="3556000" y="113720"/>
                    <a:pt x="3556000" y="254000"/>
                  </a:cubicBezTo>
                  <a:lnTo>
                    <a:pt x="3556000" y="2286000"/>
                  </a:lnTo>
                  <a:cubicBezTo>
                    <a:pt x="3556000" y="2426280"/>
                    <a:pt x="3442280" y="2540000"/>
                    <a:pt x="3302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1B3358"/>
            </a:solidFill>
            <a:ln w="19050" cap="sq">
              <a:solidFill>
                <a:srgbClr val="3498DB"/>
              </a:solidFill>
              <a:prstDash val="solid"/>
              <a:miter/>
            </a:ln>
          </p:spPr>
          <p:txBody>
            <a:bodyPr/>
            <a:lstStyle/>
            <a:p>
              <a:endParaRPr lang="en-KE"/>
            </a:p>
          </p:txBody>
        </p:sp>
        <p:sp>
          <p:nvSpPr>
            <p:cNvPr id="27" name="TextBox 27"/>
            <p:cNvSpPr txBox="1"/>
            <p:nvPr/>
          </p:nvSpPr>
          <p:spPr>
            <a:xfrm>
              <a:off x="0" y="-38100"/>
              <a:ext cx="3556000" cy="2578100"/>
            </a:xfrm>
            <a:prstGeom prst="rect">
              <a:avLst/>
            </a:prstGeom>
          </p:spPr>
          <p:txBody>
            <a:bodyPr lIns="50800" tIns="50800" rIns="50800" bIns="50800" rtlCol="0" anchor="ctr"/>
            <a:lstStyle/>
            <a:p>
              <a:pPr algn="l">
                <a:lnSpc>
                  <a:spcPts val="1679"/>
                </a:lnSpc>
              </a:pPr>
              <a:endParaRPr/>
            </a:p>
          </p:txBody>
        </p:sp>
      </p:grpSp>
      <p:sp>
        <p:nvSpPr>
          <p:cNvPr id="28" name="TextBox 28"/>
          <p:cNvSpPr txBox="1"/>
          <p:nvPr/>
        </p:nvSpPr>
        <p:spPr>
          <a:xfrm>
            <a:off x="11239500" y="3038475"/>
            <a:ext cx="2286000" cy="181610"/>
          </a:xfrm>
          <a:prstGeom prst="rect">
            <a:avLst/>
          </a:prstGeom>
        </p:spPr>
        <p:txBody>
          <a:bodyPr lIns="0" tIns="0" rIns="0" bIns="0" rtlCol="0" anchor="t">
            <a:spAutoFit/>
          </a:bodyPr>
          <a:lstStyle/>
          <a:p>
            <a:pPr marL="0" lvl="0" indent="0" algn="ctr">
              <a:lnSpc>
                <a:spcPts val="1540"/>
              </a:lnSpc>
              <a:spcBef>
                <a:spcPct val="0"/>
              </a:spcBef>
            </a:pPr>
            <a:r>
              <a:rPr lang="en-US" sz="1100" u="none" strike="noStrike">
                <a:solidFill>
                  <a:srgbClr val="3498DB"/>
                </a:solidFill>
                <a:latin typeface="Open Sans"/>
                <a:ea typeface="Open Sans"/>
                <a:cs typeface="Open Sans"/>
                <a:sym typeface="Open Sans"/>
              </a:rPr>
              <a:t>PROTECTIVE</a:t>
            </a:r>
          </a:p>
        </p:txBody>
      </p:sp>
      <p:sp>
        <p:nvSpPr>
          <p:cNvPr id="29" name="TextBox 29"/>
          <p:cNvSpPr txBox="1"/>
          <p:nvPr/>
        </p:nvSpPr>
        <p:spPr>
          <a:xfrm>
            <a:off x="11239500" y="3305175"/>
            <a:ext cx="2286000" cy="48831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Some features</a:t>
            </a:r>
          </a:p>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reduce risk</a:t>
            </a:r>
          </a:p>
        </p:txBody>
      </p:sp>
      <p:sp>
        <p:nvSpPr>
          <p:cNvPr id="30" name="TextBox 30"/>
          <p:cNvSpPr txBox="1"/>
          <p:nvPr/>
        </p:nvSpPr>
        <p:spPr>
          <a:xfrm>
            <a:off x="11239500" y="4171950"/>
            <a:ext cx="2286000" cy="19812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3498DB"/>
                </a:solidFill>
                <a:latin typeface="Open Sans"/>
                <a:ea typeface="Open Sans"/>
                <a:cs typeface="Open Sans"/>
                <a:sym typeface="Open Sans"/>
              </a:rPr>
              <a:t>Pushes risk DOWN</a:t>
            </a:r>
          </a:p>
        </p:txBody>
      </p:sp>
      <p:sp>
        <p:nvSpPr>
          <p:cNvPr id="31" name="AutoShape 31"/>
          <p:cNvSpPr/>
          <p:nvPr/>
        </p:nvSpPr>
        <p:spPr>
          <a:xfrm>
            <a:off x="13811250" y="3810000"/>
            <a:ext cx="381000" cy="0"/>
          </a:xfrm>
          <a:prstGeom prst="line">
            <a:avLst/>
          </a:prstGeom>
          <a:ln w="28575" cap="flat">
            <a:solidFill>
              <a:srgbClr val="E74C3C"/>
            </a:solidFill>
            <a:prstDash val="solid"/>
            <a:headEnd type="none" w="sm" len="sm"/>
            <a:tailEnd type="triangle" w="lg" len="med"/>
          </a:ln>
        </p:spPr>
        <p:txBody>
          <a:bodyPr/>
          <a:lstStyle/>
          <a:p>
            <a:endParaRPr lang="en-KE"/>
          </a:p>
        </p:txBody>
      </p:sp>
      <p:grpSp>
        <p:nvGrpSpPr>
          <p:cNvPr id="32" name="Group 32"/>
          <p:cNvGrpSpPr/>
          <p:nvPr/>
        </p:nvGrpSpPr>
        <p:grpSpPr>
          <a:xfrm>
            <a:off x="14287500" y="2857500"/>
            <a:ext cx="2667000" cy="1905000"/>
            <a:chOff x="0" y="0"/>
            <a:chExt cx="3556000" cy="2540000"/>
          </a:xfrm>
        </p:grpSpPr>
        <p:sp>
          <p:nvSpPr>
            <p:cNvPr id="33" name="Freeform 33"/>
            <p:cNvSpPr/>
            <p:nvPr/>
          </p:nvSpPr>
          <p:spPr>
            <a:xfrm>
              <a:off x="0" y="0"/>
              <a:ext cx="3556000" cy="2540000"/>
            </a:xfrm>
            <a:custGeom>
              <a:avLst/>
              <a:gdLst/>
              <a:ahLst/>
              <a:cxnLst/>
              <a:rect l="l" t="t" r="r" b="b"/>
              <a:pathLst>
                <a:path w="3556000" h="2540000">
                  <a:moveTo>
                    <a:pt x="254000" y="0"/>
                  </a:moveTo>
                  <a:lnTo>
                    <a:pt x="3302000" y="0"/>
                  </a:lnTo>
                  <a:cubicBezTo>
                    <a:pt x="3442280" y="0"/>
                    <a:pt x="3556000" y="113720"/>
                    <a:pt x="3556000" y="254000"/>
                  </a:cubicBezTo>
                  <a:lnTo>
                    <a:pt x="3556000" y="2286000"/>
                  </a:lnTo>
                  <a:cubicBezTo>
                    <a:pt x="3556000" y="2426280"/>
                    <a:pt x="3442280" y="2540000"/>
                    <a:pt x="3302000" y="2540000"/>
                  </a:cubicBezTo>
                  <a:lnTo>
                    <a:pt x="254000" y="2540000"/>
                  </a:lnTo>
                  <a:cubicBezTo>
                    <a:pt x="113720" y="2540000"/>
                    <a:pt x="0" y="2426280"/>
                    <a:pt x="0" y="2286000"/>
                  </a:cubicBezTo>
                  <a:lnTo>
                    <a:pt x="0" y="254000"/>
                  </a:lnTo>
                  <a:cubicBezTo>
                    <a:pt x="0" y="113720"/>
                    <a:pt x="113720" y="0"/>
                    <a:pt x="254000" y="0"/>
                  </a:cubicBezTo>
                  <a:close/>
                </a:path>
              </a:pathLst>
            </a:custGeom>
            <a:solidFill>
              <a:srgbClr val="E74C3C"/>
            </a:solidFill>
          </p:spPr>
          <p:txBody>
            <a:bodyPr/>
            <a:lstStyle/>
            <a:p>
              <a:endParaRPr lang="en-KE"/>
            </a:p>
          </p:txBody>
        </p:sp>
        <p:sp>
          <p:nvSpPr>
            <p:cNvPr id="34" name="TextBox 34"/>
            <p:cNvSpPr txBox="1"/>
            <p:nvPr/>
          </p:nvSpPr>
          <p:spPr>
            <a:xfrm>
              <a:off x="0" y="-38100"/>
              <a:ext cx="3556000" cy="2578100"/>
            </a:xfrm>
            <a:prstGeom prst="rect">
              <a:avLst/>
            </a:prstGeom>
          </p:spPr>
          <p:txBody>
            <a:bodyPr lIns="50800" tIns="50800" rIns="50800" bIns="50800" rtlCol="0" anchor="ctr"/>
            <a:lstStyle/>
            <a:p>
              <a:pPr algn="l">
                <a:lnSpc>
                  <a:spcPts val="1679"/>
                </a:lnSpc>
              </a:pPr>
              <a:endParaRPr/>
            </a:p>
          </p:txBody>
        </p:sp>
      </p:grpSp>
      <p:sp>
        <p:nvSpPr>
          <p:cNvPr id="35" name="TextBox 35"/>
          <p:cNvSpPr txBox="1"/>
          <p:nvPr/>
        </p:nvSpPr>
        <p:spPr>
          <a:xfrm>
            <a:off x="14478000" y="3086100"/>
            <a:ext cx="2286000" cy="181610"/>
          </a:xfrm>
          <a:prstGeom prst="rect">
            <a:avLst/>
          </a:prstGeom>
        </p:spPr>
        <p:txBody>
          <a:bodyPr lIns="0" tIns="0" rIns="0" bIns="0" rtlCol="0" anchor="t">
            <a:spAutoFit/>
          </a:bodyPr>
          <a:lstStyle/>
          <a:p>
            <a:pPr marL="0" lvl="0" indent="0" algn="ctr">
              <a:lnSpc>
                <a:spcPts val="1540"/>
              </a:lnSpc>
              <a:spcBef>
                <a:spcPct val="0"/>
              </a:spcBef>
            </a:pPr>
            <a:r>
              <a:rPr lang="en-US" sz="1100" u="none" strike="noStrike">
                <a:solidFill>
                  <a:srgbClr val="FFFFFF"/>
                </a:solidFill>
                <a:latin typeface="Open Sans"/>
                <a:ea typeface="Open Sans"/>
                <a:cs typeface="Open Sans"/>
                <a:sym typeface="Open Sans"/>
              </a:rPr>
              <a:t>FINAL RISK</a:t>
            </a:r>
          </a:p>
        </p:txBody>
      </p:sp>
      <p:sp>
        <p:nvSpPr>
          <p:cNvPr id="36" name="TextBox 36"/>
          <p:cNvSpPr txBox="1"/>
          <p:nvPr/>
        </p:nvSpPr>
        <p:spPr>
          <a:xfrm>
            <a:off x="14668500" y="3362325"/>
            <a:ext cx="1905000" cy="538896"/>
          </a:xfrm>
          <a:prstGeom prst="rect">
            <a:avLst/>
          </a:prstGeom>
        </p:spPr>
        <p:txBody>
          <a:bodyPr lIns="0" tIns="0" rIns="0" bIns="0" rtlCol="0" anchor="t">
            <a:spAutoFit/>
          </a:bodyPr>
          <a:lstStyle/>
          <a:p>
            <a:pPr marL="0" lvl="0" indent="0" algn="ctr">
              <a:lnSpc>
                <a:spcPts val="4422"/>
              </a:lnSpc>
              <a:spcBef>
                <a:spcPct val="0"/>
              </a:spcBef>
            </a:pPr>
            <a:r>
              <a:rPr lang="en-US" sz="3158" u="none" strike="noStrike">
                <a:solidFill>
                  <a:srgbClr val="FFFFFF"/>
                </a:solidFill>
                <a:latin typeface="IBM Plex Mono"/>
                <a:ea typeface="IBM Plex Mono"/>
                <a:cs typeface="IBM Plex Mono"/>
                <a:sym typeface="IBM Plex Mono"/>
              </a:rPr>
              <a:t>&gt;50%</a:t>
            </a:r>
          </a:p>
        </p:txBody>
      </p:sp>
      <p:sp>
        <p:nvSpPr>
          <p:cNvPr id="37" name="TextBox 37"/>
          <p:cNvSpPr txBox="1"/>
          <p:nvPr/>
        </p:nvSpPr>
        <p:spPr>
          <a:xfrm>
            <a:off x="14478000" y="4019550"/>
            <a:ext cx="2286000" cy="407670"/>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FFFFFF"/>
                </a:solidFill>
                <a:latin typeface="Open Sans"/>
                <a:ea typeface="Open Sans"/>
                <a:cs typeface="Open Sans"/>
                <a:sym typeface="Open Sans"/>
              </a:rPr>
              <a:t>HIGH RISK</a:t>
            </a:r>
          </a:p>
          <a:p>
            <a:pPr marL="0" lvl="0" indent="0" algn="ctr">
              <a:lnSpc>
                <a:spcPts val="1679"/>
              </a:lnSpc>
              <a:spcBef>
                <a:spcPct val="0"/>
              </a:spcBef>
            </a:pPr>
            <a:r>
              <a:rPr lang="en-US" sz="1200" u="none" strike="noStrike">
                <a:solidFill>
                  <a:srgbClr val="FFFFFF"/>
                </a:solidFill>
                <a:latin typeface="Open Sans"/>
                <a:ea typeface="Open Sans"/>
                <a:cs typeface="Open Sans"/>
                <a:sym typeface="Open Sans"/>
              </a:rPr>
              <a:t>REVIEW REQUIRED</a:t>
            </a:r>
          </a:p>
        </p:txBody>
      </p:sp>
      <p:sp>
        <p:nvSpPr>
          <p:cNvPr id="38" name="TextBox 38"/>
          <p:cNvSpPr txBox="1"/>
          <p:nvPr/>
        </p:nvSpPr>
        <p:spPr>
          <a:xfrm>
            <a:off x="914400" y="5305425"/>
            <a:ext cx="85725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Why this matters:</a:t>
            </a:r>
          </a:p>
        </p:txBody>
      </p:sp>
      <p:sp>
        <p:nvSpPr>
          <p:cNvPr id="39" name="TextBox 39"/>
          <p:cNvSpPr txBox="1"/>
          <p:nvPr/>
        </p:nvSpPr>
        <p:spPr>
          <a:xfrm>
            <a:off x="914400" y="5591175"/>
            <a:ext cx="10477500" cy="48831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FFFFFF"/>
                </a:solidFill>
                <a:latin typeface="Open Sans"/>
                <a:ea typeface="Open Sans"/>
                <a:cs typeface="Open Sans"/>
                <a:sym typeface="Open Sans"/>
              </a:rPr>
              <a:t>"Instead of only reporting 'high risk,' the waterfall plot shows which features most strongly pushed the prediction toward default and which features reduced that risk."</a:t>
            </a:r>
          </a:p>
        </p:txBody>
      </p:sp>
      <p:sp>
        <p:nvSpPr>
          <p:cNvPr id="40" name="TextBox 40"/>
          <p:cNvSpPr txBox="1"/>
          <p:nvPr/>
        </p:nvSpPr>
        <p:spPr>
          <a:xfrm>
            <a:off x="914400" y="6257925"/>
            <a:ext cx="85725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Who uses this:</a:t>
            </a:r>
          </a:p>
        </p:txBody>
      </p:sp>
      <p:sp>
        <p:nvSpPr>
          <p:cNvPr id="41" name="TextBox 41"/>
          <p:cNvSpPr txBox="1"/>
          <p:nvPr/>
        </p:nvSpPr>
        <p:spPr>
          <a:xfrm>
            <a:off x="914400" y="6524625"/>
            <a:ext cx="10001250" cy="1327785"/>
          </a:xfrm>
          <a:prstGeom prst="rect">
            <a:avLst/>
          </a:prstGeom>
        </p:spPr>
        <p:txBody>
          <a:bodyPr lIns="0" tIns="0" rIns="0" bIns="0" rtlCol="0" anchor="t">
            <a:spAutoFit/>
          </a:bodyPr>
          <a:lstStyle/>
          <a:p>
            <a:pPr marL="0" lvl="0" indent="0" algn="l">
              <a:lnSpc>
                <a:spcPts val="2100"/>
              </a:lnSpc>
              <a:spcBef>
                <a:spcPct val="0"/>
              </a:spcBef>
            </a:pPr>
            <a:r>
              <a:rPr lang="en-US" sz="1400" u="none" strike="noStrike">
                <a:solidFill>
                  <a:srgbClr val="FFFFFF"/>
                </a:solidFill>
                <a:latin typeface="Open Sans"/>
                <a:ea typeface="Open Sans"/>
                <a:cs typeface="Open Sans"/>
                <a:sym typeface="Open Sans"/>
              </a:rPr>
              <a:t>●  Loan officers: explain rejections to applicants</a:t>
            </a:r>
          </a:p>
          <a:p>
            <a:pPr marL="0" lvl="0" indent="0" algn="l">
              <a:lnSpc>
                <a:spcPts val="2100"/>
              </a:lnSpc>
              <a:spcBef>
                <a:spcPct val="0"/>
              </a:spcBef>
            </a:pPr>
            <a:endParaRPr lang="en-US" sz="1400" u="none" strike="noStrike">
              <a:solidFill>
                <a:srgbClr val="FFFFFF"/>
              </a:solidFill>
              <a:latin typeface="Open Sans"/>
              <a:ea typeface="Open Sans"/>
              <a:cs typeface="Open Sans"/>
              <a:sym typeface="Open Sans"/>
            </a:endParaRPr>
          </a:p>
          <a:p>
            <a:pPr marL="0" lvl="0" indent="0" algn="l">
              <a:lnSpc>
                <a:spcPts val="2100"/>
              </a:lnSpc>
              <a:spcBef>
                <a:spcPct val="0"/>
              </a:spcBef>
            </a:pPr>
            <a:r>
              <a:rPr lang="en-US" sz="1400" u="none" strike="noStrike">
                <a:solidFill>
                  <a:srgbClr val="FFFFFF"/>
                </a:solidFill>
                <a:latin typeface="Open Sans"/>
                <a:ea typeface="Open Sans"/>
                <a:cs typeface="Open Sans"/>
                <a:sym typeface="Open Sans"/>
              </a:rPr>
              <a:t>●  Regulators: audit model decisions</a:t>
            </a:r>
          </a:p>
          <a:p>
            <a:pPr marL="0" lvl="0" indent="0" algn="l">
              <a:lnSpc>
                <a:spcPts val="2100"/>
              </a:lnSpc>
              <a:spcBef>
                <a:spcPct val="0"/>
              </a:spcBef>
            </a:pPr>
            <a:endParaRPr lang="en-US" sz="1400" u="none" strike="noStrike">
              <a:solidFill>
                <a:srgbClr val="FFFFFF"/>
              </a:solidFill>
              <a:latin typeface="Open Sans"/>
              <a:ea typeface="Open Sans"/>
              <a:cs typeface="Open Sans"/>
              <a:sym typeface="Open Sans"/>
            </a:endParaRPr>
          </a:p>
          <a:p>
            <a:pPr marL="0" lvl="0" indent="0" algn="l">
              <a:lnSpc>
                <a:spcPts val="2100"/>
              </a:lnSpc>
              <a:spcBef>
                <a:spcPct val="0"/>
              </a:spcBef>
            </a:pPr>
            <a:r>
              <a:rPr lang="en-US" sz="1400" u="none" strike="noStrike">
                <a:solidFill>
                  <a:srgbClr val="FFFFFF"/>
                </a:solidFill>
                <a:latin typeface="Open Sans"/>
                <a:ea typeface="Open Sans"/>
                <a:cs typeface="Open Sans"/>
                <a:sym typeface="Open Sans"/>
              </a:rPr>
              <a:t>●  Applicants: understand exactly why they were flagged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5 Data-Driven Actions for the Credit Risk Manager</a:t>
            </a:r>
          </a:p>
        </p:txBody>
      </p:sp>
      <p:grpSp>
        <p:nvGrpSpPr>
          <p:cNvPr id="3" name="Group 3"/>
          <p:cNvGrpSpPr/>
          <p:nvPr/>
        </p:nvGrpSpPr>
        <p:grpSpPr>
          <a:xfrm>
            <a:off x="914400" y="1714500"/>
            <a:ext cx="381000" cy="419100"/>
            <a:chOff x="0" y="0"/>
            <a:chExt cx="508000" cy="558800"/>
          </a:xfrm>
        </p:grpSpPr>
        <p:sp>
          <p:nvSpPr>
            <p:cNvPr id="4" name="Freeform 4"/>
            <p:cNvSpPr/>
            <p:nvPr/>
          </p:nvSpPr>
          <p:spPr>
            <a:xfrm>
              <a:off x="0" y="0"/>
              <a:ext cx="508000" cy="558800"/>
            </a:xfrm>
            <a:custGeom>
              <a:avLst/>
              <a:gdLst/>
              <a:ahLst/>
              <a:cxnLst/>
              <a:rect l="l" t="t" r="r" b="b"/>
              <a:pathLst>
                <a:path w="508000" h="558800">
                  <a:moveTo>
                    <a:pt x="254000" y="0"/>
                  </a:moveTo>
                  <a:cubicBezTo>
                    <a:pt x="113720" y="0"/>
                    <a:pt x="0" y="125092"/>
                    <a:pt x="0" y="279400"/>
                  </a:cubicBezTo>
                  <a:cubicBezTo>
                    <a:pt x="0" y="433708"/>
                    <a:pt x="113720" y="558800"/>
                    <a:pt x="254000" y="558800"/>
                  </a:cubicBezTo>
                  <a:cubicBezTo>
                    <a:pt x="394280" y="558800"/>
                    <a:pt x="508000" y="433708"/>
                    <a:pt x="508000" y="279400"/>
                  </a:cubicBezTo>
                  <a:cubicBezTo>
                    <a:pt x="508000" y="125092"/>
                    <a:pt x="394280" y="0"/>
                    <a:pt x="254000" y="0"/>
                  </a:cubicBezTo>
                  <a:close/>
                </a:path>
              </a:pathLst>
            </a:custGeom>
            <a:solidFill>
              <a:srgbClr val="C9902A"/>
            </a:solidFill>
          </p:spPr>
          <p:txBody>
            <a:bodyPr/>
            <a:lstStyle/>
            <a:p>
              <a:endParaRPr lang="en-KE"/>
            </a:p>
          </p:txBody>
        </p:sp>
        <p:sp>
          <p:nvSpPr>
            <p:cNvPr id="5" name="TextBox 5"/>
            <p:cNvSpPr txBox="1"/>
            <p:nvPr/>
          </p:nvSpPr>
          <p:spPr>
            <a:xfrm>
              <a:off x="0" y="-28575"/>
              <a:ext cx="508000" cy="587375"/>
            </a:xfrm>
            <a:prstGeom prst="rect">
              <a:avLst/>
            </a:prstGeom>
          </p:spPr>
          <p:txBody>
            <a:bodyPr lIns="50800" tIns="50800" rIns="50800" bIns="50800" rtlCol="0" anchor="ctr"/>
            <a:lstStyle/>
            <a:p>
              <a:pPr marL="0" lvl="0" indent="0" algn="ctr">
                <a:lnSpc>
                  <a:spcPts val="2239"/>
                </a:lnSpc>
                <a:spcBef>
                  <a:spcPct val="0"/>
                </a:spcBef>
              </a:pPr>
              <a:r>
                <a:rPr lang="en-US" sz="1599" u="none" strike="noStrike">
                  <a:solidFill>
                    <a:srgbClr val="0F2044"/>
                  </a:solidFill>
                  <a:latin typeface="Open Sans"/>
                  <a:ea typeface="Open Sans"/>
                  <a:cs typeface="Open Sans"/>
                  <a:sym typeface="Open Sans"/>
                </a:rPr>
                <a:t>1</a:t>
              </a:r>
            </a:p>
          </p:txBody>
        </p:sp>
      </p:grpSp>
      <p:sp>
        <p:nvSpPr>
          <p:cNvPr id="6" name="TextBox 6"/>
          <p:cNvSpPr txBox="1"/>
          <p:nvPr/>
        </p:nvSpPr>
        <p:spPr>
          <a:xfrm>
            <a:off x="1485900" y="1733550"/>
            <a:ext cx="7620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Tiered Credit Score Screening</a:t>
            </a:r>
          </a:p>
        </p:txBody>
      </p:sp>
      <p:sp>
        <p:nvSpPr>
          <p:cNvPr id="7" name="TextBox 7"/>
          <p:cNvSpPr txBox="1"/>
          <p:nvPr/>
        </p:nvSpPr>
        <p:spPr>
          <a:xfrm>
            <a:off x="1485900" y="2009775"/>
            <a:ext cx="14287500" cy="9194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Implement a three-tier system based on EXT_SOURCE_2:</a:t>
            </a:r>
          </a:p>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  Below 0.35 → mandatory manual review + additional documentation</a:t>
            </a:r>
          </a:p>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  0.35 to 0.60 → standard underwriting process</a:t>
            </a:r>
          </a:p>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  Above 0.60 → fast-track approval eligible</a:t>
            </a:r>
          </a:p>
        </p:txBody>
      </p:sp>
      <p:grpSp>
        <p:nvGrpSpPr>
          <p:cNvPr id="8" name="Group 8"/>
          <p:cNvGrpSpPr/>
          <p:nvPr/>
        </p:nvGrpSpPr>
        <p:grpSpPr>
          <a:xfrm>
            <a:off x="914400" y="3238500"/>
            <a:ext cx="381000" cy="419100"/>
            <a:chOff x="0" y="0"/>
            <a:chExt cx="508000" cy="558800"/>
          </a:xfrm>
        </p:grpSpPr>
        <p:sp>
          <p:nvSpPr>
            <p:cNvPr id="9" name="Freeform 9"/>
            <p:cNvSpPr/>
            <p:nvPr/>
          </p:nvSpPr>
          <p:spPr>
            <a:xfrm>
              <a:off x="0" y="0"/>
              <a:ext cx="508000" cy="558800"/>
            </a:xfrm>
            <a:custGeom>
              <a:avLst/>
              <a:gdLst/>
              <a:ahLst/>
              <a:cxnLst/>
              <a:rect l="l" t="t" r="r" b="b"/>
              <a:pathLst>
                <a:path w="508000" h="558800">
                  <a:moveTo>
                    <a:pt x="254000" y="0"/>
                  </a:moveTo>
                  <a:cubicBezTo>
                    <a:pt x="113720" y="0"/>
                    <a:pt x="0" y="125092"/>
                    <a:pt x="0" y="279400"/>
                  </a:cubicBezTo>
                  <a:cubicBezTo>
                    <a:pt x="0" y="433708"/>
                    <a:pt x="113720" y="558800"/>
                    <a:pt x="254000" y="558800"/>
                  </a:cubicBezTo>
                  <a:cubicBezTo>
                    <a:pt x="394280" y="558800"/>
                    <a:pt x="508000" y="433708"/>
                    <a:pt x="508000" y="279400"/>
                  </a:cubicBezTo>
                  <a:cubicBezTo>
                    <a:pt x="508000" y="125092"/>
                    <a:pt x="394280" y="0"/>
                    <a:pt x="254000" y="0"/>
                  </a:cubicBezTo>
                  <a:close/>
                </a:path>
              </a:pathLst>
            </a:custGeom>
            <a:solidFill>
              <a:srgbClr val="C9902A"/>
            </a:solidFill>
          </p:spPr>
          <p:txBody>
            <a:bodyPr/>
            <a:lstStyle/>
            <a:p>
              <a:endParaRPr lang="en-KE"/>
            </a:p>
          </p:txBody>
        </p:sp>
        <p:sp>
          <p:nvSpPr>
            <p:cNvPr id="10" name="TextBox 10"/>
            <p:cNvSpPr txBox="1"/>
            <p:nvPr/>
          </p:nvSpPr>
          <p:spPr>
            <a:xfrm>
              <a:off x="0" y="-28575"/>
              <a:ext cx="508000" cy="587375"/>
            </a:xfrm>
            <a:prstGeom prst="rect">
              <a:avLst/>
            </a:prstGeom>
          </p:spPr>
          <p:txBody>
            <a:bodyPr lIns="50800" tIns="50800" rIns="50800" bIns="50800" rtlCol="0" anchor="ctr"/>
            <a:lstStyle/>
            <a:p>
              <a:pPr marL="0" lvl="0" indent="0" algn="ctr">
                <a:lnSpc>
                  <a:spcPts val="2239"/>
                </a:lnSpc>
                <a:spcBef>
                  <a:spcPct val="0"/>
                </a:spcBef>
              </a:pPr>
              <a:r>
                <a:rPr lang="en-US" sz="1599" u="none" strike="noStrike">
                  <a:solidFill>
                    <a:srgbClr val="0F2044"/>
                  </a:solidFill>
                  <a:latin typeface="Open Sans"/>
                  <a:ea typeface="Open Sans"/>
                  <a:cs typeface="Open Sans"/>
                  <a:sym typeface="Open Sans"/>
                </a:rPr>
                <a:t>2</a:t>
              </a:r>
            </a:p>
          </p:txBody>
        </p:sp>
      </p:grpSp>
      <p:sp>
        <p:nvSpPr>
          <p:cNvPr id="11" name="TextBox 11"/>
          <p:cNvSpPr txBox="1"/>
          <p:nvPr/>
        </p:nvSpPr>
        <p:spPr>
          <a:xfrm>
            <a:off x="1485900" y="3257550"/>
            <a:ext cx="7620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Hard Cap on Annuity-to-Income Ratio</a:t>
            </a:r>
          </a:p>
        </p:txBody>
      </p:sp>
      <p:sp>
        <p:nvSpPr>
          <p:cNvPr id="12" name="TextBox 12"/>
          <p:cNvSpPr txBox="1"/>
          <p:nvPr/>
        </p:nvSpPr>
        <p:spPr>
          <a:xfrm>
            <a:off x="1485900" y="3533775"/>
            <a:ext cx="14287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Do not approve loans where monthly repayment exceeds 28-30% of verified monthly income. ANNUITY_TO_INCOME is among the top engineered features in the model.</a:t>
            </a:r>
          </a:p>
        </p:txBody>
      </p:sp>
      <p:grpSp>
        <p:nvGrpSpPr>
          <p:cNvPr id="13" name="Group 13"/>
          <p:cNvGrpSpPr/>
          <p:nvPr/>
        </p:nvGrpSpPr>
        <p:grpSpPr>
          <a:xfrm>
            <a:off x="914400" y="4762500"/>
            <a:ext cx="381000" cy="419100"/>
            <a:chOff x="0" y="0"/>
            <a:chExt cx="508000" cy="558800"/>
          </a:xfrm>
        </p:grpSpPr>
        <p:sp>
          <p:nvSpPr>
            <p:cNvPr id="14" name="Freeform 14"/>
            <p:cNvSpPr/>
            <p:nvPr/>
          </p:nvSpPr>
          <p:spPr>
            <a:xfrm>
              <a:off x="0" y="0"/>
              <a:ext cx="508000" cy="558800"/>
            </a:xfrm>
            <a:custGeom>
              <a:avLst/>
              <a:gdLst/>
              <a:ahLst/>
              <a:cxnLst/>
              <a:rect l="l" t="t" r="r" b="b"/>
              <a:pathLst>
                <a:path w="508000" h="558800">
                  <a:moveTo>
                    <a:pt x="254000" y="0"/>
                  </a:moveTo>
                  <a:cubicBezTo>
                    <a:pt x="113720" y="0"/>
                    <a:pt x="0" y="125092"/>
                    <a:pt x="0" y="279400"/>
                  </a:cubicBezTo>
                  <a:cubicBezTo>
                    <a:pt x="0" y="433708"/>
                    <a:pt x="113720" y="558800"/>
                    <a:pt x="254000" y="558800"/>
                  </a:cubicBezTo>
                  <a:cubicBezTo>
                    <a:pt x="394280" y="558800"/>
                    <a:pt x="508000" y="433708"/>
                    <a:pt x="508000" y="279400"/>
                  </a:cubicBezTo>
                  <a:cubicBezTo>
                    <a:pt x="508000" y="125092"/>
                    <a:pt x="394280" y="0"/>
                    <a:pt x="254000" y="0"/>
                  </a:cubicBezTo>
                  <a:close/>
                </a:path>
              </a:pathLst>
            </a:custGeom>
            <a:solidFill>
              <a:srgbClr val="C9902A"/>
            </a:solidFill>
          </p:spPr>
          <p:txBody>
            <a:bodyPr/>
            <a:lstStyle/>
            <a:p>
              <a:endParaRPr lang="en-KE"/>
            </a:p>
          </p:txBody>
        </p:sp>
        <p:sp>
          <p:nvSpPr>
            <p:cNvPr id="15" name="TextBox 15"/>
            <p:cNvSpPr txBox="1"/>
            <p:nvPr/>
          </p:nvSpPr>
          <p:spPr>
            <a:xfrm>
              <a:off x="0" y="-28575"/>
              <a:ext cx="508000" cy="587375"/>
            </a:xfrm>
            <a:prstGeom prst="rect">
              <a:avLst/>
            </a:prstGeom>
          </p:spPr>
          <p:txBody>
            <a:bodyPr lIns="50800" tIns="50800" rIns="50800" bIns="50800" rtlCol="0" anchor="ctr"/>
            <a:lstStyle/>
            <a:p>
              <a:pPr marL="0" lvl="0" indent="0" algn="ctr">
                <a:lnSpc>
                  <a:spcPts val="2239"/>
                </a:lnSpc>
                <a:spcBef>
                  <a:spcPct val="0"/>
                </a:spcBef>
              </a:pPr>
              <a:r>
                <a:rPr lang="en-US" sz="1599" u="none" strike="noStrike">
                  <a:solidFill>
                    <a:srgbClr val="0F2044"/>
                  </a:solidFill>
                  <a:latin typeface="Open Sans"/>
                  <a:ea typeface="Open Sans"/>
                  <a:cs typeface="Open Sans"/>
                  <a:sym typeface="Open Sans"/>
                </a:rPr>
                <a:t>3</a:t>
              </a:r>
            </a:p>
          </p:txBody>
        </p:sp>
      </p:grpSp>
      <p:sp>
        <p:nvSpPr>
          <p:cNvPr id="16" name="TextBox 16"/>
          <p:cNvSpPr txBox="1"/>
          <p:nvPr/>
        </p:nvSpPr>
        <p:spPr>
          <a:xfrm>
            <a:off x="1485900" y="4781550"/>
            <a:ext cx="7620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Flag Chronic Late Payers</a:t>
            </a:r>
          </a:p>
        </p:txBody>
      </p:sp>
      <p:sp>
        <p:nvSpPr>
          <p:cNvPr id="17" name="TextBox 17"/>
          <p:cNvSpPr txBox="1"/>
          <p:nvPr/>
        </p:nvSpPr>
        <p:spPr>
          <a:xfrm>
            <a:off x="1485900" y="5057775"/>
            <a:ext cx="14287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Applicants with more than 20% of previous installments paid late should face additional review. Chronic late payers show dramatically higher default rates.</a:t>
            </a:r>
          </a:p>
        </p:txBody>
      </p:sp>
      <p:grpSp>
        <p:nvGrpSpPr>
          <p:cNvPr id="18" name="Group 18"/>
          <p:cNvGrpSpPr/>
          <p:nvPr/>
        </p:nvGrpSpPr>
        <p:grpSpPr>
          <a:xfrm>
            <a:off x="914400" y="6286500"/>
            <a:ext cx="381000" cy="419100"/>
            <a:chOff x="0" y="0"/>
            <a:chExt cx="508000" cy="558800"/>
          </a:xfrm>
        </p:grpSpPr>
        <p:sp>
          <p:nvSpPr>
            <p:cNvPr id="19" name="Freeform 19"/>
            <p:cNvSpPr/>
            <p:nvPr/>
          </p:nvSpPr>
          <p:spPr>
            <a:xfrm>
              <a:off x="0" y="0"/>
              <a:ext cx="508000" cy="558800"/>
            </a:xfrm>
            <a:custGeom>
              <a:avLst/>
              <a:gdLst/>
              <a:ahLst/>
              <a:cxnLst/>
              <a:rect l="l" t="t" r="r" b="b"/>
              <a:pathLst>
                <a:path w="508000" h="558800">
                  <a:moveTo>
                    <a:pt x="254000" y="0"/>
                  </a:moveTo>
                  <a:cubicBezTo>
                    <a:pt x="113720" y="0"/>
                    <a:pt x="0" y="125092"/>
                    <a:pt x="0" y="279400"/>
                  </a:cubicBezTo>
                  <a:cubicBezTo>
                    <a:pt x="0" y="433708"/>
                    <a:pt x="113720" y="558800"/>
                    <a:pt x="254000" y="558800"/>
                  </a:cubicBezTo>
                  <a:cubicBezTo>
                    <a:pt x="394280" y="558800"/>
                    <a:pt x="508000" y="433708"/>
                    <a:pt x="508000" y="279400"/>
                  </a:cubicBezTo>
                  <a:cubicBezTo>
                    <a:pt x="508000" y="125092"/>
                    <a:pt x="394280" y="0"/>
                    <a:pt x="254000" y="0"/>
                  </a:cubicBezTo>
                  <a:close/>
                </a:path>
              </a:pathLst>
            </a:custGeom>
            <a:solidFill>
              <a:srgbClr val="C9902A"/>
            </a:solidFill>
          </p:spPr>
          <p:txBody>
            <a:bodyPr/>
            <a:lstStyle/>
            <a:p>
              <a:endParaRPr lang="en-KE"/>
            </a:p>
          </p:txBody>
        </p:sp>
        <p:sp>
          <p:nvSpPr>
            <p:cNvPr id="20" name="TextBox 20"/>
            <p:cNvSpPr txBox="1"/>
            <p:nvPr/>
          </p:nvSpPr>
          <p:spPr>
            <a:xfrm>
              <a:off x="0" y="-28575"/>
              <a:ext cx="508000" cy="587375"/>
            </a:xfrm>
            <a:prstGeom prst="rect">
              <a:avLst/>
            </a:prstGeom>
          </p:spPr>
          <p:txBody>
            <a:bodyPr lIns="50800" tIns="50800" rIns="50800" bIns="50800" rtlCol="0" anchor="ctr"/>
            <a:lstStyle/>
            <a:p>
              <a:pPr marL="0" lvl="0" indent="0" algn="ctr">
                <a:lnSpc>
                  <a:spcPts val="2239"/>
                </a:lnSpc>
                <a:spcBef>
                  <a:spcPct val="0"/>
                </a:spcBef>
              </a:pPr>
              <a:r>
                <a:rPr lang="en-US" sz="1599" u="none" strike="noStrike">
                  <a:solidFill>
                    <a:srgbClr val="0F2044"/>
                  </a:solidFill>
                  <a:latin typeface="Open Sans"/>
                  <a:ea typeface="Open Sans"/>
                  <a:cs typeface="Open Sans"/>
                  <a:sym typeface="Open Sans"/>
                </a:rPr>
                <a:t>4</a:t>
              </a:r>
            </a:p>
          </p:txBody>
        </p:sp>
      </p:grpSp>
      <p:sp>
        <p:nvSpPr>
          <p:cNvPr id="21" name="TextBox 21"/>
          <p:cNvSpPr txBox="1"/>
          <p:nvPr/>
        </p:nvSpPr>
        <p:spPr>
          <a:xfrm>
            <a:off x="1485900" y="6305550"/>
            <a:ext cx="7620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Age-Appropriate Loan Limits</a:t>
            </a:r>
          </a:p>
        </p:txBody>
      </p:sp>
      <p:sp>
        <p:nvSpPr>
          <p:cNvPr id="22" name="TextBox 22"/>
          <p:cNvSpPr txBox="1"/>
          <p:nvPr/>
        </p:nvSpPr>
        <p:spPr>
          <a:xfrm>
            <a:off x="1485900" y="6581775"/>
            <a:ext cx="14287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Apply conservative initial loan limits for applicants aged 20-27. Youngest age group defaults at nearly double the overall rate.</a:t>
            </a:r>
          </a:p>
        </p:txBody>
      </p:sp>
      <p:grpSp>
        <p:nvGrpSpPr>
          <p:cNvPr id="23" name="Group 23"/>
          <p:cNvGrpSpPr/>
          <p:nvPr/>
        </p:nvGrpSpPr>
        <p:grpSpPr>
          <a:xfrm>
            <a:off x="914400" y="7810500"/>
            <a:ext cx="381000" cy="419100"/>
            <a:chOff x="0" y="0"/>
            <a:chExt cx="508000" cy="558800"/>
          </a:xfrm>
        </p:grpSpPr>
        <p:sp>
          <p:nvSpPr>
            <p:cNvPr id="24" name="Freeform 24"/>
            <p:cNvSpPr/>
            <p:nvPr/>
          </p:nvSpPr>
          <p:spPr>
            <a:xfrm>
              <a:off x="0" y="0"/>
              <a:ext cx="508000" cy="558800"/>
            </a:xfrm>
            <a:custGeom>
              <a:avLst/>
              <a:gdLst/>
              <a:ahLst/>
              <a:cxnLst/>
              <a:rect l="l" t="t" r="r" b="b"/>
              <a:pathLst>
                <a:path w="508000" h="558800">
                  <a:moveTo>
                    <a:pt x="254000" y="0"/>
                  </a:moveTo>
                  <a:cubicBezTo>
                    <a:pt x="113720" y="0"/>
                    <a:pt x="0" y="125092"/>
                    <a:pt x="0" y="279400"/>
                  </a:cubicBezTo>
                  <a:cubicBezTo>
                    <a:pt x="0" y="433708"/>
                    <a:pt x="113720" y="558800"/>
                    <a:pt x="254000" y="558800"/>
                  </a:cubicBezTo>
                  <a:cubicBezTo>
                    <a:pt x="394280" y="558800"/>
                    <a:pt x="508000" y="433708"/>
                    <a:pt x="508000" y="279400"/>
                  </a:cubicBezTo>
                  <a:cubicBezTo>
                    <a:pt x="508000" y="125092"/>
                    <a:pt x="394280" y="0"/>
                    <a:pt x="254000" y="0"/>
                  </a:cubicBezTo>
                  <a:close/>
                </a:path>
              </a:pathLst>
            </a:custGeom>
            <a:solidFill>
              <a:srgbClr val="C9902A"/>
            </a:solidFill>
          </p:spPr>
          <p:txBody>
            <a:bodyPr/>
            <a:lstStyle/>
            <a:p>
              <a:endParaRPr lang="en-KE"/>
            </a:p>
          </p:txBody>
        </p:sp>
        <p:sp>
          <p:nvSpPr>
            <p:cNvPr id="25" name="TextBox 25"/>
            <p:cNvSpPr txBox="1"/>
            <p:nvPr/>
          </p:nvSpPr>
          <p:spPr>
            <a:xfrm>
              <a:off x="0" y="-28575"/>
              <a:ext cx="508000" cy="587375"/>
            </a:xfrm>
            <a:prstGeom prst="rect">
              <a:avLst/>
            </a:prstGeom>
          </p:spPr>
          <p:txBody>
            <a:bodyPr lIns="50800" tIns="50800" rIns="50800" bIns="50800" rtlCol="0" anchor="ctr"/>
            <a:lstStyle/>
            <a:p>
              <a:pPr marL="0" lvl="0" indent="0" algn="ctr">
                <a:lnSpc>
                  <a:spcPts val="2239"/>
                </a:lnSpc>
                <a:spcBef>
                  <a:spcPct val="0"/>
                </a:spcBef>
              </a:pPr>
              <a:r>
                <a:rPr lang="en-US" sz="1599" u="none" strike="noStrike">
                  <a:solidFill>
                    <a:srgbClr val="0F2044"/>
                  </a:solidFill>
                  <a:latin typeface="Open Sans"/>
                  <a:ea typeface="Open Sans"/>
                  <a:cs typeface="Open Sans"/>
                  <a:sym typeface="Open Sans"/>
                </a:rPr>
                <a:t>5</a:t>
              </a:r>
            </a:p>
          </p:txBody>
        </p:sp>
      </p:grpSp>
      <p:sp>
        <p:nvSpPr>
          <p:cNvPr id="26" name="TextBox 26"/>
          <p:cNvSpPr txBox="1"/>
          <p:nvPr/>
        </p:nvSpPr>
        <p:spPr>
          <a:xfrm>
            <a:off x="1485900" y="7829550"/>
            <a:ext cx="7620000" cy="264160"/>
          </a:xfrm>
          <a:prstGeom prst="rect">
            <a:avLst/>
          </a:prstGeom>
        </p:spPr>
        <p:txBody>
          <a:bodyPr lIns="0" tIns="0" rIns="0" bIns="0" rtlCol="0" anchor="t">
            <a:spAutoFit/>
          </a:bodyPr>
          <a:lstStyle/>
          <a:p>
            <a:pPr marL="0" lvl="0" indent="0" algn="l">
              <a:lnSpc>
                <a:spcPts val="2239"/>
              </a:lnSpc>
              <a:spcBef>
                <a:spcPct val="0"/>
              </a:spcBef>
            </a:pPr>
            <a:r>
              <a:rPr lang="en-US" sz="1599" b="1" u="none" strike="noStrike">
                <a:solidFill>
                  <a:srgbClr val="FFFFFF"/>
                </a:solidFill>
                <a:latin typeface="Open Sans Bold"/>
                <a:ea typeface="Open Sans Bold"/>
                <a:cs typeface="Open Sans Bold"/>
                <a:sym typeface="Open Sans Bold"/>
              </a:rPr>
              <a:t>SHAP Dashboard for Loan Officers</a:t>
            </a:r>
          </a:p>
        </p:txBody>
      </p:sp>
      <p:sp>
        <p:nvSpPr>
          <p:cNvPr id="27" name="TextBox 27"/>
          <p:cNvSpPr txBox="1"/>
          <p:nvPr/>
        </p:nvSpPr>
        <p:spPr>
          <a:xfrm>
            <a:off x="1485900" y="8105775"/>
            <a:ext cx="14287500" cy="2336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E2DDD5"/>
                </a:solidFill>
                <a:latin typeface="Open Sans"/>
                <a:ea typeface="Open Sans"/>
                <a:cs typeface="Open Sans"/>
                <a:sym typeface="Open Sans"/>
              </a:rPr>
              <a:t>Integrate SHAP waterfall explanations into the loan officer review system. Enables regulatory compliance, auditability, and fair customer communication.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2476500" y="685800"/>
            <a:ext cx="13335000" cy="647700"/>
          </a:xfrm>
          <a:prstGeom prst="rect">
            <a:avLst/>
          </a:prstGeom>
        </p:spPr>
        <p:txBody>
          <a:bodyPr lIns="0" tIns="0" rIns="0" bIns="0" rtlCol="0" anchor="t">
            <a:spAutoFit/>
          </a:bodyPr>
          <a:lstStyle/>
          <a:p>
            <a:pPr marL="0" lvl="0" indent="0" algn="ctr">
              <a:lnSpc>
                <a:spcPts val="5320"/>
              </a:lnSpc>
              <a:spcBef>
                <a:spcPct val="0"/>
              </a:spcBef>
            </a:pPr>
            <a:r>
              <a:rPr lang="en-US" sz="3800" u="none" strike="noStrike">
                <a:solidFill>
                  <a:srgbClr val="C9902A"/>
                </a:solidFill>
                <a:latin typeface="Marcellus"/>
                <a:ea typeface="Marcellus"/>
                <a:cs typeface="Marcellus"/>
                <a:sym typeface="Marcellus"/>
              </a:rPr>
              <a:t>What the Model Does Well — And What Still Needs Work</a:t>
            </a:r>
          </a:p>
        </p:txBody>
      </p:sp>
      <p:sp>
        <p:nvSpPr>
          <p:cNvPr id="3" name="TextBox 3"/>
          <p:cNvSpPr txBox="1"/>
          <p:nvPr/>
        </p:nvSpPr>
        <p:spPr>
          <a:xfrm>
            <a:off x="914400" y="16859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Limitation 1 — Data origin</a:t>
            </a:r>
          </a:p>
        </p:txBody>
      </p:sp>
      <p:sp>
        <p:nvSpPr>
          <p:cNvPr id="4" name="TextBox 4"/>
          <p:cNvSpPr txBox="1"/>
          <p:nvPr/>
        </p:nvSpPr>
        <p:spPr>
          <a:xfrm>
            <a:off x="914400" y="1943100"/>
            <a:ext cx="10001250" cy="6908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The dataset comes from a Central/Eastern European lender, not Kenya. Kenyan borrowers have different income structures, mobile money behaviour, informal economy participation, and credit bureau coverage. The model must be retrained on local Kenyan data before production deployment.</a:t>
            </a:r>
          </a:p>
        </p:txBody>
      </p:sp>
      <p:sp>
        <p:nvSpPr>
          <p:cNvPr id="5" name="TextBox 5"/>
          <p:cNvSpPr txBox="1"/>
          <p:nvPr/>
        </p:nvSpPr>
        <p:spPr>
          <a:xfrm>
            <a:off x="914400" y="28289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Limitation 2 — Precision is low</a:t>
            </a:r>
          </a:p>
        </p:txBody>
      </p:sp>
      <p:sp>
        <p:nvSpPr>
          <p:cNvPr id="6" name="TextBox 6"/>
          <p:cNvSpPr txBox="1"/>
          <p:nvPr/>
        </p:nvSpPr>
        <p:spPr>
          <a:xfrm>
            <a:off x="914400" y="3086100"/>
            <a:ext cx="10001250" cy="4622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Precision of 15% means that of every 100 applicants the model flags as high risk, only 15 actually default. Acceptable for a first version, but should improve with Kenyan data.</a:t>
            </a:r>
          </a:p>
        </p:txBody>
      </p:sp>
      <p:sp>
        <p:nvSpPr>
          <p:cNvPr id="7" name="TextBox 7"/>
          <p:cNvSpPr txBox="1"/>
          <p:nvPr/>
        </p:nvSpPr>
        <p:spPr>
          <a:xfrm>
            <a:off x="914400" y="39719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Limitation 3 — Model drift</a:t>
            </a:r>
          </a:p>
        </p:txBody>
      </p:sp>
      <p:sp>
        <p:nvSpPr>
          <p:cNvPr id="8" name="TextBox 8"/>
          <p:cNvSpPr txBox="1"/>
          <p:nvPr/>
        </p:nvSpPr>
        <p:spPr>
          <a:xfrm>
            <a:off x="914400" y="4229100"/>
            <a:ext cx="10001250" cy="4622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Economic conditions change. A model trained on pre-2024 data may underperform during a recession, currency shock, or sector-specific crisis. Requires retraining every 6-12 months.</a:t>
            </a:r>
          </a:p>
        </p:txBody>
      </p:sp>
      <p:sp>
        <p:nvSpPr>
          <p:cNvPr id="9" name="TextBox 9"/>
          <p:cNvSpPr txBox="1"/>
          <p:nvPr/>
        </p:nvSpPr>
        <p:spPr>
          <a:xfrm>
            <a:off x="914400" y="5114925"/>
            <a:ext cx="9525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Limitation 4 — Feature availability</a:t>
            </a:r>
          </a:p>
        </p:txBody>
      </p:sp>
      <p:sp>
        <p:nvSpPr>
          <p:cNvPr id="10" name="TextBox 10"/>
          <p:cNvSpPr txBox="1"/>
          <p:nvPr/>
        </p:nvSpPr>
        <p:spPr>
          <a:xfrm>
            <a:off x="914400" y="5372100"/>
            <a:ext cx="10001250" cy="462280"/>
          </a:xfrm>
          <a:prstGeom prst="rect">
            <a:avLst/>
          </a:prstGeom>
        </p:spPr>
        <p:txBody>
          <a:bodyPr lIns="0" tIns="0" rIns="0" bIns="0" rtlCol="0" anchor="t">
            <a:spAutoFit/>
          </a:bodyPr>
          <a:lstStyle/>
          <a:p>
            <a:pPr marL="0" lvl="0" indent="0" algn="l">
              <a:lnSpc>
                <a:spcPts val="1819"/>
              </a:lnSpc>
              <a:spcBef>
                <a:spcPct val="0"/>
              </a:spcBef>
            </a:pPr>
            <a:r>
              <a:rPr lang="en-US" sz="1299" u="none" strike="noStrike">
                <a:solidFill>
                  <a:srgbClr val="FFFFFF"/>
                </a:solidFill>
                <a:latin typeface="Open Sans"/>
                <a:ea typeface="Open Sans"/>
                <a:cs typeface="Open Sans"/>
                <a:sym typeface="Open Sans"/>
              </a:rPr>
              <a:t>EXT_SOURCE_1/2/3 (the most important features) require integration with third-party credit bureaux. Smaller lenders without CRB access will see lower model performance.</a:t>
            </a:r>
          </a:p>
        </p:txBody>
      </p:sp>
      <p:sp>
        <p:nvSpPr>
          <p:cNvPr id="11" name="TextBox 11"/>
          <p:cNvSpPr txBox="1"/>
          <p:nvPr/>
        </p:nvSpPr>
        <p:spPr>
          <a:xfrm>
            <a:off x="914400" y="6353175"/>
            <a:ext cx="3810000" cy="257175"/>
          </a:xfrm>
          <a:prstGeom prst="rect">
            <a:avLst/>
          </a:prstGeom>
        </p:spPr>
        <p:txBody>
          <a:bodyPr lIns="0" tIns="0" rIns="0" bIns="0" rtlCol="0" anchor="t">
            <a:spAutoFit/>
          </a:bodyPr>
          <a:lstStyle/>
          <a:p>
            <a:pPr marL="0" lvl="0" indent="0" algn="l">
              <a:lnSpc>
                <a:spcPts val="2100"/>
              </a:lnSpc>
              <a:spcBef>
                <a:spcPct val="0"/>
              </a:spcBef>
            </a:pPr>
            <a:r>
              <a:rPr lang="en-US" sz="1500" b="1" u="none" strike="noStrike">
                <a:solidFill>
                  <a:srgbClr val="C9902A"/>
                </a:solidFill>
                <a:latin typeface="Open Sans Bold"/>
                <a:ea typeface="Open Sans Bold"/>
                <a:cs typeface="Open Sans Bold"/>
                <a:sym typeface="Open Sans Bold"/>
              </a:rPr>
              <a:t>Next Steps:</a:t>
            </a:r>
          </a:p>
        </p:txBody>
      </p:sp>
      <p:sp>
        <p:nvSpPr>
          <p:cNvPr id="12" name="TextBox 12"/>
          <p:cNvSpPr txBox="1"/>
          <p:nvPr/>
        </p:nvSpPr>
        <p:spPr>
          <a:xfrm>
            <a:off x="914400" y="6610350"/>
            <a:ext cx="11430000" cy="1276985"/>
          </a:xfrm>
          <a:prstGeom prst="rect">
            <a:avLst/>
          </a:prstGeom>
        </p:spPr>
        <p:txBody>
          <a:bodyPr lIns="0" tIns="0" rIns="0" bIns="0" rtlCol="0" anchor="t">
            <a:spAutoFit/>
          </a:bodyPr>
          <a:lstStyle/>
          <a:p>
            <a:pPr marL="0" lvl="0" indent="0" algn="l">
              <a:lnSpc>
                <a:spcPts val="2079"/>
              </a:lnSpc>
              <a:spcBef>
                <a:spcPct val="0"/>
              </a:spcBef>
            </a:pPr>
            <a:r>
              <a:rPr lang="en-US" sz="1299" u="none" strike="noStrike">
                <a:solidFill>
                  <a:srgbClr val="FFFFFF"/>
                </a:solidFill>
                <a:latin typeface="Open Sans"/>
                <a:ea typeface="Open Sans"/>
                <a:cs typeface="Open Sans"/>
                <a:sym typeface="Open Sans"/>
              </a:rPr>
              <a:t>●  Obtain and retrain on actual Kenyan lending data (M-KOPA, Tala, Branch)</a:t>
            </a:r>
          </a:p>
          <a:p>
            <a:pPr marL="0" lvl="0" indent="0" algn="l">
              <a:lnSpc>
                <a:spcPts val="2079"/>
              </a:lnSpc>
              <a:spcBef>
                <a:spcPct val="0"/>
              </a:spcBef>
            </a:pPr>
            <a:r>
              <a:rPr lang="en-US" sz="1299" u="none" strike="noStrike">
                <a:solidFill>
                  <a:srgbClr val="FFFFFF"/>
                </a:solidFill>
                <a:latin typeface="Open Sans"/>
                <a:ea typeface="Open Sans"/>
                <a:cs typeface="Open Sans"/>
                <a:sym typeface="Open Sans"/>
              </a:rPr>
              <a:t>●  Build a live scoring API using Flask (skeleton already built)</a:t>
            </a:r>
          </a:p>
          <a:p>
            <a:pPr marL="0" lvl="0" indent="0" algn="l">
              <a:lnSpc>
                <a:spcPts val="2079"/>
              </a:lnSpc>
              <a:spcBef>
                <a:spcPct val="0"/>
              </a:spcBef>
            </a:pPr>
            <a:r>
              <a:rPr lang="en-US" sz="1299" u="none" strike="noStrike">
                <a:solidFill>
                  <a:srgbClr val="FFFFFF"/>
                </a:solidFill>
                <a:latin typeface="Open Sans"/>
                <a:ea typeface="Open Sans"/>
                <a:cs typeface="Open Sans"/>
                <a:sym typeface="Open Sans"/>
              </a:rPr>
              <a:t>●  A/B test the model against the current manual approval process</a:t>
            </a:r>
          </a:p>
          <a:p>
            <a:pPr marL="0" lvl="0" indent="0" algn="l">
              <a:lnSpc>
                <a:spcPts val="2079"/>
              </a:lnSpc>
              <a:spcBef>
                <a:spcPct val="0"/>
              </a:spcBef>
            </a:pPr>
            <a:r>
              <a:rPr lang="en-US" sz="1299" u="none" strike="noStrike">
                <a:solidFill>
                  <a:srgbClr val="FFFFFF"/>
                </a:solidFill>
                <a:latin typeface="Open Sans"/>
                <a:ea typeface="Open Sans"/>
                <a:cs typeface="Open Sans"/>
                <a:sym typeface="Open Sans"/>
              </a:rPr>
              <a:t>●  Add fairness audit to check for demographic bias in predictions</a:t>
            </a:r>
          </a:p>
          <a:p>
            <a:pPr marL="0" lvl="0" indent="0" algn="l">
              <a:lnSpc>
                <a:spcPts val="2079"/>
              </a:lnSpc>
              <a:spcBef>
                <a:spcPct val="0"/>
              </a:spcBef>
            </a:pPr>
            <a:r>
              <a:rPr lang="en-US" sz="1299" u="none" strike="noStrike">
                <a:solidFill>
                  <a:srgbClr val="FFFFFF"/>
                </a:solidFill>
                <a:latin typeface="Open Sans"/>
                <a:ea typeface="Open Sans"/>
                <a:cs typeface="Open Sans"/>
                <a:sym typeface="Open Sans"/>
              </a:rPr>
              <a:t>●  Monitor ROC-AUC monthly — if it drops below 0.70, trigger retraining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TextBox 2"/>
          <p:cNvSpPr txBox="1"/>
          <p:nvPr/>
        </p:nvSpPr>
        <p:spPr>
          <a:xfrm>
            <a:off x="5334000" y="1371600"/>
            <a:ext cx="7620000" cy="960717"/>
          </a:xfrm>
          <a:prstGeom prst="rect">
            <a:avLst/>
          </a:prstGeom>
        </p:spPr>
        <p:txBody>
          <a:bodyPr lIns="0" tIns="0" rIns="0" bIns="0" rtlCol="0" anchor="t">
            <a:spAutoFit/>
          </a:bodyPr>
          <a:lstStyle/>
          <a:p>
            <a:pPr marL="0" lvl="0" indent="0" algn="ctr">
              <a:lnSpc>
                <a:spcPts val="7947"/>
              </a:lnSpc>
              <a:spcBef>
                <a:spcPct val="0"/>
              </a:spcBef>
            </a:pPr>
            <a:r>
              <a:rPr lang="en-US" sz="5676" u="none" strike="noStrike">
                <a:solidFill>
                  <a:srgbClr val="C9902A"/>
                </a:solidFill>
                <a:latin typeface="IBM Plex Mono"/>
                <a:ea typeface="IBM Plex Mono"/>
                <a:cs typeface="IBM Plex Mono"/>
                <a:sym typeface="IBM Plex Mono"/>
              </a:rPr>
              <a:t>76.5%</a:t>
            </a:r>
          </a:p>
        </p:txBody>
      </p:sp>
      <p:sp>
        <p:nvSpPr>
          <p:cNvPr id="3" name="TextBox 3"/>
          <p:cNvSpPr txBox="1"/>
          <p:nvPr/>
        </p:nvSpPr>
        <p:spPr>
          <a:xfrm>
            <a:off x="3429000" y="2295525"/>
            <a:ext cx="11430000" cy="485775"/>
          </a:xfrm>
          <a:prstGeom prst="rect">
            <a:avLst/>
          </a:prstGeom>
        </p:spPr>
        <p:txBody>
          <a:bodyPr lIns="0" tIns="0" rIns="0" bIns="0" rtlCol="0" anchor="t">
            <a:spAutoFit/>
          </a:bodyPr>
          <a:lstStyle/>
          <a:p>
            <a:pPr marL="0" lvl="0" indent="0" algn="ctr">
              <a:lnSpc>
                <a:spcPts val="3919"/>
              </a:lnSpc>
              <a:spcBef>
                <a:spcPct val="0"/>
              </a:spcBef>
            </a:pPr>
            <a:r>
              <a:rPr lang="en-US" sz="2799" u="none" strike="noStrike">
                <a:solidFill>
                  <a:srgbClr val="FFFFFF"/>
                </a:solidFill>
                <a:latin typeface="Marcellus"/>
                <a:ea typeface="Marcellus"/>
                <a:cs typeface="Marcellus"/>
                <a:sym typeface="Marcellus"/>
              </a:rPr>
              <a:t>of Defaulters Caught — Before a Single Loan Is Issued</a:t>
            </a:r>
          </a:p>
        </p:txBody>
      </p:sp>
      <p:sp>
        <p:nvSpPr>
          <p:cNvPr id="4" name="TextBox 4"/>
          <p:cNvSpPr txBox="1"/>
          <p:nvPr/>
        </p:nvSpPr>
        <p:spPr>
          <a:xfrm>
            <a:off x="3905250" y="3095625"/>
            <a:ext cx="10477500" cy="24066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E2DDD5"/>
                </a:solidFill>
                <a:latin typeface="Open Sans"/>
                <a:ea typeface="Open Sans"/>
                <a:cs typeface="Open Sans"/>
                <a:sym typeface="Open Sans"/>
              </a:rPr>
              <a:t>XGBoost Balanced model — ROC-AUC of 0.761 — catches 76.5 out of every 100 real defaulters</a:t>
            </a:r>
          </a:p>
        </p:txBody>
      </p:sp>
      <p:sp>
        <p:nvSpPr>
          <p:cNvPr id="5" name="TextBox 5"/>
          <p:cNvSpPr txBox="1"/>
          <p:nvPr/>
        </p:nvSpPr>
        <p:spPr>
          <a:xfrm>
            <a:off x="3429000" y="3543300"/>
            <a:ext cx="11430000" cy="48831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FFFFFF"/>
                </a:solidFill>
                <a:latin typeface="Open Sans"/>
                <a:ea typeface="Open Sans"/>
                <a:cs typeface="Open Sans"/>
                <a:sym typeface="Open Sans"/>
              </a:rPr>
              <a:t>At M-KOPA's scale of 2 million customers, with an 8% default rate and an average loan of KES 30,000, this model could prevent tens of millions of shillings in annual losses by identifying high-risk applicants before approval.</a:t>
            </a:r>
          </a:p>
        </p:txBody>
      </p:sp>
      <p:sp>
        <p:nvSpPr>
          <p:cNvPr id="6" name="TextBox 6"/>
          <p:cNvSpPr txBox="1"/>
          <p:nvPr/>
        </p:nvSpPr>
        <p:spPr>
          <a:xfrm>
            <a:off x="4381500" y="4238625"/>
            <a:ext cx="9525000" cy="1367155"/>
          </a:xfrm>
          <a:prstGeom prst="rect">
            <a:avLst/>
          </a:prstGeom>
        </p:spPr>
        <p:txBody>
          <a:bodyPr lIns="0" tIns="0" rIns="0" bIns="0" rtlCol="0" anchor="t">
            <a:spAutoFit/>
          </a:bodyPr>
          <a:lstStyle/>
          <a:p>
            <a:pPr marL="0" lvl="0" indent="0" algn="ctr">
              <a:lnSpc>
                <a:spcPts val="2240"/>
              </a:lnSpc>
              <a:spcBef>
                <a:spcPct val="0"/>
              </a:spcBef>
            </a:pPr>
            <a:r>
              <a:rPr lang="en-US" sz="1400" u="none" strike="noStrike">
                <a:solidFill>
                  <a:srgbClr val="FFFFFF"/>
                </a:solidFill>
                <a:latin typeface="Open Sans"/>
                <a:ea typeface="Open Sans"/>
                <a:cs typeface="Open Sans"/>
                <a:sym typeface="Open Sans"/>
              </a:rPr>
              <a:t>●  5 datasets merged into 307,511-applicant, 147-feature training set</a:t>
            </a:r>
          </a:p>
          <a:p>
            <a:pPr marL="0" lvl="0" indent="0" algn="ctr">
              <a:lnSpc>
                <a:spcPts val="2240"/>
              </a:lnSpc>
              <a:spcBef>
                <a:spcPct val="0"/>
              </a:spcBef>
            </a:pPr>
            <a:r>
              <a:rPr lang="en-US" sz="1400" u="none" strike="noStrike">
                <a:solidFill>
                  <a:srgbClr val="FFFFFF"/>
                </a:solidFill>
                <a:latin typeface="Open Sans"/>
                <a:ea typeface="Open Sans"/>
                <a:cs typeface="Open Sans"/>
                <a:sym typeface="Open Sans"/>
              </a:rPr>
              <a:t>●  6 domain-knowledge features engineered from financial ratios</a:t>
            </a:r>
          </a:p>
          <a:p>
            <a:pPr marL="0" lvl="0" indent="0" algn="ctr">
              <a:lnSpc>
                <a:spcPts val="2240"/>
              </a:lnSpc>
              <a:spcBef>
                <a:spcPct val="0"/>
              </a:spcBef>
            </a:pPr>
            <a:r>
              <a:rPr lang="en-US" sz="1400" u="none" strike="noStrike">
                <a:solidFill>
                  <a:srgbClr val="FFFFFF"/>
                </a:solidFill>
                <a:latin typeface="Open Sans"/>
                <a:ea typeface="Open Sans"/>
                <a:cs typeface="Open Sans"/>
                <a:sym typeface="Open Sans"/>
              </a:rPr>
              <a:t>●  3 ML models trained and compared rigorously</a:t>
            </a:r>
          </a:p>
          <a:p>
            <a:pPr marL="0" lvl="0" indent="0" algn="ctr">
              <a:lnSpc>
                <a:spcPts val="2240"/>
              </a:lnSpc>
              <a:spcBef>
                <a:spcPct val="0"/>
              </a:spcBef>
            </a:pPr>
            <a:r>
              <a:rPr lang="en-US" sz="1400" u="none" strike="noStrike">
                <a:solidFill>
                  <a:srgbClr val="FFFFFF"/>
                </a:solidFill>
                <a:latin typeface="Open Sans"/>
                <a:ea typeface="Open Sans"/>
                <a:cs typeface="Open Sans"/>
                <a:sym typeface="Open Sans"/>
              </a:rPr>
              <a:t>●  SHAP and Permutation Importance used for full explainability</a:t>
            </a:r>
          </a:p>
          <a:p>
            <a:pPr marL="0" lvl="0" indent="0" algn="ctr">
              <a:lnSpc>
                <a:spcPts val="2240"/>
              </a:lnSpc>
              <a:spcBef>
                <a:spcPct val="0"/>
              </a:spcBef>
            </a:pPr>
            <a:r>
              <a:rPr lang="en-US" sz="1400" u="none" strike="noStrike">
                <a:solidFill>
                  <a:srgbClr val="FFFFFF"/>
                </a:solidFill>
                <a:latin typeface="Open Sans"/>
                <a:ea typeface="Open Sans"/>
                <a:cs typeface="Open Sans"/>
                <a:sym typeface="Open Sans"/>
              </a:rPr>
              <a:t>●  Every decision explainable to loan officers, regulators, and applicants</a:t>
            </a:r>
          </a:p>
        </p:txBody>
      </p:sp>
      <p:sp>
        <p:nvSpPr>
          <p:cNvPr id="7" name="TextBox 7"/>
          <p:cNvSpPr txBox="1"/>
          <p:nvPr/>
        </p:nvSpPr>
        <p:spPr>
          <a:xfrm>
            <a:off x="3429000" y="6219825"/>
            <a:ext cx="11430000" cy="462280"/>
          </a:xfrm>
          <a:prstGeom prst="rect">
            <a:avLst/>
          </a:prstGeom>
        </p:spPr>
        <p:txBody>
          <a:bodyPr lIns="0" tIns="0" rIns="0" bIns="0" rtlCol="0" anchor="t">
            <a:spAutoFit/>
          </a:bodyPr>
          <a:lstStyle/>
          <a:p>
            <a:pPr marL="0" lvl="0" indent="0" algn="ctr">
              <a:lnSpc>
                <a:spcPts val="1819"/>
              </a:lnSpc>
              <a:spcBef>
                <a:spcPct val="0"/>
              </a:spcBef>
            </a:pPr>
            <a:r>
              <a:rPr lang="en-US" sz="1299" u="none" strike="noStrike">
                <a:solidFill>
                  <a:srgbClr val="E2DDD5"/>
                </a:solidFill>
                <a:latin typeface="Open Sans"/>
                <a:ea typeface="Open Sans"/>
                <a:cs typeface="Open Sans"/>
                <a:sym typeface="Open Sans"/>
              </a:rPr>
              <a:t>This is not just a prediction model. It is an explainable decision-support system. Every rejection comes with a reason. Every reason is data-driven. Every finding is validated by two independent methods.</a:t>
            </a:r>
          </a:p>
        </p:txBody>
      </p:sp>
      <p:sp>
        <p:nvSpPr>
          <p:cNvPr id="8" name="TextBox 8"/>
          <p:cNvSpPr txBox="1"/>
          <p:nvPr/>
        </p:nvSpPr>
        <p:spPr>
          <a:xfrm>
            <a:off x="6762750" y="7277100"/>
            <a:ext cx="4762500" cy="264160"/>
          </a:xfrm>
          <a:prstGeom prst="rect">
            <a:avLst/>
          </a:prstGeom>
        </p:spPr>
        <p:txBody>
          <a:bodyPr lIns="0" tIns="0" rIns="0" bIns="0" rtlCol="0" anchor="t">
            <a:spAutoFit/>
          </a:bodyPr>
          <a:lstStyle/>
          <a:p>
            <a:pPr marL="0" lvl="0" indent="0" algn="ctr">
              <a:lnSpc>
                <a:spcPts val="2239"/>
              </a:lnSpc>
              <a:spcBef>
                <a:spcPct val="0"/>
              </a:spcBef>
            </a:pPr>
            <a:r>
              <a:rPr lang="en-US" sz="1599" u="none" strike="noStrike">
                <a:solidFill>
                  <a:srgbClr val="C9902A"/>
                </a:solidFill>
                <a:latin typeface="Open Sans"/>
                <a:ea typeface="Open Sans"/>
                <a:cs typeface="Open Sans"/>
                <a:sym typeface="Open Sans"/>
              </a:rPr>
              <a:t>github.com/KimutaiHub</a:t>
            </a:r>
          </a:p>
        </p:txBody>
      </p:sp>
      <p:sp>
        <p:nvSpPr>
          <p:cNvPr id="9" name="TextBox 9"/>
          <p:cNvSpPr txBox="1"/>
          <p:nvPr/>
        </p:nvSpPr>
        <p:spPr>
          <a:xfrm>
            <a:off x="7239000" y="7762875"/>
            <a:ext cx="3810000" cy="240665"/>
          </a:xfrm>
          <a:prstGeom prst="rect">
            <a:avLst/>
          </a:prstGeom>
        </p:spPr>
        <p:txBody>
          <a:bodyPr lIns="0" tIns="0" rIns="0" bIns="0" rtlCol="0" anchor="t">
            <a:spAutoFit/>
          </a:bodyPr>
          <a:lstStyle/>
          <a:p>
            <a:pPr marL="0" lvl="0" indent="0" algn="ctr">
              <a:lnSpc>
                <a:spcPts val="1960"/>
              </a:lnSpc>
              <a:spcBef>
                <a:spcPct val="0"/>
              </a:spcBef>
            </a:pPr>
            <a:r>
              <a:rPr lang="en-US" sz="1400" u="none" strike="noStrike">
                <a:solidFill>
                  <a:srgbClr val="E2DDD5"/>
                </a:solidFill>
                <a:latin typeface="Open Sans"/>
                <a:ea typeface="Open Sans"/>
                <a:cs typeface="Open Sans"/>
                <a:sym typeface="Open Sans"/>
              </a:rPr>
              <a:t>Kimutai Kevine</a:t>
            </a:r>
          </a:p>
        </p:txBody>
      </p:sp>
      <p:sp>
        <p:nvSpPr>
          <p:cNvPr id="10" name="TextBox 10"/>
          <p:cNvSpPr txBox="1"/>
          <p:nvPr/>
        </p:nvSpPr>
        <p:spPr>
          <a:xfrm>
            <a:off x="7239000" y="8610600"/>
            <a:ext cx="3810000" cy="613410"/>
          </a:xfrm>
          <a:prstGeom prst="rect">
            <a:avLst/>
          </a:prstGeom>
        </p:spPr>
        <p:txBody>
          <a:bodyPr lIns="0" tIns="0" rIns="0" bIns="0" rtlCol="0" anchor="t">
            <a:spAutoFit/>
          </a:bodyPr>
          <a:lstStyle/>
          <a:p>
            <a:pPr marL="0" lvl="0" indent="0" algn="ctr">
              <a:lnSpc>
                <a:spcPts val="5040"/>
              </a:lnSpc>
              <a:spcBef>
                <a:spcPct val="0"/>
              </a:spcBef>
            </a:pPr>
            <a:r>
              <a:rPr lang="en-US" sz="3600" i="1" u="none" strike="noStrike">
                <a:solidFill>
                  <a:srgbClr val="C9902A"/>
                </a:solidFill>
                <a:latin typeface="Cardo Italics"/>
                <a:ea typeface="Cardo Italics"/>
                <a:cs typeface="Cardo Italics"/>
                <a:sym typeface="Cardo Italic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1930</Words>
  <Application>Microsoft Office PowerPoint</Application>
  <PresentationFormat>Custom</PresentationFormat>
  <Paragraphs>284</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Open Sans Bold</vt:lpstr>
      <vt:lpstr>Calibri</vt:lpstr>
      <vt:lpstr>Marcellus</vt:lpstr>
      <vt:lpstr>Open Sans</vt:lpstr>
      <vt:lpstr>IBM Plex Mono Bold</vt:lpstr>
      <vt:lpstr>Gilda Display</vt:lpstr>
      <vt:lpstr>Arial</vt:lpstr>
      <vt:lpstr>Cardo Italics</vt:lpstr>
      <vt:lpstr>IBM Plex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Corporate ML Presentation (12 Slides)</dc:title>
  <cp:lastModifiedBy>Kimtai K</cp:lastModifiedBy>
  <cp:revision>2</cp:revision>
  <dcterms:created xsi:type="dcterms:W3CDTF">2006-08-16T00:00:00Z</dcterms:created>
  <dcterms:modified xsi:type="dcterms:W3CDTF">2026-06-13T10:01:31Z</dcterms:modified>
  <dc:identifier>DAHMcXIPqUo</dc:identifier>
</cp:coreProperties>
</file>